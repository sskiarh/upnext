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73" r:id="rId7"/>
    <p:sldId id="266" r:id="rId8"/>
    <p:sldId id="267" r:id="rId9"/>
    <p:sldId id="268" r:id="rId10"/>
    <p:sldId id="270" r:id="rId11"/>
    <p:sldId id="269" r:id="rId12"/>
    <p:sldId id="274" r:id="rId13"/>
    <p:sldId id="275" r:id="rId14"/>
    <p:sldId id="276" r:id="rId15"/>
    <p:sldId id="277" r:id="rId16"/>
    <p:sldId id="278" r:id="rId17"/>
    <p:sldId id="261" r:id="rId18"/>
    <p:sldId id="262" r:id="rId19"/>
    <p:sldId id="263" r:id="rId20"/>
    <p:sldId id="264" r:id="rId21"/>
    <p:sldId id="265" r:id="rId22"/>
    <p:sldId id="271" r:id="rId23"/>
    <p:sldId id="27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5" autoAdjust="0"/>
    <p:restoredTop sz="94660"/>
  </p:normalViewPr>
  <p:slideViewPr>
    <p:cSldViewPr snapToGrid="0">
      <p:cViewPr varScale="1">
        <p:scale>
          <a:sx n="74" d="100"/>
          <a:sy n="74" d="100"/>
        </p:scale>
        <p:origin x="82"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_rels/data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11.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11.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BD10848-9CAF-4FA5-AA41-C4000AF04CFA}"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A8F7525D-81F8-488C-B93B-47046FAF7438}">
      <dgm:prSet/>
      <dgm:spPr/>
      <dgm:t>
        <a:bodyPr/>
        <a:lstStyle/>
        <a:p>
          <a:r>
            <a:rPr lang="en-US" b="0" i="0" baseline="0" dirty="0" err="1"/>
            <a:t>Pengertian</a:t>
          </a:r>
          <a:r>
            <a:rPr lang="en-US" b="0" i="0" baseline="0" dirty="0"/>
            <a:t> </a:t>
          </a:r>
          <a:r>
            <a:rPr lang="en-US" b="0" i="0" baseline="0" dirty="0" err="1"/>
            <a:t>Pengukuran</a:t>
          </a:r>
          <a:r>
            <a:rPr lang="en-US" b="0" i="0" baseline="0" dirty="0"/>
            <a:t> Kinerja </a:t>
          </a:r>
          <a:r>
            <a:rPr lang="en-US" b="0" i="0" baseline="0" dirty="0" err="1"/>
            <a:t>SCM</a:t>
          </a:r>
          <a:endParaRPr lang="en-US" dirty="0"/>
        </a:p>
      </dgm:t>
    </dgm:pt>
    <dgm:pt modelId="{5ECA84BD-B5CA-4A40-A6F8-83AFB524C19E}" type="parTrans" cxnId="{8E5E5B16-F414-48EE-918B-14E0AAE72674}">
      <dgm:prSet/>
      <dgm:spPr/>
      <dgm:t>
        <a:bodyPr/>
        <a:lstStyle/>
        <a:p>
          <a:endParaRPr lang="en-US"/>
        </a:p>
      </dgm:t>
    </dgm:pt>
    <dgm:pt modelId="{FDBC693F-D741-4F95-9310-8506A4723475}" type="sibTrans" cxnId="{8E5E5B16-F414-48EE-918B-14E0AAE72674}">
      <dgm:prSet/>
      <dgm:spPr/>
      <dgm:t>
        <a:bodyPr/>
        <a:lstStyle/>
        <a:p>
          <a:endParaRPr lang="en-US"/>
        </a:p>
      </dgm:t>
    </dgm:pt>
    <dgm:pt modelId="{4F939849-3B9E-4953-A9AA-024BF9134CA9}">
      <dgm:prSet/>
      <dgm:spPr/>
      <dgm:t>
        <a:bodyPr/>
        <a:lstStyle/>
        <a:p>
          <a:r>
            <a:rPr lang="en-US" b="0" i="0" baseline="0"/>
            <a:t>Tujuan Pengukuran Kinerja SCM</a:t>
          </a:r>
          <a:endParaRPr lang="en-US"/>
        </a:p>
      </dgm:t>
    </dgm:pt>
    <dgm:pt modelId="{188A9448-A2E0-4F0B-A3AE-C1F4178C512E}" type="parTrans" cxnId="{8856B75D-84DC-4543-8692-77714759135A}">
      <dgm:prSet/>
      <dgm:spPr/>
      <dgm:t>
        <a:bodyPr/>
        <a:lstStyle/>
        <a:p>
          <a:endParaRPr lang="en-US"/>
        </a:p>
      </dgm:t>
    </dgm:pt>
    <dgm:pt modelId="{EA7766D2-6DEE-4DCA-83EC-5FB2D947E70B}" type="sibTrans" cxnId="{8856B75D-84DC-4543-8692-77714759135A}">
      <dgm:prSet/>
      <dgm:spPr/>
      <dgm:t>
        <a:bodyPr/>
        <a:lstStyle/>
        <a:p>
          <a:endParaRPr lang="en-US"/>
        </a:p>
      </dgm:t>
    </dgm:pt>
    <dgm:pt modelId="{AFE79035-C1F7-44FF-BEF2-F2608A130717}">
      <dgm:prSet/>
      <dgm:spPr/>
      <dgm:t>
        <a:bodyPr/>
        <a:lstStyle/>
        <a:p>
          <a:r>
            <a:rPr lang="en-US" b="0" i="0" baseline="0"/>
            <a:t>Indikator Kinerja Utama (KPIs) dalam SCM</a:t>
          </a:r>
          <a:endParaRPr lang="en-US"/>
        </a:p>
      </dgm:t>
    </dgm:pt>
    <dgm:pt modelId="{BDD3473F-A431-4119-A4A6-298E3CC52874}" type="parTrans" cxnId="{5AC18A0D-6A58-4724-A31C-513D0DE3D7DB}">
      <dgm:prSet/>
      <dgm:spPr/>
      <dgm:t>
        <a:bodyPr/>
        <a:lstStyle/>
        <a:p>
          <a:endParaRPr lang="en-US"/>
        </a:p>
      </dgm:t>
    </dgm:pt>
    <dgm:pt modelId="{3F46F3CE-6CA8-43A1-814A-FC44FCD208C8}" type="sibTrans" cxnId="{5AC18A0D-6A58-4724-A31C-513D0DE3D7DB}">
      <dgm:prSet/>
      <dgm:spPr/>
      <dgm:t>
        <a:bodyPr/>
        <a:lstStyle/>
        <a:p>
          <a:endParaRPr lang="en-US"/>
        </a:p>
      </dgm:t>
    </dgm:pt>
    <dgm:pt modelId="{9C91CDA2-3843-4D58-AD2E-BFF1AD26CC55}">
      <dgm:prSet/>
      <dgm:spPr/>
      <dgm:t>
        <a:bodyPr/>
        <a:lstStyle/>
        <a:p>
          <a:r>
            <a:rPr lang="en-US" b="0" i="0" baseline="0"/>
            <a:t>Framework Pengukuran Kinerja SCM</a:t>
          </a:r>
          <a:endParaRPr lang="en-US"/>
        </a:p>
      </dgm:t>
    </dgm:pt>
    <dgm:pt modelId="{74F34354-AC8E-47AF-A58F-27DC58A8EE48}" type="parTrans" cxnId="{BA21E680-DD5A-4649-B379-13ADE581BEB2}">
      <dgm:prSet/>
      <dgm:spPr/>
      <dgm:t>
        <a:bodyPr/>
        <a:lstStyle/>
        <a:p>
          <a:endParaRPr lang="en-US"/>
        </a:p>
      </dgm:t>
    </dgm:pt>
    <dgm:pt modelId="{353E193A-C333-4FE6-9EA3-D5845A9362A3}" type="sibTrans" cxnId="{BA21E680-DD5A-4649-B379-13ADE581BEB2}">
      <dgm:prSet/>
      <dgm:spPr/>
      <dgm:t>
        <a:bodyPr/>
        <a:lstStyle/>
        <a:p>
          <a:endParaRPr lang="en-US"/>
        </a:p>
      </dgm:t>
    </dgm:pt>
    <dgm:pt modelId="{17E854B5-E09C-4FD3-860B-5318062E0795}">
      <dgm:prSet/>
      <dgm:spPr/>
      <dgm:t>
        <a:bodyPr/>
        <a:lstStyle/>
        <a:p>
          <a:r>
            <a:rPr lang="en-US" b="0" i="0" baseline="0"/>
            <a:t>Alat dan Metode untuk Pengukuran Kinerja</a:t>
          </a:r>
          <a:endParaRPr lang="en-US"/>
        </a:p>
      </dgm:t>
    </dgm:pt>
    <dgm:pt modelId="{B2B80A4C-57EF-4957-9010-640B4FC665B6}" type="parTrans" cxnId="{D7DE6C0D-4E7E-460C-BE8C-EF85F1F4C7EB}">
      <dgm:prSet/>
      <dgm:spPr/>
      <dgm:t>
        <a:bodyPr/>
        <a:lstStyle/>
        <a:p>
          <a:endParaRPr lang="en-US"/>
        </a:p>
      </dgm:t>
    </dgm:pt>
    <dgm:pt modelId="{3DE5C44F-99BD-4E84-BC8C-646F87687D2B}" type="sibTrans" cxnId="{D7DE6C0D-4E7E-460C-BE8C-EF85F1F4C7EB}">
      <dgm:prSet/>
      <dgm:spPr/>
      <dgm:t>
        <a:bodyPr/>
        <a:lstStyle/>
        <a:p>
          <a:endParaRPr lang="en-US"/>
        </a:p>
      </dgm:t>
    </dgm:pt>
    <dgm:pt modelId="{87178422-6C7E-4530-87BE-9D328987D27D}">
      <dgm:prSet/>
      <dgm:spPr/>
      <dgm:t>
        <a:bodyPr/>
        <a:lstStyle/>
        <a:p>
          <a:r>
            <a:rPr lang="en-US" b="0" i="0" baseline="0"/>
            <a:t>Tantangan dalam Pengukuran Kinerja SCM</a:t>
          </a:r>
          <a:endParaRPr lang="en-US"/>
        </a:p>
      </dgm:t>
    </dgm:pt>
    <dgm:pt modelId="{8939D3A9-0406-47D0-897E-F3C87CF25A47}" type="parTrans" cxnId="{2086BAC1-7156-4C9E-BF3A-D91EB902A4E3}">
      <dgm:prSet/>
      <dgm:spPr/>
      <dgm:t>
        <a:bodyPr/>
        <a:lstStyle/>
        <a:p>
          <a:endParaRPr lang="en-US"/>
        </a:p>
      </dgm:t>
    </dgm:pt>
    <dgm:pt modelId="{389A68C4-7ED3-42EB-B471-951A534A060B}" type="sibTrans" cxnId="{2086BAC1-7156-4C9E-BF3A-D91EB902A4E3}">
      <dgm:prSet/>
      <dgm:spPr/>
      <dgm:t>
        <a:bodyPr/>
        <a:lstStyle/>
        <a:p>
          <a:endParaRPr lang="en-US"/>
        </a:p>
      </dgm:t>
    </dgm:pt>
    <dgm:pt modelId="{A0500106-2601-45FA-8166-7B4DF1AEE687}">
      <dgm:prSet/>
      <dgm:spPr/>
      <dgm:t>
        <a:bodyPr/>
        <a:lstStyle/>
        <a:p>
          <a:r>
            <a:rPr lang="en-US" b="0" i="0" baseline="0"/>
            <a:t>Studi Kasus: Implementasi Pengukuran Kinerja dalam SCM</a:t>
          </a:r>
          <a:endParaRPr lang="en-US"/>
        </a:p>
      </dgm:t>
    </dgm:pt>
    <dgm:pt modelId="{2CE8FE55-A2A4-4C93-ADBE-A61B98EA7A97}" type="parTrans" cxnId="{3502DF13-A45D-41A0-B612-8A92433BCB57}">
      <dgm:prSet/>
      <dgm:spPr/>
      <dgm:t>
        <a:bodyPr/>
        <a:lstStyle/>
        <a:p>
          <a:endParaRPr lang="en-US"/>
        </a:p>
      </dgm:t>
    </dgm:pt>
    <dgm:pt modelId="{9AB17113-873F-4BBD-A953-2C620F8B7513}" type="sibTrans" cxnId="{3502DF13-A45D-41A0-B612-8A92433BCB57}">
      <dgm:prSet/>
      <dgm:spPr/>
      <dgm:t>
        <a:bodyPr/>
        <a:lstStyle/>
        <a:p>
          <a:endParaRPr lang="en-US"/>
        </a:p>
      </dgm:t>
    </dgm:pt>
    <dgm:pt modelId="{5886960F-5E60-49D7-AFEB-D0E499190AC2}">
      <dgm:prSet/>
      <dgm:spPr/>
      <dgm:t>
        <a:bodyPr/>
        <a:lstStyle/>
        <a:p>
          <a:r>
            <a:rPr lang="en-US" b="0" i="0" baseline="0"/>
            <a:t>Kesimpulan dan Rekomendasi </a:t>
          </a:r>
          <a:endParaRPr lang="en-US"/>
        </a:p>
      </dgm:t>
    </dgm:pt>
    <dgm:pt modelId="{73C7B966-8FC2-4FE8-A3CE-92F0F7071B9E}" type="parTrans" cxnId="{0BB3FBB9-B527-4910-AB6D-87A5D82B03F1}">
      <dgm:prSet/>
      <dgm:spPr/>
      <dgm:t>
        <a:bodyPr/>
        <a:lstStyle/>
        <a:p>
          <a:endParaRPr lang="en-US"/>
        </a:p>
      </dgm:t>
    </dgm:pt>
    <dgm:pt modelId="{D2C26E83-249D-432B-86FD-51815F677CFA}" type="sibTrans" cxnId="{0BB3FBB9-B527-4910-AB6D-87A5D82B03F1}">
      <dgm:prSet/>
      <dgm:spPr/>
      <dgm:t>
        <a:bodyPr/>
        <a:lstStyle/>
        <a:p>
          <a:endParaRPr lang="en-US"/>
        </a:p>
      </dgm:t>
    </dgm:pt>
    <dgm:pt modelId="{861BF137-4C45-4E27-9BE4-1DD683939B87}" type="pres">
      <dgm:prSet presAssocID="{BBD10848-9CAF-4FA5-AA41-C4000AF04CFA}" presName="vert0" presStyleCnt="0">
        <dgm:presLayoutVars>
          <dgm:dir/>
          <dgm:animOne val="branch"/>
          <dgm:animLvl val="lvl"/>
        </dgm:presLayoutVars>
      </dgm:prSet>
      <dgm:spPr/>
    </dgm:pt>
    <dgm:pt modelId="{54D3014E-40A4-4EC6-8876-B462F4BBBE73}" type="pres">
      <dgm:prSet presAssocID="{A8F7525D-81F8-488C-B93B-47046FAF7438}" presName="thickLine" presStyleLbl="alignNode1" presStyleIdx="0" presStyleCnt="8"/>
      <dgm:spPr/>
    </dgm:pt>
    <dgm:pt modelId="{9A444287-295B-48BA-A477-49D402D2D120}" type="pres">
      <dgm:prSet presAssocID="{A8F7525D-81F8-488C-B93B-47046FAF7438}" presName="horz1" presStyleCnt="0"/>
      <dgm:spPr/>
    </dgm:pt>
    <dgm:pt modelId="{00489FDE-3424-4542-A3F6-99A437DB4E86}" type="pres">
      <dgm:prSet presAssocID="{A8F7525D-81F8-488C-B93B-47046FAF7438}" presName="tx1" presStyleLbl="revTx" presStyleIdx="0" presStyleCnt="8"/>
      <dgm:spPr/>
    </dgm:pt>
    <dgm:pt modelId="{4A96C312-3EF0-4B1D-8FCC-E1B072ADAC54}" type="pres">
      <dgm:prSet presAssocID="{A8F7525D-81F8-488C-B93B-47046FAF7438}" presName="vert1" presStyleCnt="0"/>
      <dgm:spPr/>
    </dgm:pt>
    <dgm:pt modelId="{379D6605-86E6-482A-AD25-1783831ABD5B}" type="pres">
      <dgm:prSet presAssocID="{4F939849-3B9E-4953-A9AA-024BF9134CA9}" presName="thickLine" presStyleLbl="alignNode1" presStyleIdx="1" presStyleCnt="8"/>
      <dgm:spPr/>
    </dgm:pt>
    <dgm:pt modelId="{ADBEDD33-43F1-4282-A6B9-987A21D1222F}" type="pres">
      <dgm:prSet presAssocID="{4F939849-3B9E-4953-A9AA-024BF9134CA9}" presName="horz1" presStyleCnt="0"/>
      <dgm:spPr/>
    </dgm:pt>
    <dgm:pt modelId="{917CFBF7-20C0-487D-99B4-181883119061}" type="pres">
      <dgm:prSet presAssocID="{4F939849-3B9E-4953-A9AA-024BF9134CA9}" presName="tx1" presStyleLbl="revTx" presStyleIdx="1" presStyleCnt="8"/>
      <dgm:spPr/>
    </dgm:pt>
    <dgm:pt modelId="{A3196278-EC6D-4FD2-A1E2-570995EBFFE4}" type="pres">
      <dgm:prSet presAssocID="{4F939849-3B9E-4953-A9AA-024BF9134CA9}" presName="vert1" presStyleCnt="0"/>
      <dgm:spPr/>
    </dgm:pt>
    <dgm:pt modelId="{82884178-5E8A-4793-9CEE-DE0A9ABE21F4}" type="pres">
      <dgm:prSet presAssocID="{AFE79035-C1F7-44FF-BEF2-F2608A130717}" presName="thickLine" presStyleLbl="alignNode1" presStyleIdx="2" presStyleCnt="8"/>
      <dgm:spPr/>
    </dgm:pt>
    <dgm:pt modelId="{03C35D55-B0DE-4EB0-B723-03D299213E2B}" type="pres">
      <dgm:prSet presAssocID="{AFE79035-C1F7-44FF-BEF2-F2608A130717}" presName="horz1" presStyleCnt="0"/>
      <dgm:spPr/>
    </dgm:pt>
    <dgm:pt modelId="{D67BDAB1-3228-43AE-A8F1-E2F6BFFEB154}" type="pres">
      <dgm:prSet presAssocID="{AFE79035-C1F7-44FF-BEF2-F2608A130717}" presName="tx1" presStyleLbl="revTx" presStyleIdx="2" presStyleCnt="8"/>
      <dgm:spPr/>
    </dgm:pt>
    <dgm:pt modelId="{C6A523A7-F3C6-4469-AFEE-5EDEE5D99B65}" type="pres">
      <dgm:prSet presAssocID="{AFE79035-C1F7-44FF-BEF2-F2608A130717}" presName="vert1" presStyleCnt="0"/>
      <dgm:spPr/>
    </dgm:pt>
    <dgm:pt modelId="{3FBF0CBD-C40E-4688-A71F-9ECCA1DAE04A}" type="pres">
      <dgm:prSet presAssocID="{9C91CDA2-3843-4D58-AD2E-BFF1AD26CC55}" presName="thickLine" presStyleLbl="alignNode1" presStyleIdx="3" presStyleCnt="8"/>
      <dgm:spPr/>
    </dgm:pt>
    <dgm:pt modelId="{6AD3E081-94C1-47A9-9C9C-6575CEBAC8EE}" type="pres">
      <dgm:prSet presAssocID="{9C91CDA2-3843-4D58-AD2E-BFF1AD26CC55}" presName="horz1" presStyleCnt="0"/>
      <dgm:spPr/>
    </dgm:pt>
    <dgm:pt modelId="{A0BD60F7-220C-4D5C-B46F-7BB9948B328B}" type="pres">
      <dgm:prSet presAssocID="{9C91CDA2-3843-4D58-AD2E-BFF1AD26CC55}" presName="tx1" presStyleLbl="revTx" presStyleIdx="3" presStyleCnt="8"/>
      <dgm:spPr/>
    </dgm:pt>
    <dgm:pt modelId="{638A06B9-7D97-48EE-A4E5-9C0B442D2AA4}" type="pres">
      <dgm:prSet presAssocID="{9C91CDA2-3843-4D58-AD2E-BFF1AD26CC55}" presName="vert1" presStyleCnt="0"/>
      <dgm:spPr/>
    </dgm:pt>
    <dgm:pt modelId="{2752BAA4-E914-44C0-BFFD-5EB8D1D24489}" type="pres">
      <dgm:prSet presAssocID="{17E854B5-E09C-4FD3-860B-5318062E0795}" presName="thickLine" presStyleLbl="alignNode1" presStyleIdx="4" presStyleCnt="8"/>
      <dgm:spPr/>
    </dgm:pt>
    <dgm:pt modelId="{DC3F0FDE-39B3-48C2-A29A-E42EE81BD245}" type="pres">
      <dgm:prSet presAssocID="{17E854B5-E09C-4FD3-860B-5318062E0795}" presName="horz1" presStyleCnt="0"/>
      <dgm:spPr/>
    </dgm:pt>
    <dgm:pt modelId="{8CF19DA0-FB6D-407A-BB3C-98ADE8F2B1D9}" type="pres">
      <dgm:prSet presAssocID="{17E854B5-E09C-4FD3-860B-5318062E0795}" presName="tx1" presStyleLbl="revTx" presStyleIdx="4" presStyleCnt="8"/>
      <dgm:spPr/>
    </dgm:pt>
    <dgm:pt modelId="{4CEBF057-22FE-4C1B-A360-3A127D9612B7}" type="pres">
      <dgm:prSet presAssocID="{17E854B5-E09C-4FD3-860B-5318062E0795}" presName="vert1" presStyleCnt="0"/>
      <dgm:spPr/>
    </dgm:pt>
    <dgm:pt modelId="{3D1A0147-DC47-4F66-A561-28B6AE252410}" type="pres">
      <dgm:prSet presAssocID="{87178422-6C7E-4530-87BE-9D328987D27D}" presName="thickLine" presStyleLbl="alignNode1" presStyleIdx="5" presStyleCnt="8"/>
      <dgm:spPr/>
    </dgm:pt>
    <dgm:pt modelId="{0C265141-70DE-466B-B3A3-BF8F8D8D18DC}" type="pres">
      <dgm:prSet presAssocID="{87178422-6C7E-4530-87BE-9D328987D27D}" presName="horz1" presStyleCnt="0"/>
      <dgm:spPr/>
    </dgm:pt>
    <dgm:pt modelId="{46A1E318-9A08-45FE-B63E-6F7029BB8B2B}" type="pres">
      <dgm:prSet presAssocID="{87178422-6C7E-4530-87BE-9D328987D27D}" presName="tx1" presStyleLbl="revTx" presStyleIdx="5" presStyleCnt="8"/>
      <dgm:spPr/>
    </dgm:pt>
    <dgm:pt modelId="{93AD290A-7809-4A3F-A29B-CC02245D9DE3}" type="pres">
      <dgm:prSet presAssocID="{87178422-6C7E-4530-87BE-9D328987D27D}" presName="vert1" presStyleCnt="0"/>
      <dgm:spPr/>
    </dgm:pt>
    <dgm:pt modelId="{0737B908-6473-40C4-A24E-E39C93F5A86A}" type="pres">
      <dgm:prSet presAssocID="{A0500106-2601-45FA-8166-7B4DF1AEE687}" presName="thickLine" presStyleLbl="alignNode1" presStyleIdx="6" presStyleCnt="8"/>
      <dgm:spPr/>
    </dgm:pt>
    <dgm:pt modelId="{B83A491C-8458-4B88-8BE4-AF86386AD74F}" type="pres">
      <dgm:prSet presAssocID="{A0500106-2601-45FA-8166-7B4DF1AEE687}" presName="horz1" presStyleCnt="0"/>
      <dgm:spPr/>
    </dgm:pt>
    <dgm:pt modelId="{7D39B609-D380-4D9B-A3B4-B84D710009D3}" type="pres">
      <dgm:prSet presAssocID="{A0500106-2601-45FA-8166-7B4DF1AEE687}" presName="tx1" presStyleLbl="revTx" presStyleIdx="6" presStyleCnt="8"/>
      <dgm:spPr/>
    </dgm:pt>
    <dgm:pt modelId="{C3A1BF42-2D14-4FAE-9346-8E497DF63F54}" type="pres">
      <dgm:prSet presAssocID="{A0500106-2601-45FA-8166-7B4DF1AEE687}" presName="vert1" presStyleCnt="0"/>
      <dgm:spPr/>
    </dgm:pt>
    <dgm:pt modelId="{953253D3-7880-4F95-97FB-7F8BB6730B98}" type="pres">
      <dgm:prSet presAssocID="{5886960F-5E60-49D7-AFEB-D0E499190AC2}" presName="thickLine" presStyleLbl="alignNode1" presStyleIdx="7" presStyleCnt="8"/>
      <dgm:spPr/>
    </dgm:pt>
    <dgm:pt modelId="{AD918434-6FCA-4FC4-A1F1-661E773DA883}" type="pres">
      <dgm:prSet presAssocID="{5886960F-5E60-49D7-AFEB-D0E499190AC2}" presName="horz1" presStyleCnt="0"/>
      <dgm:spPr/>
    </dgm:pt>
    <dgm:pt modelId="{C0A87502-7FC3-4FBB-94EB-746EEE47337C}" type="pres">
      <dgm:prSet presAssocID="{5886960F-5E60-49D7-AFEB-D0E499190AC2}" presName="tx1" presStyleLbl="revTx" presStyleIdx="7" presStyleCnt="8"/>
      <dgm:spPr/>
    </dgm:pt>
    <dgm:pt modelId="{6EF063D4-BD9A-489D-A45F-C8541FA22C0A}" type="pres">
      <dgm:prSet presAssocID="{5886960F-5E60-49D7-AFEB-D0E499190AC2}" presName="vert1" presStyleCnt="0"/>
      <dgm:spPr/>
    </dgm:pt>
  </dgm:ptLst>
  <dgm:cxnLst>
    <dgm:cxn modelId="{D7DE6C0D-4E7E-460C-BE8C-EF85F1F4C7EB}" srcId="{BBD10848-9CAF-4FA5-AA41-C4000AF04CFA}" destId="{17E854B5-E09C-4FD3-860B-5318062E0795}" srcOrd="4" destOrd="0" parTransId="{B2B80A4C-57EF-4957-9010-640B4FC665B6}" sibTransId="{3DE5C44F-99BD-4E84-BC8C-646F87687D2B}"/>
    <dgm:cxn modelId="{5AC18A0D-6A58-4724-A31C-513D0DE3D7DB}" srcId="{BBD10848-9CAF-4FA5-AA41-C4000AF04CFA}" destId="{AFE79035-C1F7-44FF-BEF2-F2608A130717}" srcOrd="2" destOrd="0" parTransId="{BDD3473F-A431-4119-A4A6-298E3CC52874}" sibTransId="{3F46F3CE-6CA8-43A1-814A-FC44FCD208C8}"/>
    <dgm:cxn modelId="{3502DF13-A45D-41A0-B612-8A92433BCB57}" srcId="{BBD10848-9CAF-4FA5-AA41-C4000AF04CFA}" destId="{A0500106-2601-45FA-8166-7B4DF1AEE687}" srcOrd="6" destOrd="0" parTransId="{2CE8FE55-A2A4-4C93-ADBE-A61B98EA7A97}" sibTransId="{9AB17113-873F-4BBD-A953-2C620F8B7513}"/>
    <dgm:cxn modelId="{8E5E5B16-F414-48EE-918B-14E0AAE72674}" srcId="{BBD10848-9CAF-4FA5-AA41-C4000AF04CFA}" destId="{A8F7525D-81F8-488C-B93B-47046FAF7438}" srcOrd="0" destOrd="0" parTransId="{5ECA84BD-B5CA-4A40-A6F8-83AFB524C19E}" sibTransId="{FDBC693F-D741-4F95-9310-8506A4723475}"/>
    <dgm:cxn modelId="{00588B2D-96AC-43B9-ADCD-94CD07FF683B}" type="presOf" srcId="{5886960F-5E60-49D7-AFEB-D0E499190AC2}" destId="{C0A87502-7FC3-4FBB-94EB-746EEE47337C}" srcOrd="0" destOrd="0" presId="urn:microsoft.com/office/officeart/2008/layout/LinedList"/>
    <dgm:cxn modelId="{8856B75D-84DC-4543-8692-77714759135A}" srcId="{BBD10848-9CAF-4FA5-AA41-C4000AF04CFA}" destId="{4F939849-3B9E-4953-A9AA-024BF9134CA9}" srcOrd="1" destOrd="0" parTransId="{188A9448-A2E0-4F0B-A3AE-C1F4178C512E}" sibTransId="{EA7766D2-6DEE-4DCA-83EC-5FB2D947E70B}"/>
    <dgm:cxn modelId="{7EF0284D-95FB-4D91-9618-60D191A62342}" type="presOf" srcId="{BBD10848-9CAF-4FA5-AA41-C4000AF04CFA}" destId="{861BF137-4C45-4E27-9BE4-1DD683939B87}" srcOrd="0" destOrd="0" presId="urn:microsoft.com/office/officeart/2008/layout/LinedList"/>
    <dgm:cxn modelId="{BA21E680-DD5A-4649-B379-13ADE581BEB2}" srcId="{BBD10848-9CAF-4FA5-AA41-C4000AF04CFA}" destId="{9C91CDA2-3843-4D58-AD2E-BFF1AD26CC55}" srcOrd="3" destOrd="0" parTransId="{74F34354-AC8E-47AF-A58F-27DC58A8EE48}" sibTransId="{353E193A-C333-4FE6-9EA3-D5845A9362A3}"/>
    <dgm:cxn modelId="{8474F18F-2186-48F4-B0A8-B80B68193557}" type="presOf" srcId="{4F939849-3B9E-4953-A9AA-024BF9134CA9}" destId="{917CFBF7-20C0-487D-99B4-181883119061}" srcOrd="0" destOrd="0" presId="urn:microsoft.com/office/officeart/2008/layout/LinedList"/>
    <dgm:cxn modelId="{72ABF590-3E5F-4427-A722-8E641FB16395}" type="presOf" srcId="{87178422-6C7E-4530-87BE-9D328987D27D}" destId="{46A1E318-9A08-45FE-B63E-6F7029BB8B2B}" srcOrd="0" destOrd="0" presId="urn:microsoft.com/office/officeart/2008/layout/LinedList"/>
    <dgm:cxn modelId="{1E7E37A1-ED13-470F-A230-0D8A1D290A02}" type="presOf" srcId="{17E854B5-E09C-4FD3-860B-5318062E0795}" destId="{8CF19DA0-FB6D-407A-BB3C-98ADE8F2B1D9}" srcOrd="0" destOrd="0" presId="urn:microsoft.com/office/officeart/2008/layout/LinedList"/>
    <dgm:cxn modelId="{B64726AE-475B-4009-95F3-4B0A144380CA}" type="presOf" srcId="{A0500106-2601-45FA-8166-7B4DF1AEE687}" destId="{7D39B609-D380-4D9B-A3B4-B84D710009D3}" srcOrd="0" destOrd="0" presId="urn:microsoft.com/office/officeart/2008/layout/LinedList"/>
    <dgm:cxn modelId="{0BB3FBB9-B527-4910-AB6D-87A5D82B03F1}" srcId="{BBD10848-9CAF-4FA5-AA41-C4000AF04CFA}" destId="{5886960F-5E60-49D7-AFEB-D0E499190AC2}" srcOrd="7" destOrd="0" parTransId="{73C7B966-8FC2-4FE8-A3CE-92F0F7071B9E}" sibTransId="{D2C26E83-249D-432B-86FD-51815F677CFA}"/>
    <dgm:cxn modelId="{2086BAC1-7156-4C9E-BF3A-D91EB902A4E3}" srcId="{BBD10848-9CAF-4FA5-AA41-C4000AF04CFA}" destId="{87178422-6C7E-4530-87BE-9D328987D27D}" srcOrd="5" destOrd="0" parTransId="{8939D3A9-0406-47D0-897E-F3C87CF25A47}" sibTransId="{389A68C4-7ED3-42EB-B471-951A534A060B}"/>
    <dgm:cxn modelId="{FCEC7EC6-6494-47B2-BF7C-78942B1CF022}" type="presOf" srcId="{AFE79035-C1F7-44FF-BEF2-F2608A130717}" destId="{D67BDAB1-3228-43AE-A8F1-E2F6BFFEB154}" srcOrd="0" destOrd="0" presId="urn:microsoft.com/office/officeart/2008/layout/LinedList"/>
    <dgm:cxn modelId="{EA2907E8-647E-446F-967F-1533DB0848E9}" type="presOf" srcId="{9C91CDA2-3843-4D58-AD2E-BFF1AD26CC55}" destId="{A0BD60F7-220C-4D5C-B46F-7BB9948B328B}" srcOrd="0" destOrd="0" presId="urn:microsoft.com/office/officeart/2008/layout/LinedList"/>
    <dgm:cxn modelId="{D6748EF0-6828-450C-9C1F-800E88F931CA}" type="presOf" srcId="{A8F7525D-81F8-488C-B93B-47046FAF7438}" destId="{00489FDE-3424-4542-A3F6-99A437DB4E86}" srcOrd="0" destOrd="0" presId="urn:microsoft.com/office/officeart/2008/layout/LinedList"/>
    <dgm:cxn modelId="{416A3A95-C86F-4EE3-BA24-CBF6DBF9E638}" type="presParOf" srcId="{861BF137-4C45-4E27-9BE4-1DD683939B87}" destId="{54D3014E-40A4-4EC6-8876-B462F4BBBE73}" srcOrd="0" destOrd="0" presId="urn:microsoft.com/office/officeart/2008/layout/LinedList"/>
    <dgm:cxn modelId="{2E7D5E8C-B79F-467B-BF47-E87C1BFB7028}" type="presParOf" srcId="{861BF137-4C45-4E27-9BE4-1DD683939B87}" destId="{9A444287-295B-48BA-A477-49D402D2D120}" srcOrd="1" destOrd="0" presId="urn:microsoft.com/office/officeart/2008/layout/LinedList"/>
    <dgm:cxn modelId="{B655F28F-4246-438A-9E58-8A9B13A7DA8C}" type="presParOf" srcId="{9A444287-295B-48BA-A477-49D402D2D120}" destId="{00489FDE-3424-4542-A3F6-99A437DB4E86}" srcOrd="0" destOrd="0" presId="urn:microsoft.com/office/officeart/2008/layout/LinedList"/>
    <dgm:cxn modelId="{0BD4068F-0CB5-4B00-9904-85F65D692B87}" type="presParOf" srcId="{9A444287-295B-48BA-A477-49D402D2D120}" destId="{4A96C312-3EF0-4B1D-8FCC-E1B072ADAC54}" srcOrd="1" destOrd="0" presId="urn:microsoft.com/office/officeart/2008/layout/LinedList"/>
    <dgm:cxn modelId="{72CF3FAA-C91A-4E8D-BA29-6DD0995B0100}" type="presParOf" srcId="{861BF137-4C45-4E27-9BE4-1DD683939B87}" destId="{379D6605-86E6-482A-AD25-1783831ABD5B}" srcOrd="2" destOrd="0" presId="urn:microsoft.com/office/officeart/2008/layout/LinedList"/>
    <dgm:cxn modelId="{8EDD735B-B7AC-4866-90AF-E2F32D55B56B}" type="presParOf" srcId="{861BF137-4C45-4E27-9BE4-1DD683939B87}" destId="{ADBEDD33-43F1-4282-A6B9-987A21D1222F}" srcOrd="3" destOrd="0" presId="urn:microsoft.com/office/officeart/2008/layout/LinedList"/>
    <dgm:cxn modelId="{F52048AD-2200-41A8-B2DD-EE4C86D788D0}" type="presParOf" srcId="{ADBEDD33-43F1-4282-A6B9-987A21D1222F}" destId="{917CFBF7-20C0-487D-99B4-181883119061}" srcOrd="0" destOrd="0" presId="urn:microsoft.com/office/officeart/2008/layout/LinedList"/>
    <dgm:cxn modelId="{20F48B59-08F1-43F5-82E9-07A15AE9DA0B}" type="presParOf" srcId="{ADBEDD33-43F1-4282-A6B9-987A21D1222F}" destId="{A3196278-EC6D-4FD2-A1E2-570995EBFFE4}" srcOrd="1" destOrd="0" presId="urn:microsoft.com/office/officeart/2008/layout/LinedList"/>
    <dgm:cxn modelId="{BDF1370A-8E33-482D-99A7-919FD5131ECA}" type="presParOf" srcId="{861BF137-4C45-4E27-9BE4-1DD683939B87}" destId="{82884178-5E8A-4793-9CEE-DE0A9ABE21F4}" srcOrd="4" destOrd="0" presId="urn:microsoft.com/office/officeart/2008/layout/LinedList"/>
    <dgm:cxn modelId="{77032774-28A6-47C1-9433-021C6D3D2197}" type="presParOf" srcId="{861BF137-4C45-4E27-9BE4-1DD683939B87}" destId="{03C35D55-B0DE-4EB0-B723-03D299213E2B}" srcOrd="5" destOrd="0" presId="urn:microsoft.com/office/officeart/2008/layout/LinedList"/>
    <dgm:cxn modelId="{154359FF-1801-4D17-A23A-FDEA5D63794B}" type="presParOf" srcId="{03C35D55-B0DE-4EB0-B723-03D299213E2B}" destId="{D67BDAB1-3228-43AE-A8F1-E2F6BFFEB154}" srcOrd="0" destOrd="0" presId="urn:microsoft.com/office/officeart/2008/layout/LinedList"/>
    <dgm:cxn modelId="{01643E95-865A-450D-8C00-2FA3A2A00CC4}" type="presParOf" srcId="{03C35D55-B0DE-4EB0-B723-03D299213E2B}" destId="{C6A523A7-F3C6-4469-AFEE-5EDEE5D99B65}" srcOrd="1" destOrd="0" presId="urn:microsoft.com/office/officeart/2008/layout/LinedList"/>
    <dgm:cxn modelId="{E6D72726-1772-4035-A518-5FAB62658F61}" type="presParOf" srcId="{861BF137-4C45-4E27-9BE4-1DD683939B87}" destId="{3FBF0CBD-C40E-4688-A71F-9ECCA1DAE04A}" srcOrd="6" destOrd="0" presId="urn:microsoft.com/office/officeart/2008/layout/LinedList"/>
    <dgm:cxn modelId="{F9E2325D-D816-46A9-9FBD-49E31BF5423C}" type="presParOf" srcId="{861BF137-4C45-4E27-9BE4-1DD683939B87}" destId="{6AD3E081-94C1-47A9-9C9C-6575CEBAC8EE}" srcOrd="7" destOrd="0" presId="urn:microsoft.com/office/officeart/2008/layout/LinedList"/>
    <dgm:cxn modelId="{2C4AFA91-7D90-401D-B1F6-58BD900CF0B6}" type="presParOf" srcId="{6AD3E081-94C1-47A9-9C9C-6575CEBAC8EE}" destId="{A0BD60F7-220C-4D5C-B46F-7BB9948B328B}" srcOrd="0" destOrd="0" presId="urn:microsoft.com/office/officeart/2008/layout/LinedList"/>
    <dgm:cxn modelId="{11E0D2DD-3D23-4EDB-B91F-914A2A903C3B}" type="presParOf" srcId="{6AD3E081-94C1-47A9-9C9C-6575CEBAC8EE}" destId="{638A06B9-7D97-48EE-A4E5-9C0B442D2AA4}" srcOrd="1" destOrd="0" presId="urn:microsoft.com/office/officeart/2008/layout/LinedList"/>
    <dgm:cxn modelId="{08C0A8AD-8F77-490E-B9CE-AE6EF31E71A0}" type="presParOf" srcId="{861BF137-4C45-4E27-9BE4-1DD683939B87}" destId="{2752BAA4-E914-44C0-BFFD-5EB8D1D24489}" srcOrd="8" destOrd="0" presId="urn:microsoft.com/office/officeart/2008/layout/LinedList"/>
    <dgm:cxn modelId="{637DBEBE-1679-421B-831F-BA18296ECD81}" type="presParOf" srcId="{861BF137-4C45-4E27-9BE4-1DD683939B87}" destId="{DC3F0FDE-39B3-48C2-A29A-E42EE81BD245}" srcOrd="9" destOrd="0" presId="urn:microsoft.com/office/officeart/2008/layout/LinedList"/>
    <dgm:cxn modelId="{0FEEE89D-785C-4142-84EA-B70F11C3C77F}" type="presParOf" srcId="{DC3F0FDE-39B3-48C2-A29A-E42EE81BD245}" destId="{8CF19DA0-FB6D-407A-BB3C-98ADE8F2B1D9}" srcOrd="0" destOrd="0" presId="urn:microsoft.com/office/officeart/2008/layout/LinedList"/>
    <dgm:cxn modelId="{CB34E955-2B3F-4246-B96D-4A9B20BEA389}" type="presParOf" srcId="{DC3F0FDE-39B3-48C2-A29A-E42EE81BD245}" destId="{4CEBF057-22FE-4C1B-A360-3A127D9612B7}" srcOrd="1" destOrd="0" presId="urn:microsoft.com/office/officeart/2008/layout/LinedList"/>
    <dgm:cxn modelId="{612ABFBD-EC6D-4A71-B59C-0FA08DA0FC16}" type="presParOf" srcId="{861BF137-4C45-4E27-9BE4-1DD683939B87}" destId="{3D1A0147-DC47-4F66-A561-28B6AE252410}" srcOrd="10" destOrd="0" presId="urn:microsoft.com/office/officeart/2008/layout/LinedList"/>
    <dgm:cxn modelId="{57D87D25-90F6-4B48-9AC0-E738D063C7B1}" type="presParOf" srcId="{861BF137-4C45-4E27-9BE4-1DD683939B87}" destId="{0C265141-70DE-466B-B3A3-BF8F8D8D18DC}" srcOrd="11" destOrd="0" presId="urn:microsoft.com/office/officeart/2008/layout/LinedList"/>
    <dgm:cxn modelId="{D0CB4CF8-C927-4D0B-A783-58B0DBF811CF}" type="presParOf" srcId="{0C265141-70DE-466B-B3A3-BF8F8D8D18DC}" destId="{46A1E318-9A08-45FE-B63E-6F7029BB8B2B}" srcOrd="0" destOrd="0" presId="urn:microsoft.com/office/officeart/2008/layout/LinedList"/>
    <dgm:cxn modelId="{E8A6189C-A1FA-4552-91E4-B15EF5E0314B}" type="presParOf" srcId="{0C265141-70DE-466B-B3A3-BF8F8D8D18DC}" destId="{93AD290A-7809-4A3F-A29B-CC02245D9DE3}" srcOrd="1" destOrd="0" presId="urn:microsoft.com/office/officeart/2008/layout/LinedList"/>
    <dgm:cxn modelId="{B357F80A-0BF6-47E0-84D4-140EF15D86C8}" type="presParOf" srcId="{861BF137-4C45-4E27-9BE4-1DD683939B87}" destId="{0737B908-6473-40C4-A24E-E39C93F5A86A}" srcOrd="12" destOrd="0" presId="urn:microsoft.com/office/officeart/2008/layout/LinedList"/>
    <dgm:cxn modelId="{955F0CFF-78AB-4CCE-9EE3-7999C55B858B}" type="presParOf" srcId="{861BF137-4C45-4E27-9BE4-1DD683939B87}" destId="{B83A491C-8458-4B88-8BE4-AF86386AD74F}" srcOrd="13" destOrd="0" presId="urn:microsoft.com/office/officeart/2008/layout/LinedList"/>
    <dgm:cxn modelId="{81A9CBE1-2269-4B03-B07A-6044301650C8}" type="presParOf" srcId="{B83A491C-8458-4B88-8BE4-AF86386AD74F}" destId="{7D39B609-D380-4D9B-A3B4-B84D710009D3}" srcOrd="0" destOrd="0" presId="urn:microsoft.com/office/officeart/2008/layout/LinedList"/>
    <dgm:cxn modelId="{4C0089B7-6FCC-4F50-AEC0-064AFD82EC66}" type="presParOf" srcId="{B83A491C-8458-4B88-8BE4-AF86386AD74F}" destId="{C3A1BF42-2D14-4FAE-9346-8E497DF63F54}" srcOrd="1" destOrd="0" presId="urn:microsoft.com/office/officeart/2008/layout/LinedList"/>
    <dgm:cxn modelId="{DCD4EA80-F3F3-4813-BB38-DF2C99460FF9}" type="presParOf" srcId="{861BF137-4C45-4E27-9BE4-1DD683939B87}" destId="{953253D3-7880-4F95-97FB-7F8BB6730B98}" srcOrd="14" destOrd="0" presId="urn:microsoft.com/office/officeart/2008/layout/LinedList"/>
    <dgm:cxn modelId="{9AD7E6F8-4D74-408D-B753-793F13181C4F}" type="presParOf" srcId="{861BF137-4C45-4E27-9BE4-1DD683939B87}" destId="{AD918434-6FCA-4FC4-A1F1-661E773DA883}" srcOrd="15" destOrd="0" presId="urn:microsoft.com/office/officeart/2008/layout/LinedList"/>
    <dgm:cxn modelId="{A71A121A-77FD-4D7F-A0CA-40F8FC1AD174}" type="presParOf" srcId="{AD918434-6FCA-4FC4-A1F1-661E773DA883}" destId="{C0A87502-7FC3-4FBB-94EB-746EEE47337C}" srcOrd="0" destOrd="0" presId="urn:microsoft.com/office/officeart/2008/layout/LinedList"/>
    <dgm:cxn modelId="{AADA5109-6778-4D6A-9867-40D89E0675B7}" type="presParOf" srcId="{AD918434-6FCA-4FC4-A1F1-661E773DA883}" destId="{6EF063D4-BD9A-489D-A45F-C8541FA22C0A}"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F5AF1CC-A747-4727-B8DB-62C9FD6BDF7A}" type="doc">
      <dgm:prSet loTypeId="urn:microsoft.com/office/officeart/2018/2/layout/IconCircleList" loCatId="icon" qsTypeId="urn:microsoft.com/office/officeart/2005/8/quickstyle/simple1" qsCatId="simple" csTypeId="urn:microsoft.com/office/officeart/2005/8/colors/accent0_3" csCatId="mainScheme" phldr="1"/>
      <dgm:spPr/>
      <dgm:t>
        <a:bodyPr/>
        <a:lstStyle/>
        <a:p>
          <a:endParaRPr lang="en-US"/>
        </a:p>
      </dgm:t>
    </dgm:pt>
    <dgm:pt modelId="{D98D3191-3EE2-4E5D-B731-D3C9F1699057}">
      <dgm:prSet/>
      <dgm:spPr/>
      <dgm:t>
        <a:bodyPr/>
        <a:lstStyle/>
        <a:p>
          <a:pPr>
            <a:lnSpc>
              <a:spcPct val="100000"/>
            </a:lnSpc>
          </a:pPr>
          <a:r>
            <a:rPr lang="en-ID" b="1"/>
            <a:t>Monczka, Trent, &amp; Handfield (2015) Definisi:</a:t>
          </a:r>
          <a:r>
            <a:rPr lang="en-ID"/>
            <a:t> Pengukuran kinerja dalam SCM adalah proses pengumpulan, analisis, dan evaluasi data yang relevan untuk menilai efektivitas dan efisiensi berbagai aktivitas dalam rantai pasok, serta untuk memastikan bahwa tujuan dan strategi organisasi tercapai. </a:t>
          </a:r>
          <a:endParaRPr lang="en-US"/>
        </a:p>
      </dgm:t>
    </dgm:pt>
    <dgm:pt modelId="{1A232CD0-3241-4EDE-A3FA-DCD096A4F261}" type="parTrans" cxnId="{0D885840-8075-40B9-8F5A-C280E0E889E5}">
      <dgm:prSet/>
      <dgm:spPr/>
      <dgm:t>
        <a:bodyPr/>
        <a:lstStyle/>
        <a:p>
          <a:endParaRPr lang="en-US"/>
        </a:p>
      </dgm:t>
    </dgm:pt>
    <dgm:pt modelId="{C872F8CE-46C6-46BC-9256-8FA8F6779A22}" type="sibTrans" cxnId="{0D885840-8075-40B9-8F5A-C280E0E889E5}">
      <dgm:prSet/>
      <dgm:spPr/>
      <dgm:t>
        <a:bodyPr/>
        <a:lstStyle/>
        <a:p>
          <a:pPr>
            <a:lnSpc>
              <a:spcPct val="100000"/>
            </a:lnSpc>
          </a:pPr>
          <a:endParaRPr lang="en-US"/>
        </a:p>
      </dgm:t>
    </dgm:pt>
    <dgm:pt modelId="{C6E54A6F-A17E-4C50-B486-36A8E6EFFDF2}">
      <dgm:prSet/>
      <dgm:spPr/>
      <dgm:t>
        <a:bodyPr/>
        <a:lstStyle/>
        <a:p>
          <a:pPr>
            <a:lnSpc>
              <a:spcPct val="100000"/>
            </a:lnSpc>
          </a:pPr>
          <a:r>
            <a:rPr lang="en-ID" b="1"/>
            <a:t>Christopher (2016), Definisi:</a:t>
          </a:r>
          <a:r>
            <a:rPr lang="en-ID"/>
            <a:t> Pengukuran kinerja SCM adalah evaluasi dan pengawasan atas efektivitas operasional dalam rantai pasok, yang mencakup pengelolaan aliran barang, informasi, dan uang, dengan tujuan untuk memberikan nilai terbaik bagi pelanggan dengan biaya terendah.</a:t>
          </a:r>
          <a:endParaRPr lang="en-US"/>
        </a:p>
      </dgm:t>
    </dgm:pt>
    <dgm:pt modelId="{FDE0FE1C-8EA8-4E4D-AD26-8BA9A1085973}" type="parTrans" cxnId="{4FE24333-706F-47C1-8D3D-11180F0D16E2}">
      <dgm:prSet/>
      <dgm:spPr/>
      <dgm:t>
        <a:bodyPr/>
        <a:lstStyle/>
        <a:p>
          <a:endParaRPr lang="en-ID"/>
        </a:p>
      </dgm:t>
    </dgm:pt>
    <dgm:pt modelId="{D2A2A50C-7F3B-483C-AAC9-6E0EE9624213}" type="sibTrans" cxnId="{4FE24333-706F-47C1-8D3D-11180F0D16E2}">
      <dgm:prSet/>
      <dgm:spPr/>
      <dgm:t>
        <a:bodyPr/>
        <a:lstStyle/>
        <a:p>
          <a:pPr>
            <a:lnSpc>
              <a:spcPct val="100000"/>
            </a:lnSpc>
          </a:pPr>
          <a:endParaRPr lang="en-ID"/>
        </a:p>
      </dgm:t>
    </dgm:pt>
    <dgm:pt modelId="{57A4D601-31E1-4EC6-83FB-5D7E998ACBE1}">
      <dgm:prSet/>
      <dgm:spPr/>
      <dgm:t>
        <a:bodyPr/>
        <a:lstStyle/>
        <a:p>
          <a:pPr>
            <a:lnSpc>
              <a:spcPct val="100000"/>
            </a:lnSpc>
          </a:pPr>
          <a:r>
            <a:rPr lang="en-ID" b="1"/>
            <a:t>Lambert, Stock, &amp; Ellram (2008), Definisi:</a:t>
          </a:r>
          <a:r>
            <a:rPr lang="en-ID"/>
            <a:t> Pengukuran kinerja SCM adalah penggunaan indikator atau metrik untuk mengevaluasi bagaimana proses dalam rantai pasok berjalan, baik dari sisi operasional maupun finansial, serta untuk memantau keberhasilan dalam memenuhi tujuan jangka panjang organisasi.</a:t>
          </a:r>
          <a:endParaRPr lang="en-US"/>
        </a:p>
      </dgm:t>
    </dgm:pt>
    <dgm:pt modelId="{D25C4D36-CA8F-4BF0-BCE5-67B73FA291BF}" type="parTrans" cxnId="{8C6E686C-9099-476F-9770-310638A30C9E}">
      <dgm:prSet/>
      <dgm:spPr/>
      <dgm:t>
        <a:bodyPr/>
        <a:lstStyle/>
        <a:p>
          <a:endParaRPr lang="en-ID"/>
        </a:p>
      </dgm:t>
    </dgm:pt>
    <dgm:pt modelId="{7264A31A-784E-4B93-AA09-B4F53571B24C}" type="sibTrans" cxnId="{8C6E686C-9099-476F-9770-310638A30C9E}">
      <dgm:prSet/>
      <dgm:spPr/>
      <dgm:t>
        <a:bodyPr/>
        <a:lstStyle/>
        <a:p>
          <a:endParaRPr lang="en-ID"/>
        </a:p>
      </dgm:t>
    </dgm:pt>
    <dgm:pt modelId="{7842A06C-0EA4-49B0-8FA4-A5DC1CBDAB2A}" type="pres">
      <dgm:prSet presAssocID="{1F5AF1CC-A747-4727-B8DB-62C9FD6BDF7A}" presName="root" presStyleCnt="0">
        <dgm:presLayoutVars>
          <dgm:dir/>
          <dgm:resizeHandles val="exact"/>
        </dgm:presLayoutVars>
      </dgm:prSet>
      <dgm:spPr/>
    </dgm:pt>
    <dgm:pt modelId="{16F993C0-AFF8-469F-ABD1-4E9DA6FE0284}" type="pres">
      <dgm:prSet presAssocID="{1F5AF1CC-A747-4727-B8DB-62C9FD6BDF7A}" presName="container" presStyleCnt="0">
        <dgm:presLayoutVars>
          <dgm:dir/>
          <dgm:resizeHandles val="exact"/>
        </dgm:presLayoutVars>
      </dgm:prSet>
      <dgm:spPr/>
    </dgm:pt>
    <dgm:pt modelId="{AD3BFADB-CF96-450C-85F3-A4973D0DED8C}" type="pres">
      <dgm:prSet presAssocID="{D98D3191-3EE2-4E5D-B731-D3C9F1699057}" presName="compNode" presStyleCnt="0"/>
      <dgm:spPr/>
    </dgm:pt>
    <dgm:pt modelId="{F25D6338-AC84-4584-A73A-6F629B0C62D0}" type="pres">
      <dgm:prSet presAssocID="{D98D3191-3EE2-4E5D-B731-D3C9F1699057}" presName="iconBgRect" presStyleLbl="bgShp" presStyleIdx="0" presStyleCnt="3"/>
      <dgm:spPr/>
    </dgm:pt>
    <dgm:pt modelId="{D0863628-7DD5-4032-8046-3B7521BDDE94}" type="pres">
      <dgm:prSet presAssocID="{D98D3191-3EE2-4E5D-B731-D3C9F169905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ind Chime"/>
        </a:ext>
      </dgm:extLst>
    </dgm:pt>
    <dgm:pt modelId="{61288DEB-C943-406F-8D6D-388A8D249283}" type="pres">
      <dgm:prSet presAssocID="{D98D3191-3EE2-4E5D-B731-D3C9F1699057}" presName="spaceRect" presStyleCnt="0"/>
      <dgm:spPr/>
    </dgm:pt>
    <dgm:pt modelId="{0096A132-B603-418A-BB39-FBB898BAE504}" type="pres">
      <dgm:prSet presAssocID="{D98D3191-3EE2-4E5D-B731-D3C9F1699057}" presName="textRect" presStyleLbl="revTx" presStyleIdx="0" presStyleCnt="3">
        <dgm:presLayoutVars>
          <dgm:chMax val="1"/>
          <dgm:chPref val="1"/>
        </dgm:presLayoutVars>
      </dgm:prSet>
      <dgm:spPr/>
    </dgm:pt>
    <dgm:pt modelId="{3B387A26-CED6-4D4D-AC9E-EFB26289C18E}" type="pres">
      <dgm:prSet presAssocID="{C872F8CE-46C6-46BC-9256-8FA8F6779A22}" presName="sibTrans" presStyleLbl="sibTrans2D1" presStyleIdx="0" presStyleCnt="0"/>
      <dgm:spPr/>
    </dgm:pt>
    <dgm:pt modelId="{166319AB-05A9-4EA4-A973-8FA49ED3C848}" type="pres">
      <dgm:prSet presAssocID="{C6E54A6F-A17E-4C50-B486-36A8E6EFFDF2}" presName="compNode" presStyleCnt="0"/>
      <dgm:spPr/>
    </dgm:pt>
    <dgm:pt modelId="{DF61FE6C-5D16-4F17-9030-0F77C001C341}" type="pres">
      <dgm:prSet presAssocID="{C6E54A6F-A17E-4C50-B486-36A8E6EFFDF2}" presName="iconBgRect" presStyleLbl="bgShp" presStyleIdx="1" presStyleCnt="3"/>
      <dgm:spPr/>
    </dgm:pt>
    <dgm:pt modelId="{28C33761-EDE6-4F96-A7DF-E53ADE6DC720}" type="pres">
      <dgm:prSet presAssocID="{C6E54A6F-A17E-4C50-B486-36A8E6EFFDF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aptain"/>
        </a:ext>
      </dgm:extLst>
    </dgm:pt>
    <dgm:pt modelId="{AE44DE9C-4101-40CA-B45B-38586A851D50}" type="pres">
      <dgm:prSet presAssocID="{C6E54A6F-A17E-4C50-B486-36A8E6EFFDF2}" presName="spaceRect" presStyleCnt="0"/>
      <dgm:spPr/>
    </dgm:pt>
    <dgm:pt modelId="{9265AAB9-7821-48B2-BC87-9C567F0988E0}" type="pres">
      <dgm:prSet presAssocID="{C6E54A6F-A17E-4C50-B486-36A8E6EFFDF2}" presName="textRect" presStyleLbl="revTx" presStyleIdx="1" presStyleCnt="3">
        <dgm:presLayoutVars>
          <dgm:chMax val="1"/>
          <dgm:chPref val="1"/>
        </dgm:presLayoutVars>
      </dgm:prSet>
      <dgm:spPr/>
    </dgm:pt>
    <dgm:pt modelId="{272DADAD-198F-4D6F-85F3-3C5DFD226DAA}" type="pres">
      <dgm:prSet presAssocID="{D2A2A50C-7F3B-483C-AAC9-6E0EE9624213}" presName="sibTrans" presStyleLbl="sibTrans2D1" presStyleIdx="0" presStyleCnt="0"/>
      <dgm:spPr/>
    </dgm:pt>
    <dgm:pt modelId="{99F1099F-E2DF-4D9F-BAA9-DB915B2E7C34}" type="pres">
      <dgm:prSet presAssocID="{57A4D601-31E1-4EC6-83FB-5D7E998ACBE1}" presName="compNode" presStyleCnt="0"/>
      <dgm:spPr/>
    </dgm:pt>
    <dgm:pt modelId="{4F471D61-F5D5-4AB0-B4B5-C2E91677C3EC}" type="pres">
      <dgm:prSet presAssocID="{57A4D601-31E1-4EC6-83FB-5D7E998ACBE1}" presName="iconBgRect" presStyleLbl="bgShp" presStyleIdx="2" presStyleCnt="3"/>
      <dgm:spPr/>
    </dgm:pt>
    <dgm:pt modelId="{9B1DB073-E2CB-4D77-8CB1-29866DC00F1A}" type="pres">
      <dgm:prSet presAssocID="{57A4D601-31E1-4EC6-83FB-5D7E998ACBE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iploma Roll"/>
        </a:ext>
      </dgm:extLst>
    </dgm:pt>
    <dgm:pt modelId="{247905FB-1C18-45C8-9B95-F67E64E74834}" type="pres">
      <dgm:prSet presAssocID="{57A4D601-31E1-4EC6-83FB-5D7E998ACBE1}" presName="spaceRect" presStyleCnt="0"/>
      <dgm:spPr/>
    </dgm:pt>
    <dgm:pt modelId="{C4836E7F-756D-41A9-8394-2AF5A1F59407}" type="pres">
      <dgm:prSet presAssocID="{57A4D601-31E1-4EC6-83FB-5D7E998ACBE1}" presName="textRect" presStyleLbl="revTx" presStyleIdx="2" presStyleCnt="3">
        <dgm:presLayoutVars>
          <dgm:chMax val="1"/>
          <dgm:chPref val="1"/>
        </dgm:presLayoutVars>
      </dgm:prSet>
      <dgm:spPr/>
    </dgm:pt>
  </dgm:ptLst>
  <dgm:cxnLst>
    <dgm:cxn modelId="{4FE24333-706F-47C1-8D3D-11180F0D16E2}" srcId="{1F5AF1CC-A747-4727-B8DB-62C9FD6BDF7A}" destId="{C6E54A6F-A17E-4C50-B486-36A8E6EFFDF2}" srcOrd="1" destOrd="0" parTransId="{FDE0FE1C-8EA8-4E4D-AD26-8BA9A1085973}" sibTransId="{D2A2A50C-7F3B-483C-AAC9-6E0EE9624213}"/>
    <dgm:cxn modelId="{78ED9B39-74D4-492D-AA2C-C7F57A5EE516}" type="presOf" srcId="{C872F8CE-46C6-46BC-9256-8FA8F6779A22}" destId="{3B387A26-CED6-4D4D-AC9E-EFB26289C18E}" srcOrd="0" destOrd="0" presId="urn:microsoft.com/office/officeart/2018/2/layout/IconCircleList"/>
    <dgm:cxn modelId="{0D885840-8075-40B9-8F5A-C280E0E889E5}" srcId="{1F5AF1CC-A747-4727-B8DB-62C9FD6BDF7A}" destId="{D98D3191-3EE2-4E5D-B731-D3C9F1699057}" srcOrd="0" destOrd="0" parTransId="{1A232CD0-3241-4EDE-A3FA-DCD096A4F261}" sibTransId="{C872F8CE-46C6-46BC-9256-8FA8F6779A22}"/>
    <dgm:cxn modelId="{8C6E686C-9099-476F-9770-310638A30C9E}" srcId="{1F5AF1CC-A747-4727-B8DB-62C9FD6BDF7A}" destId="{57A4D601-31E1-4EC6-83FB-5D7E998ACBE1}" srcOrd="2" destOrd="0" parTransId="{D25C4D36-CA8F-4BF0-BCE5-67B73FA291BF}" sibTransId="{7264A31A-784E-4B93-AA09-B4F53571B24C}"/>
    <dgm:cxn modelId="{E974D15A-8F7A-4E54-A7FC-E22CFBD371C3}" type="presOf" srcId="{D2A2A50C-7F3B-483C-AAC9-6E0EE9624213}" destId="{272DADAD-198F-4D6F-85F3-3C5DFD226DAA}" srcOrd="0" destOrd="0" presId="urn:microsoft.com/office/officeart/2018/2/layout/IconCircleList"/>
    <dgm:cxn modelId="{4DE0028E-09AA-4BEA-BA3C-EC78A73F6902}" type="presOf" srcId="{C6E54A6F-A17E-4C50-B486-36A8E6EFFDF2}" destId="{9265AAB9-7821-48B2-BC87-9C567F0988E0}" srcOrd="0" destOrd="0" presId="urn:microsoft.com/office/officeart/2018/2/layout/IconCircleList"/>
    <dgm:cxn modelId="{29E1FB92-6815-4603-81B8-DC959B9A9C0D}" type="presOf" srcId="{D98D3191-3EE2-4E5D-B731-D3C9F1699057}" destId="{0096A132-B603-418A-BB39-FBB898BAE504}" srcOrd="0" destOrd="0" presId="urn:microsoft.com/office/officeart/2018/2/layout/IconCircleList"/>
    <dgm:cxn modelId="{4AA1F89E-1B00-4728-B6D0-41C2092643A2}" type="presOf" srcId="{1F5AF1CC-A747-4727-B8DB-62C9FD6BDF7A}" destId="{7842A06C-0EA4-49B0-8FA4-A5DC1CBDAB2A}" srcOrd="0" destOrd="0" presId="urn:microsoft.com/office/officeart/2018/2/layout/IconCircleList"/>
    <dgm:cxn modelId="{7C4B64F2-64FC-4A6E-AD29-537AD1DD1928}" type="presOf" srcId="{57A4D601-31E1-4EC6-83FB-5D7E998ACBE1}" destId="{C4836E7F-756D-41A9-8394-2AF5A1F59407}" srcOrd="0" destOrd="0" presId="urn:microsoft.com/office/officeart/2018/2/layout/IconCircleList"/>
    <dgm:cxn modelId="{4583B157-2F31-4D61-A80A-03976BF3050C}" type="presParOf" srcId="{7842A06C-0EA4-49B0-8FA4-A5DC1CBDAB2A}" destId="{16F993C0-AFF8-469F-ABD1-4E9DA6FE0284}" srcOrd="0" destOrd="0" presId="urn:microsoft.com/office/officeart/2018/2/layout/IconCircleList"/>
    <dgm:cxn modelId="{BC3B9EE4-21CF-4513-97CA-ACB5D1DF2C72}" type="presParOf" srcId="{16F993C0-AFF8-469F-ABD1-4E9DA6FE0284}" destId="{AD3BFADB-CF96-450C-85F3-A4973D0DED8C}" srcOrd="0" destOrd="0" presId="urn:microsoft.com/office/officeart/2018/2/layout/IconCircleList"/>
    <dgm:cxn modelId="{569F2849-E097-4367-9022-8AED5B96B263}" type="presParOf" srcId="{AD3BFADB-CF96-450C-85F3-A4973D0DED8C}" destId="{F25D6338-AC84-4584-A73A-6F629B0C62D0}" srcOrd="0" destOrd="0" presId="urn:microsoft.com/office/officeart/2018/2/layout/IconCircleList"/>
    <dgm:cxn modelId="{D506A5B2-3FAE-4E4B-92AE-110F38CAE821}" type="presParOf" srcId="{AD3BFADB-CF96-450C-85F3-A4973D0DED8C}" destId="{D0863628-7DD5-4032-8046-3B7521BDDE94}" srcOrd="1" destOrd="0" presId="urn:microsoft.com/office/officeart/2018/2/layout/IconCircleList"/>
    <dgm:cxn modelId="{A077ABF8-7A8B-404E-A623-3FB8398B6BBA}" type="presParOf" srcId="{AD3BFADB-CF96-450C-85F3-A4973D0DED8C}" destId="{61288DEB-C943-406F-8D6D-388A8D249283}" srcOrd="2" destOrd="0" presId="urn:microsoft.com/office/officeart/2018/2/layout/IconCircleList"/>
    <dgm:cxn modelId="{43AF3033-CBBD-4922-B68D-A7CD71749F13}" type="presParOf" srcId="{AD3BFADB-CF96-450C-85F3-A4973D0DED8C}" destId="{0096A132-B603-418A-BB39-FBB898BAE504}" srcOrd="3" destOrd="0" presId="urn:microsoft.com/office/officeart/2018/2/layout/IconCircleList"/>
    <dgm:cxn modelId="{808305D6-8F6B-4FB3-ACD2-6611C2C7A775}" type="presParOf" srcId="{16F993C0-AFF8-469F-ABD1-4E9DA6FE0284}" destId="{3B387A26-CED6-4D4D-AC9E-EFB26289C18E}" srcOrd="1" destOrd="0" presId="urn:microsoft.com/office/officeart/2018/2/layout/IconCircleList"/>
    <dgm:cxn modelId="{1A5E979E-2D2A-4F59-8E65-87287D0E2DED}" type="presParOf" srcId="{16F993C0-AFF8-469F-ABD1-4E9DA6FE0284}" destId="{166319AB-05A9-4EA4-A973-8FA49ED3C848}" srcOrd="2" destOrd="0" presId="urn:microsoft.com/office/officeart/2018/2/layout/IconCircleList"/>
    <dgm:cxn modelId="{3348CCD5-F8CA-45A3-989C-2DEF2BCC72A5}" type="presParOf" srcId="{166319AB-05A9-4EA4-A973-8FA49ED3C848}" destId="{DF61FE6C-5D16-4F17-9030-0F77C001C341}" srcOrd="0" destOrd="0" presId="urn:microsoft.com/office/officeart/2018/2/layout/IconCircleList"/>
    <dgm:cxn modelId="{35ADBB81-DBE0-4E60-B3D9-FE126E65583F}" type="presParOf" srcId="{166319AB-05A9-4EA4-A973-8FA49ED3C848}" destId="{28C33761-EDE6-4F96-A7DF-E53ADE6DC720}" srcOrd="1" destOrd="0" presId="urn:microsoft.com/office/officeart/2018/2/layout/IconCircleList"/>
    <dgm:cxn modelId="{2702AA48-8D0D-4567-B80B-F721C41C648B}" type="presParOf" srcId="{166319AB-05A9-4EA4-A973-8FA49ED3C848}" destId="{AE44DE9C-4101-40CA-B45B-38586A851D50}" srcOrd="2" destOrd="0" presId="urn:microsoft.com/office/officeart/2018/2/layout/IconCircleList"/>
    <dgm:cxn modelId="{BD7B37BE-4E6F-4442-8073-8776629CDA54}" type="presParOf" srcId="{166319AB-05A9-4EA4-A973-8FA49ED3C848}" destId="{9265AAB9-7821-48B2-BC87-9C567F0988E0}" srcOrd="3" destOrd="0" presId="urn:microsoft.com/office/officeart/2018/2/layout/IconCircleList"/>
    <dgm:cxn modelId="{F9D742A7-75D2-4EE0-B689-A13FA2BCDF9D}" type="presParOf" srcId="{16F993C0-AFF8-469F-ABD1-4E9DA6FE0284}" destId="{272DADAD-198F-4D6F-85F3-3C5DFD226DAA}" srcOrd="3" destOrd="0" presId="urn:microsoft.com/office/officeart/2018/2/layout/IconCircleList"/>
    <dgm:cxn modelId="{27E32711-7A82-4F51-87FD-8DB4B3FE7410}" type="presParOf" srcId="{16F993C0-AFF8-469F-ABD1-4E9DA6FE0284}" destId="{99F1099F-E2DF-4D9F-BAA9-DB915B2E7C34}" srcOrd="4" destOrd="0" presId="urn:microsoft.com/office/officeart/2018/2/layout/IconCircleList"/>
    <dgm:cxn modelId="{B45A8AF5-9F2C-45D6-897A-6C3BE37C6BE9}" type="presParOf" srcId="{99F1099F-E2DF-4D9F-BAA9-DB915B2E7C34}" destId="{4F471D61-F5D5-4AB0-B4B5-C2E91677C3EC}" srcOrd="0" destOrd="0" presId="urn:microsoft.com/office/officeart/2018/2/layout/IconCircleList"/>
    <dgm:cxn modelId="{F6BD222E-144C-4F1B-B77C-1BC9773EAC12}" type="presParOf" srcId="{99F1099F-E2DF-4D9F-BAA9-DB915B2E7C34}" destId="{9B1DB073-E2CB-4D77-8CB1-29866DC00F1A}" srcOrd="1" destOrd="0" presId="urn:microsoft.com/office/officeart/2018/2/layout/IconCircleList"/>
    <dgm:cxn modelId="{3701F038-1023-4A0C-9B49-EB90ED30625C}" type="presParOf" srcId="{99F1099F-E2DF-4D9F-BAA9-DB915B2E7C34}" destId="{247905FB-1C18-45C8-9B95-F67E64E74834}" srcOrd="2" destOrd="0" presId="urn:microsoft.com/office/officeart/2018/2/layout/IconCircleList"/>
    <dgm:cxn modelId="{B39F686A-3565-4FEE-98AF-E797355DA986}" type="presParOf" srcId="{99F1099F-E2DF-4D9F-BAA9-DB915B2E7C34}" destId="{C4836E7F-756D-41A9-8394-2AF5A1F59407}"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5798BB8-052B-45F7-8C64-2105EAE1E058}"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3B12823B-C72A-4A41-8560-0619F6BF246D}">
      <dgm:prSet/>
      <dgm:spPr/>
      <dgm:t>
        <a:bodyPr/>
        <a:lstStyle/>
        <a:p>
          <a:r>
            <a:rPr lang="en-US" b="0" i="0" baseline="0"/>
            <a:t>Menilai efektivitas dan efisiensi operasi rantai pasok.</a:t>
          </a:r>
          <a:endParaRPr lang="en-US"/>
        </a:p>
      </dgm:t>
    </dgm:pt>
    <dgm:pt modelId="{D5A3065F-A24E-4D7A-AD26-2FFB424AD832}" type="parTrans" cxnId="{06F3C813-2CF1-4AA1-96FB-046AA77FD268}">
      <dgm:prSet/>
      <dgm:spPr/>
      <dgm:t>
        <a:bodyPr/>
        <a:lstStyle/>
        <a:p>
          <a:endParaRPr lang="en-US"/>
        </a:p>
      </dgm:t>
    </dgm:pt>
    <dgm:pt modelId="{23FFE19F-209C-4A7D-8EA9-8CA891122A16}" type="sibTrans" cxnId="{06F3C813-2CF1-4AA1-96FB-046AA77FD268}">
      <dgm:prSet/>
      <dgm:spPr/>
      <dgm:t>
        <a:bodyPr/>
        <a:lstStyle/>
        <a:p>
          <a:endParaRPr lang="en-US"/>
        </a:p>
      </dgm:t>
    </dgm:pt>
    <dgm:pt modelId="{78069A9F-884F-43C2-86F1-7825BA3EE0AF}">
      <dgm:prSet/>
      <dgm:spPr/>
      <dgm:t>
        <a:bodyPr/>
        <a:lstStyle/>
        <a:p>
          <a:r>
            <a:rPr lang="en-US" b="0" i="0" baseline="0"/>
            <a:t>Meningkatkan kolaborasi antara pemasok dan pelanggan.</a:t>
          </a:r>
          <a:endParaRPr lang="en-US"/>
        </a:p>
      </dgm:t>
    </dgm:pt>
    <dgm:pt modelId="{02DE3F53-3561-42F2-9579-EF3F64BEB9F6}" type="parTrans" cxnId="{894D6CD6-4C04-48F5-9465-7F978F7FED7B}">
      <dgm:prSet/>
      <dgm:spPr/>
      <dgm:t>
        <a:bodyPr/>
        <a:lstStyle/>
        <a:p>
          <a:endParaRPr lang="en-US"/>
        </a:p>
      </dgm:t>
    </dgm:pt>
    <dgm:pt modelId="{D0678859-EC68-40AD-9F8E-469FE2FD1B45}" type="sibTrans" cxnId="{894D6CD6-4C04-48F5-9465-7F978F7FED7B}">
      <dgm:prSet/>
      <dgm:spPr/>
      <dgm:t>
        <a:bodyPr/>
        <a:lstStyle/>
        <a:p>
          <a:endParaRPr lang="en-US"/>
        </a:p>
      </dgm:t>
    </dgm:pt>
    <dgm:pt modelId="{E7092084-4288-4785-863E-78834487CC06}">
      <dgm:prSet/>
      <dgm:spPr/>
      <dgm:t>
        <a:bodyPr/>
        <a:lstStyle/>
        <a:p>
          <a:r>
            <a:rPr lang="en-US" b="0" i="0" baseline="0"/>
            <a:t>Mengurangi biaya dan meningkatkan pelayanan.</a:t>
          </a:r>
          <a:endParaRPr lang="en-US"/>
        </a:p>
      </dgm:t>
    </dgm:pt>
    <dgm:pt modelId="{F55BCAF1-193B-4C3C-8969-91FA317A32AD}" type="parTrans" cxnId="{D1A8469E-BE89-4165-A0A7-E9A7F06E515A}">
      <dgm:prSet/>
      <dgm:spPr/>
      <dgm:t>
        <a:bodyPr/>
        <a:lstStyle/>
        <a:p>
          <a:endParaRPr lang="en-US"/>
        </a:p>
      </dgm:t>
    </dgm:pt>
    <dgm:pt modelId="{1D29A05A-236A-4CC9-A5C4-F46FB257AF47}" type="sibTrans" cxnId="{D1A8469E-BE89-4165-A0A7-E9A7F06E515A}">
      <dgm:prSet/>
      <dgm:spPr/>
      <dgm:t>
        <a:bodyPr/>
        <a:lstStyle/>
        <a:p>
          <a:endParaRPr lang="en-US"/>
        </a:p>
      </dgm:t>
    </dgm:pt>
    <dgm:pt modelId="{09B65CC9-C5C9-48E1-982F-961F24CAE821}">
      <dgm:prSet/>
      <dgm:spPr/>
      <dgm:t>
        <a:bodyPr/>
        <a:lstStyle/>
        <a:p>
          <a:r>
            <a:rPr lang="en-US" b="0" i="0" baseline="0"/>
            <a:t>Mengidentifikasi dan mengelola risiko dalam rantai pasok.</a:t>
          </a:r>
          <a:endParaRPr lang="en-US"/>
        </a:p>
      </dgm:t>
    </dgm:pt>
    <dgm:pt modelId="{46D72578-4841-48B1-9770-F0A747247A7A}" type="parTrans" cxnId="{FB22650F-0DAD-4EF9-BAD4-E5D5B4995F65}">
      <dgm:prSet/>
      <dgm:spPr/>
      <dgm:t>
        <a:bodyPr/>
        <a:lstStyle/>
        <a:p>
          <a:endParaRPr lang="en-US"/>
        </a:p>
      </dgm:t>
    </dgm:pt>
    <dgm:pt modelId="{9E8487C8-B8F3-4498-84A6-596BD3A3B1A8}" type="sibTrans" cxnId="{FB22650F-0DAD-4EF9-BAD4-E5D5B4995F65}">
      <dgm:prSet/>
      <dgm:spPr/>
      <dgm:t>
        <a:bodyPr/>
        <a:lstStyle/>
        <a:p>
          <a:endParaRPr lang="en-US"/>
        </a:p>
      </dgm:t>
    </dgm:pt>
    <dgm:pt modelId="{14FC0B45-8ADB-42F7-A413-232E87E9144A}">
      <dgm:prSet/>
      <dgm:spPr/>
      <dgm:t>
        <a:bodyPr/>
        <a:lstStyle/>
        <a:p>
          <a:r>
            <a:rPr lang="en-US" b="0" i="0" baseline="0"/>
            <a:t>Mendukung pengambilan keputusan yang berbasis data </a:t>
          </a:r>
          <a:endParaRPr lang="en-US"/>
        </a:p>
      </dgm:t>
    </dgm:pt>
    <dgm:pt modelId="{2146F0E9-A0F8-44D9-B718-45A6DCE64C67}" type="parTrans" cxnId="{434AF454-23A9-4781-BA35-F27823428D3F}">
      <dgm:prSet/>
      <dgm:spPr/>
      <dgm:t>
        <a:bodyPr/>
        <a:lstStyle/>
        <a:p>
          <a:endParaRPr lang="en-US"/>
        </a:p>
      </dgm:t>
    </dgm:pt>
    <dgm:pt modelId="{5FF20A7A-156A-4A8C-8C90-EF3565FF5667}" type="sibTrans" cxnId="{434AF454-23A9-4781-BA35-F27823428D3F}">
      <dgm:prSet/>
      <dgm:spPr/>
      <dgm:t>
        <a:bodyPr/>
        <a:lstStyle/>
        <a:p>
          <a:endParaRPr lang="en-US"/>
        </a:p>
      </dgm:t>
    </dgm:pt>
    <dgm:pt modelId="{D46687FB-C7B1-4D55-8BD1-58B735AA62B8}" type="pres">
      <dgm:prSet presAssocID="{65798BB8-052B-45F7-8C64-2105EAE1E058}" presName="linear" presStyleCnt="0">
        <dgm:presLayoutVars>
          <dgm:animLvl val="lvl"/>
          <dgm:resizeHandles val="exact"/>
        </dgm:presLayoutVars>
      </dgm:prSet>
      <dgm:spPr/>
    </dgm:pt>
    <dgm:pt modelId="{D2669363-EB14-45AF-8FC6-7229583A0195}" type="pres">
      <dgm:prSet presAssocID="{3B12823B-C72A-4A41-8560-0619F6BF246D}" presName="parentText" presStyleLbl="node1" presStyleIdx="0" presStyleCnt="5">
        <dgm:presLayoutVars>
          <dgm:chMax val="0"/>
          <dgm:bulletEnabled val="1"/>
        </dgm:presLayoutVars>
      </dgm:prSet>
      <dgm:spPr/>
    </dgm:pt>
    <dgm:pt modelId="{25A7C26C-0775-4F16-B64C-630A86EC6F28}" type="pres">
      <dgm:prSet presAssocID="{23FFE19F-209C-4A7D-8EA9-8CA891122A16}" presName="spacer" presStyleCnt="0"/>
      <dgm:spPr/>
    </dgm:pt>
    <dgm:pt modelId="{44C0761C-9C1A-49FD-A2FE-B73CE676079F}" type="pres">
      <dgm:prSet presAssocID="{78069A9F-884F-43C2-86F1-7825BA3EE0AF}" presName="parentText" presStyleLbl="node1" presStyleIdx="1" presStyleCnt="5">
        <dgm:presLayoutVars>
          <dgm:chMax val="0"/>
          <dgm:bulletEnabled val="1"/>
        </dgm:presLayoutVars>
      </dgm:prSet>
      <dgm:spPr/>
    </dgm:pt>
    <dgm:pt modelId="{506453A8-02F9-4A84-8178-7D2F8896CEAC}" type="pres">
      <dgm:prSet presAssocID="{D0678859-EC68-40AD-9F8E-469FE2FD1B45}" presName="spacer" presStyleCnt="0"/>
      <dgm:spPr/>
    </dgm:pt>
    <dgm:pt modelId="{4CFD26B9-16A8-4BF4-A63D-36842358D550}" type="pres">
      <dgm:prSet presAssocID="{E7092084-4288-4785-863E-78834487CC06}" presName="parentText" presStyleLbl="node1" presStyleIdx="2" presStyleCnt="5">
        <dgm:presLayoutVars>
          <dgm:chMax val="0"/>
          <dgm:bulletEnabled val="1"/>
        </dgm:presLayoutVars>
      </dgm:prSet>
      <dgm:spPr/>
    </dgm:pt>
    <dgm:pt modelId="{1AD16C59-BA12-406E-842C-A0BE860A4B75}" type="pres">
      <dgm:prSet presAssocID="{1D29A05A-236A-4CC9-A5C4-F46FB257AF47}" presName="spacer" presStyleCnt="0"/>
      <dgm:spPr/>
    </dgm:pt>
    <dgm:pt modelId="{ABEDF340-40BE-485D-A3BC-8953C0BB35D5}" type="pres">
      <dgm:prSet presAssocID="{09B65CC9-C5C9-48E1-982F-961F24CAE821}" presName="parentText" presStyleLbl="node1" presStyleIdx="3" presStyleCnt="5">
        <dgm:presLayoutVars>
          <dgm:chMax val="0"/>
          <dgm:bulletEnabled val="1"/>
        </dgm:presLayoutVars>
      </dgm:prSet>
      <dgm:spPr/>
    </dgm:pt>
    <dgm:pt modelId="{00282138-1898-402E-A5E4-2596ABBF2931}" type="pres">
      <dgm:prSet presAssocID="{9E8487C8-B8F3-4498-84A6-596BD3A3B1A8}" presName="spacer" presStyleCnt="0"/>
      <dgm:spPr/>
    </dgm:pt>
    <dgm:pt modelId="{DE7DB3C5-5E0F-4CAB-8917-87F169A43551}" type="pres">
      <dgm:prSet presAssocID="{14FC0B45-8ADB-42F7-A413-232E87E9144A}" presName="parentText" presStyleLbl="node1" presStyleIdx="4" presStyleCnt="5">
        <dgm:presLayoutVars>
          <dgm:chMax val="0"/>
          <dgm:bulletEnabled val="1"/>
        </dgm:presLayoutVars>
      </dgm:prSet>
      <dgm:spPr/>
    </dgm:pt>
  </dgm:ptLst>
  <dgm:cxnLst>
    <dgm:cxn modelId="{735EA104-D18C-4BB0-96F4-20EB61241E56}" type="presOf" srcId="{65798BB8-052B-45F7-8C64-2105EAE1E058}" destId="{D46687FB-C7B1-4D55-8BD1-58B735AA62B8}" srcOrd="0" destOrd="0" presId="urn:microsoft.com/office/officeart/2005/8/layout/vList2"/>
    <dgm:cxn modelId="{FB22650F-0DAD-4EF9-BAD4-E5D5B4995F65}" srcId="{65798BB8-052B-45F7-8C64-2105EAE1E058}" destId="{09B65CC9-C5C9-48E1-982F-961F24CAE821}" srcOrd="3" destOrd="0" parTransId="{46D72578-4841-48B1-9770-F0A747247A7A}" sibTransId="{9E8487C8-B8F3-4498-84A6-596BD3A3B1A8}"/>
    <dgm:cxn modelId="{06F3C813-2CF1-4AA1-96FB-046AA77FD268}" srcId="{65798BB8-052B-45F7-8C64-2105EAE1E058}" destId="{3B12823B-C72A-4A41-8560-0619F6BF246D}" srcOrd="0" destOrd="0" parTransId="{D5A3065F-A24E-4D7A-AD26-2FFB424AD832}" sibTransId="{23FFE19F-209C-4A7D-8EA9-8CA891122A16}"/>
    <dgm:cxn modelId="{D6AE8438-3D52-47B6-9ACE-44329244D6C1}" type="presOf" srcId="{14FC0B45-8ADB-42F7-A413-232E87E9144A}" destId="{DE7DB3C5-5E0F-4CAB-8917-87F169A43551}" srcOrd="0" destOrd="0" presId="urn:microsoft.com/office/officeart/2005/8/layout/vList2"/>
    <dgm:cxn modelId="{2C73BC51-CADB-48D2-BA5F-F49451D4F438}" type="presOf" srcId="{3B12823B-C72A-4A41-8560-0619F6BF246D}" destId="{D2669363-EB14-45AF-8FC6-7229583A0195}" srcOrd="0" destOrd="0" presId="urn:microsoft.com/office/officeart/2005/8/layout/vList2"/>
    <dgm:cxn modelId="{434AF454-23A9-4781-BA35-F27823428D3F}" srcId="{65798BB8-052B-45F7-8C64-2105EAE1E058}" destId="{14FC0B45-8ADB-42F7-A413-232E87E9144A}" srcOrd="4" destOrd="0" parTransId="{2146F0E9-A0F8-44D9-B718-45A6DCE64C67}" sibTransId="{5FF20A7A-156A-4A8C-8C90-EF3565FF5667}"/>
    <dgm:cxn modelId="{D1A8469E-BE89-4165-A0A7-E9A7F06E515A}" srcId="{65798BB8-052B-45F7-8C64-2105EAE1E058}" destId="{E7092084-4288-4785-863E-78834487CC06}" srcOrd="2" destOrd="0" parTransId="{F55BCAF1-193B-4C3C-8969-91FA317A32AD}" sibTransId="{1D29A05A-236A-4CC9-A5C4-F46FB257AF47}"/>
    <dgm:cxn modelId="{066F90C2-B2F5-43FD-B143-1EA890981D85}" type="presOf" srcId="{78069A9F-884F-43C2-86F1-7825BA3EE0AF}" destId="{44C0761C-9C1A-49FD-A2FE-B73CE676079F}" srcOrd="0" destOrd="0" presId="urn:microsoft.com/office/officeart/2005/8/layout/vList2"/>
    <dgm:cxn modelId="{1A733BC4-8637-461E-B2E5-7C512B95922D}" type="presOf" srcId="{E7092084-4288-4785-863E-78834487CC06}" destId="{4CFD26B9-16A8-4BF4-A63D-36842358D550}" srcOrd="0" destOrd="0" presId="urn:microsoft.com/office/officeart/2005/8/layout/vList2"/>
    <dgm:cxn modelId="{894D6CD6-4C04-48F5-9465-7F978F7FED7B}" srcId="{65798BB8-052B-45F7-8C64-2105EAE1E058}" destId="{78069A9F-884F-43C2-86F1-7825BA3EE0AF}" srcOrd="1" destOrd="0" parTransId="{02DE3F53-3561-42F2-9579-EF3F64BEB9F6}" sibTransId="{D0678859-EC68-40AD-9F8E-469FE2FD1B45}"/>
    <dgm:cxn modelId="{DFF7E5F7-A288-4286-B338-3C6BAA2E7604}" type="presOf" srcId="{09B65CC9-C5C9-48E1-982F-961F24CAE821}" destId="{ABEDF340-40BE-485D-A3BC-8953C0BB35D5}" srcOrd="0" destOrd="0" presId="urn:microsoft.com/office/officeart/2005/8/layout/vList2"/>
    <dgm:cxn modelId="{B20D8399-4E68-4A47-981D-935996D3CB22}" type="presParOf" srcId="{D46687FB-C7B1-4D55-8BD1-58B735AA62B8}" destId="{D2669363-EB14-45AF-8FC6-7229583A0195}" srcOrd="0" destOrd="0" presId="urn:microsoft.com/office/officeart/2005/8/layout/vList2"/>
    <dgm:cxn modelId="{49198CB2-9200-4F1D-8EB9-A8AFF9E48E5B}" type="presParOf" srcId="{D46687FB-C7B1-4D55-8BD1-58B735AA62B8}" destId="{25A7C26C-0775-4F16-B64C-630A86EC6F28}" srcOrd="1" destOrd="0" presId="urn:microsoft.com/office/officeart/2005/8/layout/vList2"/>
    <dgm:cxn modelId="{8C004624-9150-4C89-B866-922C2E4CE12D}" type="presParOf" srcId="{D46687FB-C7B1-4D55-8BD1-58B735AA62B8}" destId="{44C0761C-9C1A-49FD-A2FE-B73CE676079F}" srcOrd="2" destOrd="0" presId="urn:microsoft.com/office/officeart/2005/8/layout/vList2"/>
    <dgm:cxn modelId="{3DC46AAA-5D52-4543-8E2C-758D8F3275FF}" type="presParOf" srcId="{D46687FB-C7B1-4D55-8BD1-58B735AA62B8}" destId="{506453A8-02F9-4A84-8178-7D2F8896CEAC}" srcOrd="3" destOrd="0" presId="urn:microsoft.com/office/officeart/2005/8/layout/vList2"/>
    <dgm:cxn modelId="{002CAD51-F0D7-40A9-944A-4F78AF3CDBB2}" type="presParOf" srcId="{D46687FB-C7B1-4D55-8BD1-58B735AA62B8}" destId="{4CFD26B9-16A8-4BF4-A63D-36842358D550}" srcOrd="4" destOrd="0" presId="urn:microsoft.com/office/officeart/2005/8/layout/vList2"/>
    <dgm:cxn modelId="{F4F49ABB-D9B7-4041-9122-A8DB544EF4C7}" type="presParOf" srcId="{D46687FB-C7B1-4D55-8BD1-58B735AA62B8}" destId="{1AD16C59-BA12-406E-842C-A0BE860A4B75}" srcOrd="5" destOrd="0" presId="urn:microsoft.com/office/officeart/2005/8/layout/vList2"/>
    <dgm:cxn modelId="{161C314F-1B7C-4DC1-94BF-08AD8FAE6177}" type="presParOf" srcId="{D46687FB-C7B1-4D55-8BD1-58B735AA62B8}" destId="{ABEDF340-40BE-485D-A3BC-8953C0BB35D5}" srcOrd="6" destOrd="0" presId="urn:microsoft.com/office/officeart/2005/8/layout/vList2"/>
    <dgm:cxn modelId="{E4F281E4-4A92-4E58-B214-6A7ECD809A45}" type="presParOf" srcId="{D46687FB-C7B1-4D55-8BD1-58B735AA62B8}" destId="{00282138-1898-402E-A5E4-2596ABBF2931}" srcOrd="7" destOrd="0" presId="urn:microsoft.com/office/officeart/2005/8/layout/vList2"/>
    <dgm:cxn modelId="{ABA30404-1BAC-4F00-9525-990A27AAB706}" type="presParOf" srcId="{D46687FB-C7B1-4D55-8BD1-58B735AA62B8}" destId="{DE7DB3C5-5E0F-4CAB-8917-87F169A43551}"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FA24DD6-661C-4613-99EA-9F86B1572C9A}"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31CEF4E7-EA25-4C2D-871A-9A0DFBAB9102}">
      <dgm:prSet/>
      <dgm:spPr/>
      <dgm:t>
        <a:bodyPr/>
        <a:lstStyle/>
        <a:p>
          <a:r>
            <a:rPr lang="en-ID"/>
            <a:t>Efisiensi Biaya</a:t>
          </a:r>
          <a:endParaRPr lang="en-US"/>
        </a:p>
      </dgm:t>
    </dgm:pt>
    <dgm:pt modelId="{91E54E9F-02F9-4608-83CF-1A0FEE5B74D2}" type="parTrans" cxnId="{CC2BC432-6A39-45D3-A610-43293F1318C1}">
      <dgm:prSet/>
      <dgm:spPr/>
      <dgm:t>
        <a:bodyPr/>
        <a:lstStyle/>
        <a:p>
          <a:endParaRPr lang="en-US"/>
        </a:p>
      </dgm:t>
    </dgm:pt>
    <dgm:pt modelId="{689CFECC-2E42-4491-9B38-388D35FDCD59}" type="sibTrans" cxnId="{CC2BC432-6A39-45D3-A610-43293F1318C1}">
      <dgm:prSet/>
      <dgm:spPr/>
      <dgm:t>
        <a:bodyPr/>
        <a:lstStyle/>
        <a:p>
          <a:endParaRPr lang="en-US"/>
        </a:p>
      </dgm:t>
    </dgm:pt>
    <dgm:pt modelId="{BBB1FC92-FE29-418F-970C-D262CCEC7926}">
      <dgm:prSet/>
      <dgm:spPr/>
      <dgm:t>
        <a:bodyPr/>
        <a:lstStyle/>
        <a:p>
          <a:r>
            <a:rPr lang="en-ID"/>
            <a:t>Kepuasan Pelanggan</a:t>
          </a:r>
          <a:endParaRPr lang="en-US"/>
        </a:p>
      </dgm:t>
    </dgm:pt>
    <dgm:pt modelId="{912D07C9-EEA5-4637-803B-1B0738CDB49B}" type="parTrans" cxnId="{6B5580B2-C119-43EC-A884-E0A89EBB3231}">
      <dgm:prSet/>
      <dgm:spPr/>
      <dgm:t>
        <a:bodyPr/>
        <a:lstStyle/>
        <a:p>
          <a:endParaRPr lang="en-US"/>
        </a:p>
      </dgm:t>
    </dgm:pt>
    <dgm:pt modelId="{873D6E15-91DD-4AEF-A05F-3704F55D27FF}" type="sibTrans" cxnId="{6B5580B2-C119-43EC-A884-E0A89EBB3231}">
      <dgm:prSet/>
      <dgm:spPr/>
      <dgm:t>
        <a:bodyPr/>
        <a:lstStyle/>
        <a:p>
          <a:endParaRPr lang="en-US"/>
        </a:p>
      </dgm:t>
    </dgm:pt>
    <dgm:pt modelId="{6EE3F48F-F4AF-4AF5-8734-2211AF99E7C7}">
      <dgm:prSet/>
      <dgm:spPr/>
      <dgm:t>
        <a:bodyPr/>
        <a:lstStyle/>
        <a:p>
          <a:r>
            <a:rPr lang="en-ID"/>
            <a:t>Ketepatan Waktu Pengiriman</a:t>
          </a:r>
          <a:endParaRPr lang="en-US"/>
        </a:p>
      </dgm:t>
    </dgm:pt>
    <dgm:pt modelId="{F2238664-9E9C-48A0-8F07-5C51FAD2F32C}" type="parTrans" cxnId="{E5280E19-B2C2-463E-8822-F16243547589}">
      <dgm:prSet/>
      <dgm:spPr/>
      <dgm:t>
        <a:bodyPr/>
        <a:lstStyle/>
        <a:p>
          <a:endParaRPr lang="en-US"/>
        </a:p>
      </dgm:t>
    </dgm:pt>
    <dgm:pt modelId="{C9C064FF-933C-493B-B3CE-65E7CF6BBDD1}" type="sibTrans" cxnId="{E5280E19-B2C2-463E-8822-F16243547589}">
      <dgm:prSet/>
      <dgm:spPr/>
      <dgm:t>
        <a:bodyPr/>
        <a:lstStyle/>
        <a:p>
          <a:endParaRPr lang="en-US"/>
        </a:p>
      </dgm:t>
    </dgm:pt>
    <dgm:pt modelId="{A8F10186-8C18-47FD-828C-D19690340203}">
      <dgm:prSet/>
      <dgm:spPr/>
      <dgm:t>
        <a:bodyPr/>
        <a:lstStyle/>
        <a:p>
          <a:r>
            <a:rPr lang="en-ID"/>
            <a:t>Kualitas Produk</a:t>
          </a:r>
          <a:endParaRPr lang="en-US"/>
        </a:p>
      </dgm:t>
    </dgm:pt>
    <dgm:pt modelId="{E919E943-C7B6-44A0-BE84-F0D18869832C}" type="parTrans" cxnId="{C52C2E4F-12E7-434B-B5E8-3013F517F24D}">
      <dgm:prSet/>
      <dgm:spPr/>
      <dgm:t>
        <a:bodyPr/>
        <a:lstStyle/>
        <a:p>
          <a:endParaRPr lang="en-US"/>
        </a:p>
      </dgm:t>
    </dgm:pt>
    <dgm:pt modelId="{BA651ACB-CBA2-40A7-8BBF-79146A06F2EA}" type="sibTrans" cxnId="{C52C2E4F-12E7-434B-B5E8-3013F517F24D}">
      <dgm:prSet/>
      <dgm:spPr/>
      <dgm:t>
        <a:bodyPr/>
        <a:lstStyle/>
        <a:p>
          <a:endParaRPr lang="en-US"/>
        </a:p>
      </dgm:t>
    </dgm:pt>
    <dgm:pt modelId="{CEFFBA85-5D51-42AE-9128-2530930AC2DC}">
      <dgm:prSet/>
      <dgm:spPr/>
      <dgm:t>
        <a:bodyPr/>
        <a:lstStyle/>
        <a:p>
          <a:r>
            <a:rPr lang="en-ID"/>
            <a:t>Persediaan dan Ketersediaan Barang</a:t>
          </a:r>
          <a:endParaRPr lang="en-US"/>
        </a:p>
      </dgm:t>
    </dgm:pt>
    <dgm:pt modelId="{9528D505-1DF4-4ACB-8C47-86D6FFB8ECCE}" type="parTrans" cxnId="{B94707E6-215C-463B-99A9-12343DE74327}">
      <dgm:prSet/>
      <dgm:spPr/>
      <dgm:t>
        <a:bodyPr/>
        <a:lstStyle/>
        <a:p>
          <a:endParaRPr lang="en-US"/>
        </a:p>
      </dgm:t>
    </dgm:pt>
    <dgm:pt modelId="{1E5CE51F-7E02-424C-8736-30E161B385CF}" type="sibTrans" cxnId="{B94707E6-215C-463B-99A9-12343DE74327}">
      <dgm:prSet/>
      <dgm:spPr/>
      <dgm:t>
        <a:bodyPr/>
        <a:lstStyle/>
        <a:p>
          <a:endParaRPr lang="en-US"/>
        </a:p>
      </dgm:t>
    </dgm:pt>
    <dgm:pt modelId="{EF3E68A7-9CF1-40FB-9AF6-52C46DA47D24}">
      <dgm:prSet/>
      <dgm:spPr/>
      <dgm:t>
        <a:bodyPr/>
        <a:lstStyle/>
        <a:p>
          <a:r>
            <a:rPr lang="en-ID"/>
            <a:t>Kecepatan Respons terhadap Perubahan Permintaan</a:t>
          </a:r>
          <a:endParaRPr lang="en-US"/>
        </a:p>
      </dgm:t>
    </dgm:pt>
    <dgm:pt modelId="{68262804-F5AD-47BD-97EB-BEED70DEF1A5}" type="parTrans" cxnId="{D68E402F-C196-4538-BCAD-91C49C461976}">
      <dgm:prSet/>
      <dgm:spPr/>
      <dgm:t>
        <a:bodyPr/>
        <a:lstStyle/>
        <a:p>
          <a:endParaRPr lang="en-US"/>
        </a:p>
      </dgm:t>
    </dgm:pt>
    <dgm:pt modelId="{336306EE-9958-4C35-B399-134736142596}" type="sibTrans" cxnId="{D68E402F-C196-4538-BCAD-91C49C461976}">
      <dgm:prSet/>
      <dgm:spPr/>
      <dgm:t>
        <a:bodyPr/>
        <a:lstStyle/>
        <a:p>
          <a:endParaRPr lang="en-US"/>
        </a:p>
      </dgm:t>
    </dgm:pt>
    <dgm:pt modelId="{FDB9CA1D-6D39-4896-8A61-9024B19A1419}">
      <dgm:prSet/>
      <dgm:spPr/>
      <dgm:t>
        <a:bodyPr/>
        <a:lstStyle/>
        <a:p>
          <a:r>
            <a:rPr lang="en-ID"/>
            <a:t>Utilisasi Kapasitas (Capacity Utilization)</a:t>
          </a:r>
          <a:endParaRPr lang="en-US"/>
        </a:p>
      </dgm:t>
    </dgm:pt>
    <dgm:pt modelId="{6D9D408C-D404-473B-B2D0-2724AE3B236D}" type="parTrans" cxnId="{79875AB2-B5AE-43A2-ADD1-5309FF95E7BF}">
      <dgm:prSet/>
      <dgm:spPr/>
      <dgm:t>
        <a:bodyPr/>
        <a:lstStyle/>
        <a:p>
          <a:endParaRPr lang="en-US"/>
        </a:p>
      </dgm:t>
    </dgm:pt>
    <dgm:pt modelId="{C1ABD6E8-8B74-4684-BCA6-847CB9625C67}" type="sibTrans" cxnId="{79875AB2-B5AE-43A2-ADD1-5309FF95E7BF}">
      <dgm:prSet/>
      <dgm:spPr/>
      <dgm:t>
        <a:bodyPr/>
        <a:lstStyle/>
        <a:p>
          <a:endParaRPr lang="en-US"/>
        </a:p>
      </dgm:t>
    </dgm:pt>
    <dgm:pt modelId="{1564CDD5-8BB1-44E6-B629-BE62C5E96E12}">
      <dgm:prSet/>
      <dgm:spPr/>
      <dgm:t>
        <a:bodyPr/>
        <a:lstStyle/>
        <a:p>
          <a:r>
            <a:rPr lang="en-ID"/>
            <a:t>Keandalan Pemasok (Supplier Reliability)</a:t>
          </a:r>
          <a:endParaRPr lang="en-US"/>
        </a:p>
      </dgm:t>
    </dgm:pt>
    <dgm:pt modelId="{81ADB3E4-8445-4D87-BEA8-3A7F366B8368}" type="parTrans" cxnId="{D353004B-A757-4206-8A72-D5B50856BBC4}">
      <dgm:prSet/>
      <dgm:spPr/>
      <dgm:t>
        <a:bodyPr/>
        <a:lstStyle/>
        <a:p>
          <a:endParaRPr lang="en-US"/>
        </a:p>
      </dgm:t>
    </dgm:pt>
    <dgm:pt modelId="{3CE31AF8-FE57-4D71-9348-85B9D1C80A9F}" type="sibTrans" cxnId="{D353004B-A757-4206-8A72-D5B50856BBC4}">
      <dgm:prSet/>
      <dgm:spPr/>
      <dgm:t>
        <a:bodyPr/>
        <a:lstStyle/>
        <a:p>
          <a:endParaRPr lang="en-US"/>
        </a:p>
      </dgm:t>
    </dgm:pt>
    <dgm:pt modelId="{F5DC7699-E5DB-4A2A-8DB3-EE4AE5A24565}">
      <dgm:prSet/>
      <dgm:spPr/>
      <dgm:t>
        <a:bodyPr/>
        <a:lstStyle/>
        <a:p>
          <a:r>
            <a:rPr lang="en-ID"/>
            <a:t>Kinerja Keuangan (Financial Performance)</a:t>
          </a:r>
          <a:endParaRPr lang="en-US"/>
        </a:p>
      </dgm:t>
    </dgm:pt>
    <dgm:pt modelId="{94EF8E09-E881-4376-97B1-367E7306FB49}" type="parTrans" cxnId="{7AE4B4CB-12B3-4E6B-B417-845011922BA3}">
      <dgm:prSet/>
      <dgm:spPr/>
      <dgm:t>
        <a:bodyPr/>
        <a:lstStyle/>
        <a:p>
          <a:endParaRPr lang="en-US"/>
        </a:p>
      </dgm:t>
    </dgm:pt>
    <dgm:pt modelId="{1F55EF89-A9B6-47FD-9FEB-9D8CB4F671E8}" type="sibTrans" cxnId="{7AE4B4CB-12B3-4E6B-B417-845011922BA3}">
      <dgm:prSet/>
      <dgm:spPr/>
      <dgm:t>
        <a:bodyPr/>
        <a:lstStyle/>
        <a:p>
          <a:endParaRPr lang="en-US"/>
        </a:p>
      </dgm:t>
    </dgm:pt>
    <dgm:pt modelId="{AFBFAC74-C15F-4AF3-B865-C797CBD2E884}">
      <dgm:prSet/>
      <dgm:spPr/>
      <dgm:t>
        <a:bodyPr/>
        <a:lstStyle/>
        <a:p>
          <a:r>
            <a:rPr lang="en-ID"/>
            <a:t>Rantai Pasok yang Berkelanjutan (Sustainability)</a:t>
          </a:r>
          <a:endParaRPr lang="en-US"/>
        </a:p>
      </dgm:t>
    </dgm:pt>
    <dgm:pt modelId="{DE839B8D-1435-4937-A91E-B30BBE4372B9}" type="parTrans" cxnId="{D4649E2C-1D4A-4349-8118-6F144BB613E2}">
      <dgm:prSet/>
      <dgm:spPr/>
      <dgm:t>
        <a:bodyPr/>
        <a:lstStyle/>
        <a:p>
          <a:endParaRPr lang="en-US"/>
        </a:p>
      </dgm:t>
    </dgm:pt>
    <dgm:pt modelId="{6DE6A0D2-0E12-4444-9B26-9882EFA9AF80}" type="sibTrans" cxnId="{D4649E2C-1D4A-4349-8118-6F144BB613E2}">
      <dgm:prSet/>
      <dgm:spPr/>
      <dgm:t>
        <a:bodyPr/>
        <a:lstStyle/>
        <a:p>
          <a:endParaRPr lang="en-US"/>
        </a:p>
      </dgm:t>
    </dgm:pt>
    <dgm:pt modelId="{207AE719-57DA-4BF9-8F7D-4F20BB56FA26}" type="pres">
      <dgm:prSet presAssocID="{0FA24DD6-661C-4613-99EA-9F86B1572C9A}" presName="diagram" presStyleCnt="0">
        <dgm:presLayoutVars>
          <dgm:dir/>
          <dgm:resizeHandles val="exact"/>
        </dgm:presLayoutVars>
      </dgm:prSet>
      <dgm:spPr/>
    </dgm:pt>
    <dgm:pt modelId="{83AC4B61-1403-467B-9806-0D234E0BDEAB}" type="pres">
      <dgm:prSet presAssocID="{31CEF4E7-EA25-4C2D-871A-9A0DFBAB9102}" presName="node" presStyleLbl="node1" presStyleIdx="0" presStyleCnt="10">
        <dgm:presLayoutVars>
          <dgm:bulletEnabled val="1"/>
        </dgm:presLayoutVars>
      </dgm:prSet>
      <dgm:spPr/>
    </dgm:pt>
    <dgm:pt modelId="{3C286ECA-4A3F-4CF7-B8CE-FCDE094E11C5}" type="pres">
      <dgm:prSet presAssocID="{689CFECC-2E42-4491-9B38-388D35FDCD59}" presName="sibTrans" presStyleCnt="0"/>
      <dgm:spPr/>
    </dgm:pt>
    <dgm:pt modelId="{EE773E25-AD8E-4175-BDCF-5E82EB1CA033}" type="pres">
      <dgm:prSet presAssocID="{BBB1FC92-FE29-418F-970C-D262CCEC7926}" presName="node" presStyleLbl="node1" presStyleIdx="1" presStyleCnt="10">
        <dgm:presLayoutVars>
          <dgm:bulletEnabled val="1"/>
        </dgm:presLayoutVars>
      </dgm:prSet>
      <dgm:spPr/>
    </dgm:pt>
    <dgm:pt modelId="{060AC236-8F23-4E09-B83F-BCC0D9BFFDB8}" type="pres">
      <dgm:prSet presAssocID="{873D6E15-91DD-4AEF-A05F-3704F55D27FF}" presName="sibTrans" presStyleCnt="0"/>
      <dgm:spPr/>
    </dgm:pt>
    <dgm:pt modelId="{7F656469-D8EE-4950-AAEE-BEA4ABE86D6D}" type="pres">
      <dgm:prSet presAssocID="{6EE3F48F-F4AF-4AF5-8734-2211AF99E7C7}" presName="node" presStyleLbl="node1" presStyleIdx="2" presStyleCnt="10">
        <dgm:presLayoutVars>
          <dgm:bulletEnabled val="1"/>
        </dgm:presLayoutVars>
      </dgm:prSet>
      <dgm:spPr/>
    </dgm:pt>
    <dgm:pt modelId="{772D4C3D-2DEA-49D4-A610-14E19B0F2E36}" type="pres">
      <dgm:prSet presAssocID="{C9C064FF-933C-493B-B3CE-65E7CF6BBDD1}" presName="sibTrans" presStyleCnt="0"/>
      <dgm:spPr/>
    </dgm:pt>
    <dgm:pt modelId="{A7C8EA1C-00E3-40B8-AF64-B0D3A1FC31B2}" type="pres">
      <dgm:prSet presAssocID="{A8F10186-8C18-47FD-828C-D19690340203}" presName="node" presStyleLbl="node1" presStyleIdx="3" presStyleCnt="10">
        <dgm:presLayoutVars>
          <dgm:bulletEnabled val="1"/>
        </dgm:presLayoutVars>
      </dgm:prSet>
      <dgm:spPr/>
    </dgm:pt>
    <dgm:pt modelId="{FCB0C3EF-04BB-4A33-B6D7-727AB98915AE}" type="pres">
      <dgm:prSet presAssocID="{BA651ACB-CBA2-40A7-8BBF-79146A06F2EA}" presName="sibTrans" presStyleCnt="0"/>
      <dgm:spPr/>
    </dgm:pt>
    <dgm:pt modelId="{DB6A7213-EF9D-4DCD-ABEB-B83F49B68894}" type="pres">
      <dgm:prSet presAssocID="{CEFFBA85-5D51-42AE-9128-2530930AC2DC}" presName="node" presStyleLbl="node1" presStyleIdx="4" presStyleCnt="10">
        <dgm:presLayoutVars>
          <dgm:bulletEnabled val="1"/>
        </dgm:presLayoutVars>
      </dgm:prSet>
      <dgm:spPr/>
    </dgm:pt>
    <dgm:pt modelId="{7A4192F2-DBAD-42E1-A60F-E28CEF770F15}" type="pres">
      <dgm:prSet presAssocID="{1E5CE51F-7E02-424C-8736-30E161B385CF}" presName="sibTrans" presStyleCnt="0"/>
      <dgm:spPr/>
    </dgm:pt>
    <dgm:pt modelId="{A80FFE9C-B6F9-4B6D-9BF6-7B4B3D1FF944}" type="pres">
      <dgm:prSet presAssocID="{EF3E68A7-9CF1-40FB-9AF6-52C46DA47D24}" presName="node" presStyleLbl="node1" presStyleIdx="5" presStyleCnt="10">
        <dgm:presLayoutVars>
          <dgm:bulletEnabled val="1"/>
        </dgm:presLayoutVars>
      </dgm:prSet>
      <dgm:spPr/>
    </dgm:pt>
    <dgm:pt modelId="{6F799F65-2EA5-47EE-8A8F-9424D0189020}" type="pres">
      <dgm:prSet presAssocID="{336306EE-9958-4C35-B399-134736142596}" presName="sibTrans" presStyleCnt="0"/>
      <dgm:spPr/>
    </dgm:pt>
    <dgm:pt modelId="{DB6E6FC9-967F-4CA7-8E29-F166A68F01D3}" type="pres">
      <dgm:prSet presAssocID="{FDB9CA1D-6D39-4896-8A61-9024B19A1419}" presName="node" presStyleLbl="node1" presStyleIdx="6" presStyleCnt="10">
        <dgm:presLayoutVars>
          <dgm:bulletEnabled val="1"/>
        </dgm:presLayoutVars>
      </dgm:prSet>
      <dgm:spPr/>
    </dgm:pt>
    <dgm:pt modelId="{8239566F-F4EF-40A0-B3AE-21F473FFFFA8}" type="pres">
      <dgm:prSet presAssocID="{C1ABD6E8-8B74-4684-BCA6-847CB9625C67}" presName="sibTrans" presStyleCnt="0"/>
      <dgm:spPr/>
    </dgm:pt>
    <dgm:pt modelId="{0D7E3D32-7044-4074-B227-B32A45230632}" type="pres">
      <dgm:prSet presAssocID="{1564CDD5-8BB1-44E6-B629-BE62C5E96E12}" presName="node" presStyleLbl="node1" presStyleIdx="7" presStyleCnt="10">
        <dgm:presLayoutVars>
          <dgm:bulletEnabled val="1"/>
        </dgm:presLayoutVars>
      </dgm:prSet>
      <dgm:spPr/>
    </dgm:pt>
    <dgm:pt modelId="{6C4B7B68-55C6-41CE-B3C4-F7E0AC6FEB3D}" type="pres">
      <dgm:prSet presAssocID="{3CE31AF8-FE57-4D71-9348-85B9D1C80A9F}" presName="sibTrans" presStyleCnt="0"/>
      <dgm:spPr/>
    </dgm:pt>
    <dgm:pt modelId="{82CC4B0E-1F30-4A9C-BD48-419F2EC544B1}" type="pres">
      <dgm:prSet presAssocID="{F5DC7699-E5DB-4A2A-8DB3-EE4AE5A24565}" presName="node" presStyleLbl="node1" presStyleIdx="8" presStyleCnt="10">
        <dgm:presLayoutVars>
          <dgm:bulletEnabled val="1"/>
        </dgm:presLayoutVars>
      </dgm:prSet>
      <dgm:spPr/>
    </dgm:pt>
    <dgm:pt modelId="{B219E462-C6BF-47C1-9072-D8758F5DDB6F}" type="pres">
      <dgm:prSet presAssocID="{1F55EF89-A9B6-47FD-9FEB-9D8CB4F671E8}" presName="sibTrans" presStyleCnt="0"/>
      <dgm:spPr/>
    </dgm:pt>
    <dgm:pt modelId="{F31BD365-81A9-4D5A-862A-4F49FF8DADBE}" type="pres">
      <dgm:prSet presAssocID="{AFBFAC74-C15F-4AF3-B865-C797CBD2E884}" presName="node" presStyleLbl="node1" presStyleIdx="9" presStyleCnt="10">
        <dgm:presLayoutVars>
          <dgm:bulletEnabled val="1"/>
        </dgm:presLayoutVars>
      </dgm:prSet>
      <dgm:spPr/>
    </dgm:pt>
  </dgm:ptLst>
  <dgm:cxnLst>
    <dgm:cxn modelId="{B1CBB70B-5F76-46C7-805D-329361886F4F}" type="presOf" srcId="{CEFFBA85-5D51-42AE-9128-2530930AC2DC}" destId="{DB6A7213-EF9D-4DCD-ABEB-B83F49B68894}" srcOrd="0" destOrd="0" presId="urn:microsoft.com/office/officeart/2005/8/layout/default"/>
    <dgm:cxn modelId="{A40F2F0C-33E7-4F78-A585-0125D5DC73DE}" type="presOf" srcId="{A8F10186-8C18-47FD-828C-D19690340203}" destId="{A7C8EA1C-00E3-40B8-AF64-B0D3A1FC31B2}" srcOrd="0" destOrd="0" presId="urn:microsoft.com/office/officeart/2005/8/layout/default"/>
    <dgm:cxn modelId="{F729F50E-2779-45BD-9B79-292DC3BB43B9}" type="presOf" srcId="{F5DC7699-E5DB-4A2A-8DB3-EE4AE5A24565}" destId="{82CC4B0E-1F30-4A9C-BD48-419F2EC544B1}" srcOrd="0" destOrd="0" presId="urn:microsoft.com/office/officeart/2005/8/layout/default"/>
    <dgm:cxn modelId="{E5280E19-B2C2-463E-8822-F16243547589}" srcId="{0FA24DD6-661C-4613-99EA-9F86B1572C9A}" destId="{6EE3F48F-F4AF-4AF5-8734-2211AF99E7C7}" srcOrd="2" destOrd="0" parTransId="{F2238664-9E9C-48A0-8F07-5C51FAD2F32C}" sibTransId="{C9C064FF-933C-493B-B3CE-65E7CF6BBDD1}"/>
    <dgm:cxn modelId="{55A6FB1F-9B74-4676-99E0-8C4C7DA70617}" type="presOf" srcId="{EF3E68A7-9CF1-40FB-9AF6-52C46DA47D24}" destId="{A80FFE9C-B6F9-4B6D-9BF6-7B4B3D1FF944}" srcOrd="0" destOrd="0" presId="urn:microsoft.com/office/officeart/2005/8/layout/default"/>
    <dgm:cxn modelId="{8FF91F2A-1A7A-4301-AA50-DBCE53F37722}" type="presOf" srcId="{31CEF4E7-EA25-4C2D-871A-9A0DFBAB9102}" destId="{83AC4B61-1403-467B-9806-0D234E0BDEAB}" srcOrd="0" destOrd="0" presId="urn:microsoft.com/office/officeart/2005/8/layout/default"/>
    <dgm:cxn modelId="{D4649E2C-1D4A-4349-8118-6F144BB613E2}" srcId="{0FA24DD6-661C-4613-99EA-9F86B1572C9A}" destId="{AFBFAC74-C15F-4AF3-B865-C797CBD2E884}" srcOrd="9" destOrd="0" parTransId="{DE839B8D-1435-4937-A91E-B30BBE4372B9}" sibTransId="{6DE6A0D2-0E12-4444-9B26-9882EFA9AF80}"/>
    <dgm:cxn modelId="{D68E402F-C196-4538-BCAD-91C49C461976}" srcId="{0FA24DD6-661C-4613-99EA-9F86B1572C9A}" destId="{EF3E68A7-9CF1-40FB-9AF6-52C46DA47D24}" srcOrd="5" destOrd="0" parTransId="{68262804-F5AD-47BD-97EB-BEED70DEF1A5}" sibTransId="{336306EE-9958-4C35-B399-134736142596}"/>
    <dgm:cxn modelId="{CC2BC432-6A39-45D3-A610-43293F1318C1}" srcId="{0FA24DD6-661C-4613-99EA-9F86B1572C9A}" destId="{31CEF4E7-EA25-4C2D-871A-9A0DFBAB9102}" srcOrd="0" destOrd="0" parTransId="{91E54E9F-02F9-4608-83CF-1A0FEE5B74D2}" sibTransId="{689CFECC-2E42-4491-9B38-388D35FDCD59}"/>
    <dgm:cxn modelId="{B3A41E42-F6DD-46D2-9BDC-44C2E6AA4A84}" type="presOf" srcId="{1564CDD5-8BB1-44E6-B629-BE62C5E96E12}" destId="{0D7E3D32-7044-4074-B227-B32A45230632}" srcOrd="0" destOrd="0" presId="urn:microsoft.com/office/officeart/2005/8/layout/default"/>
    <dgm:cxn modelId="{D353004B-A757-4206-8A72-D5B50856BBC4}" srcId="{0FA24DD6-661C-4613-99EA-9F86B1572C9A}" destId="{1564CDD5-8BB1-44E6-B629-BE62C5E96E12}" srcOrd="7" destOrd="0" parTransId="{81ADB3E4-8445-4D87-BEA8-3A7F366B8368}" sibTransId="{3CE31AF8-FE57-4D71-9348-85B9D1C80A9F}"/>
    <dgm:cxn modelId="{C52C2E4F-12E7-434B-B5E8-3013F517F24D}" srcId="{0FA24DD6-661C-4613-99EA-9F86B1572C9A}" destId="{A8F10186-8C18-47FD-828C-D19690340203}" srcOrd="3" destOrd="0" parTransId="{E919E943-C7B6-44A0-BE84-F0D18869832C}" sibTransId="{BA651ACB-CBA2-40A7-8BBF-79146A06F2EA}"/>
    <dgm:cxn modelId="{2DF2107F-B02B-45A2-AC3D-AAA627AD64A9}" type="presOf" srcId="{AFBFAC74-C15F-4AF3-B865-C797CBD2E884}" destId="{F31BD365-81A9-4D5A-862A-4F49FF8DADBE}" srcOrd="0" destOrd="0" presId="urn:microsoft.com/office/officeart/2005/8/layout/default"/>
    <dgm:cxn modelId="{91E20890-F635-42D1-A542-4BCD265FFBA7}" type="presOf" srcId="{BBB1FC92-FE29-418F-970C-D262CCEC7926}" destId="{EE773E25-AD8E-4175-BDCF-5E82EB1CA033}" srcOrd="0" destOrd="0" presId="urn:microsoft.com/office/officeart/2005/8/layout/default"/>
    <dgm:cxn modelId="{F773F792-4669-4060-98ED-2B2A653ECEEF}" type="presOf" srcId="{0FA24DD6-661C-4613-99EA-9F86B1572C9A}" destId="{207AE719-57DA-4BF9-8F7D-4F20BB56FA26}" srcOrd="0" destOrd="0" presId="urn:microsoft.com/office/officeart/2005/8/layout/default"/>
    <dgm:cxn modelId="{79875AB2-B5AE-43A2-ADD1-5309FF95E7BF}" srcId="{0FA24DD6-661C-4613-99EA-9F86B1572C9A}" destId="{FDB9CA1D-6D39-4896-8A61-9024B19A1419}" srcOrd="6" destOrd="0" parTransId="{6D9D408C-D404-473B-B2D0-2724AE3B236D}" sibTransId="{C1ABD6E8-8B74-4684-BCA6-847CB9625C67}"/>
    <dgm:cxn modelId="{6B5580B2-C119-43EC-A884-E0A89EBB3231}" srcId="{0FA24DD6-661C-4613-99EA-9F86B1572C9A}" destId="{BBB1FC92-FE29-418F-970C-D262CCEC7926}" srcOrd="1" destOrd="0" parTransId="{912D07C9-EEA5-4637-803B-1B0738CDB49B}" sibTransId="{873D6E15-91DD-4AEF-A05F-3704F55D27FF}"/>
    <dgm:cxn modelId="{CF799BC6-91E1-4336-A0D9-8F300DB3260E}" type="presOf" srcId="{FDB9CA1D-6D39-4896-8A61-9024B19A1419}" destId="{DB6E6FC9-967F-4CA7-8E29-F166A68F01D3}" srcOrd="0" destOrd="0" presId="urn:microsoft.com/office/officeart/2005/8/layout/default"/>
    <dgm:cxn modelId="{7AE4B4CB-12B3-4E6B-B417-845011922BA3}" srcId="{0FA24DD6-661C-4613-99EA-9F86B1572C9A}" destId="{F5DC7699-E5DB-4A2A-8DB3-EE4AE5A24565}" srcOrd="8" destOrd="0" parTransId="{94EF8E09-E881-4376-97B1-367E7306FB49}" sibTransId="{1F55EF89-A9B6-47FD-9FEB-9D8CB4F671E8}"/>
    <dgm:cxn modelId="{B94707E6-215C-463B-99A9-12343DE74327}" srcId="{0FA24DD6-661C-4613-99EA-9F86B1572C9A}" destId="{CEFFBA85-5D51-42AE-9128-2530930AC2DC}" srcOrd="4" destOrd="0" parTransId="{9528D505-1DF4-4ACB-8C47-86D6FFB8ECCE}" sibTransId="{1E5CE51F-7E02-424C-8736-30E161B385CF}"/>
    <dgm:cxn modelId="{CD5A8AF1-D133-4E83-A02D-6109B43D8027}" type="presOf" srcId="{6EE3F48F-F4AF-4AF5-8734-2211AF99E7C7}" destId="{7F656469-D8EE-4950-AAEE-BEA4ABE86D6D}" srcOrd="0" destOrd="0" presId="urn:microsoft.com/office/officeart/2005/8/layout/default"/>
    <dgm:cxn modelId="{A53D18E6-7A07-4F5B-AEAB-2970A866ACD9}" type="presParOf" srcId="{207AE719-57DA-4BF9-8F7D-4F20BB56FA26}" destId="{83AC4B61-1403-467B-9806-0D234E0BDEAB}" srcOrd="0" destOrd="0" presId="urn:microsoft.com/office/officeart/2005/8/layout/default"/>
    <dgm:cxn modelId="{96519A49-FB31-49F6-948B-FEE1DF950216}" type="presParOf" srcId="{207AE719-57DA-4BF9-8F7D-4F20BB56FA26}" destId="{3C286ECA-4A3F-4CF7-B8CE-FCDE094E11C5}" srcOrd="1" destOrd="0" presId="urn:microsoft.com/office/officeart/2005/8/layout/default"/>
    <dgm:cxn modelId="{FFA16A3A-9A4E-4D43-AEDE-7A1D7FF41821}" type="presParOf" srcId="{207AE719-57DA-4BF9-8F7D-4F20BB56FA26}" destId="{EE773E25-AD8E-4175-BDCF-5E82EB1CA033}" srcOrd="2" destOrd="0" presId="urn:microsoft.com/office/officeart/2005/8/layout/default"/>
    <dgm:cxn modelId="{CF10DC78-7249-44F3-B6C9-AFF085EF2B12}" type="presParOf" srcId="{207AE719-57DA-4BF9-8F7D-4F20BB56FA26}" destId="{060AC236-8F23-4E09-B83F-BCC0D9BFFDB8}" srcOrd="3" destOrd="0" presId="urn:microsoft.com/office/officeart/2005/8/layout/default"/>
    <dgm:cxn modelId="{FD802CA5-9E2F-49E3-B580-33B68C255896}" type="presParOf" srcId="{207AE719-57DA-4BF9-8F7D-4F20BB56FA26}" destId="{7F656469-D8EE-4950-AAEE-BEA4ABE86D6D}" srcOrd="4" destOrd="0" presId="urn:microsoft.com/office/officeart/2005/8/layout/default"/>
    <dgm:cxn modelId="{3BD084B7-34A9-4B3D-AC57-790BBEE0B7C3}" type="presParOf" srcId="{207AE719-57DA-4BF9-8F7D-4F20BB56FA26}" destId="{772D4C3D-2DEA-49D4-A610-14E19B0F2E36}" srcOrd="5" destOrd="0" presId="urn:microsoft.com/office/officeart/2005/8/layout/default"/>
    <dgm:cxn modelId="{608CAF59-170B-44FB-96D9-E350F85FA9F4}" type="presParOf" srcId="{207AE719-57DA-4BF9-8F7D-4F20BB56FA26}" destId="{A7C8EA1C-00E3-40B8-AF64-B0D3A1FC31B2}" srcOrd="6" destOrd="0" presId="urn:microsoft.com/office/officeart/2005/8/layout/default"/>
    <dgm:cxn modelId="{ADCDC11D-1DBA-4125-AD78-CD8DE6BC0E49}" type="presParOf" srcId="{207AE719-57DA-4BF9-8F7D-4F20BB56FA26}" destId="{FCB0C3EF-04BB-4A33-B6D7-727AB98915AE}" srcOrd="7" destOrd="0" presId="urn:microsoft.com/office/officeart/2005/8/layout/default"/>
    <dgm:cxn modelId="{FEACC1DC-780B-4DC9-866C-932FB3EC4572}" type="presParOf" srcId="{207AE719-57DA-4BF9-8F7D-4F20BB56FA26}" destId="{DB6A7213-EF9D-4DCD-ABEB-B83F49B68894}" srcOrd="8" destOrd="0" presId="urn:microsoft.com/office/officeart/2005/8/layout/default"/>
    <dgm:cxn modelId="{837BE67D-5D55-4097-8EB6-B3C9C163EF01}" type="presParOf" srcId="{207AE719-57DA-4BF9-8F7D-4F20BB56FA26}" destId="{7A4192F2-DBAD-42E1-A60F-E28CEF770F15}" srcOrd="9" destOrd="0" presId="urn:microsoft.com/office/officeart/2005/8/layout/default"/>
    <dgm:cxn modelId="{13760066-E5A5-435F-AA9B-220C68352432}" type="presParOf" srcId="{207AE719-57DA-4BF9-8F7D-4F20BB56FA26}" destId="{A80FFE9C-B6F9-4B6D-9BF6-7B4B3D1FF944}" srcOrd="10" destOrd="0" presId="urn:microsoft.com/office/officeart/2005/8/layout/default"/>
    <dgm:cxn modelId="{EA7B4F87-1AA2-485E-88C9-1802DB57C986}" type="presParOf" srcId="{207AE719-57DA-4BF9-8F7D-4F20BB56FA26}" destId="{6F799F65-2EA5-47EE-8A8F-9424D0189020}" srcOrd="11" destOrd="0" presId="urn:microsoft.com/office/officeart/2005/8/layout/default"/>
    <dgm:cxn modelId="{71C89883-8723-45D2-B3C5-87B87CF39D67}" type="presParOf" srcId="{207AE719-57DA-4BF9-8F7D-4F20BB56FA26}" destId="{DB6E6FC9-967F-4CA7-8E29-F166A68F01D3}" srcOrd="12" destOrd="0" presId="urn:microsoft.com/office/officeart/2005/8/layout/default"/>
    <dgm:cxn modelId="{93991D5D-3824-4C88-A4A5-04658535C83B}" type="presParOf" srcId="{207AE719-57DA-4BF9-8F7D-4F20BB56FA26}" destId="{8239566F-F4EF-40A0-B3AE-21F473FFFFA8}" srcOrd="13" destOrd="0" presId="urn:microsoft.com/office/officeart/2005/8/layout/default"/>
    <dgm:cxn modelId="{5F918133-C257-4E88-A953-7B0A4DB9F259}" type="presParOf" srcId="{207AE719-57DA-4BF9-8F7D-4F20BB56FA26}" destId="{0D7E3D32-7044-4074-B227-B32A45230632}" srcOrd="14" destOrd="0" presId="urn:microsoft.com/office/officeart/2005/8/layout/default"/>
    <dgm:cxn modelId="{BC117F5D-C80C-431C-B99E-10E149193F7A}" type="presParOf" srcId="{207AE719-57DA-4BF9-8F7D-4F20BB56FA26}" destId="{6C4B7B68-55C6-41CE-B3C4-F7E0AC6FEB3D}" srcOrd="15" destOrd="0" presId="urn:microsoft.com/office/officeart/2005/8/layout/default"/>
    <dgm:cxn modelId="{EDB74D45-A702-4CC3-B285-45C493E86F05}" type="presParOf" srcId="{207AE719-57DA-4BF9-8F7D-4F20BB56FA26}" destId="{82CC4B0E-1F30-4A9C-BD48-419F2EC544B1}" srcOrd="16" destOrd="0" presId="urn:microsoft.com/office/officeart/2005/8/layout/default"/>
    <dgm:cxn modelId="{246B3743-003F-40E8-B2CB-BAF43C43A8A5}" type="presParOf" srcId="{207AE719-57DA-4BF9-8F7D-4F20BB56FA26}" destId="{B219E462-C6BF-47C1-9072-D8758F5DDB6F}" srcOrd="17" destOrd="0" presId="urn:microsoft.com/office/officeart/2005/8/layout/default"/>
    <dgm:cxn modelId="{7CC9C9DE-E9C5-427C-ABF1-45421EF8DAF9}" type="presParOf" srcId="{207AE719-57DA-4BF9-8F7D-4F20BB56FA26}" destId="{F31BD365-81A9-4D5A-862A-4F49FF8DADBE}" srcOrd="1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FC49AE3-EDF7-406A-B9C2-E394DC65569B}" type="doc">
      <dgm:prSet loTypeId="urn:microsoft.com/office/officeart/2005/8/layout/process4" loCatId="process" qsTypeId="urn:microsoft.com/office/officeart/2005/8/quickstyle/simple1" qsCatId="simple" csTypeId="urn:microsoft.com/office/officeart/2005/8/colors/accent1_2" csCatId="accent1"/>
      <dgm:spPr/>
      <dgm:t>
        <a:bodyPr/>
        <a:lstStyle/>
        <a:p>
          <a:endParaRPr lang="en-US"/>
        </a:p>
      </dgm:t>
    </dgm:pt>
    <dgm:pt modelId="{218E3028-B149-4FBE-8AC8-E1DEE10F25A8}">
      <dgm:prSet/>
      <dgm:spPr/>
      <dgm:t>
        <a:bodyPr/>
        <a:lstStyle/>
        <a:p>
          <a:r>
            <a:rPr lang="en-ID"/>
            <a:t>Definisi: Mengukur biaya yang dikeluarkan dalam setiap tahap rantai pasok dan bagaimana biaya tersebut dikelola untuk mencapai hasil yang optimal.</a:t>
          </a:r>
          <a:endParaRPr lang="en-US"/>
        </a:p>
      </dgm:t>
    </dgm:pt>
    <dgm:pt modelId="{BF0CD9BB-38BE-4F87-AC63-67A070DDE030}" type="parTrans" cxnId="{55E2E63B-7082-4800-B877-8A2CCF75B21C}">
      <dgm:prSet/>
      <dgm:spPr/>
      <dgm:t>
        <a:bodyPr/>
        <a:lstStyle/>
        <a:p>
          <a:endParaRPr lang="en-US"/>
        </a:p>
      </dgm:t>
    </dgm:pt>
    <dgm:pt modelId="{C69A3E6D-4140-45D8-88ED-C943F172AFCD}" type="sibTrans" cxnId="{55E2E63B-7082-4800-B877-8A2CCF75B21C}">
      <dgm:prSet/>
      <dgm:spPr/>
      <dgm:t>
        <a:bodyPr/>
        <a:lstStyle/>
        <a:p>
          <a:endParaRPr lang="en-US"/>
        </a:p>
      </dgm:t>
    </dgm:pt>
    <dgm:pt modelId="{AD04E824-5142-4BC0-A1F1-0303CD061CC3}">
      <dgm:prSet/>
      <dgm:spPr/>
      <dgm:t>
        <a:bodyPr/>
        <a:lstStyle/>
        <a:p>
          <a:r>
            <a:rPr lang="en-ID"/>
            <a:t>Contoh KPI:</a:t>
          </a:r>
          <a:endParaRPr lang="en-US"/>
        </a:p>
      </dgm:t>
    </dgm:pt>
    <dgm:pt modelId="{E5BBF15D-8683-4C0A-AA5F-F670748214FC}" type="parTrans" cxnId="{7AE254D6-937B-419B-AF2D-34312B020D50}">
      <dgm:prSet/>
      <dgm:spPr/>
      <dgm:t>
        <a:bodyPr/>
        <a:lstStyle/>
        <a:p>
          <a:endParaRPr lang="en-US"/>
        </a:p>
      </dgm:t>
    </dgm:pt>
    <dgm:pt modelId="{910350A5-C538-42C7-9ED0-7374DB4128EA}" type="sibTrans" cxnId="{7AE254D6-937B-419B-AF2D-34312B020D50}">
      <dgm:prSet/>
      <dgm:spPr/>
      <dgm:t>
        <a:bodyPr/>
        <a:lstStyle/>
        <a:p>
          <a:endParaRPr lang="en-US"/>
        </a:p>
      </dgm:t>
    </dgm:pt>
    <dgm:pt modelId="{A6126B1D-2EDE-4696-8122-74E9676A87B3}">
      <dgm:prSet/>
      <dgm:spPr/>
      <dgm:t>
        <a:bodyPr/>
        <a:lstStyle/>
        <a:p>
          <a:r>
            <a:rPr lang="en-ID"/>
            <a:t>Cost of Goods Sold (COGS): Mengukur biaya langsung untuk menghasilkan barang yang dijual.</a:t>
          </a:r>
          <a:endParaRPr lang="en-US"/>
        </a:p>
      </dgm:t>
    </dgm:pt>
    <dgm:pt modelId="{AD2A572E-6FA0-458A-B549-DF3E19C18E4A}" type="parTrans" cxnId="{E59448BE-ADD7-4744-BBF3-59F5B6D476A0}">
      <dgm:prSet/>
      <dgm:spPr/>
      <dgm:t>
        <a:bodyPr/>
        <a:lstStyle/>
        <a:p>
          <a:endParaRPr lang="en-US"/>
        </a:p>
      </dgm:t>
    </dgm:pt>
    <dgm:pt modelId="{83175A04-37C7-4904-955F-C755AE2019F6}" type="sibTrans" cxnId="{E59448BE-ADD7-4744-BBF3-59F5B6D476A0}">
      <dgm:prSet/>
      <dgm:spPr/>
      <dgm:t>
        <a:bodyPr/>
        <a:lstStyle/>
        <a:p>
          <a:endParaRPr lang="en-US"/>
        </a:p>
      </dgm:t>
    </dgm:pt>
    <dgm:pt modelId="{9AA24D3B-2BFA-406E-9289-5C099C62D140}">
      <dgm:prSet/>
      <dgm:spPr/>
      <dgm:t>
        <a:bodyPr/>
        <a:lstStyle/>
        <a:p>
          <a:r>
            <a:rPr lang="en-ID"/>
            <a:t>Total Supply Chain Cost: Biaya keseluruhan untuk merancang, memproduksi, dan mengirimkan produk kepada pelanggan.</a:t>
          </a:r>
          <a:endParaRPr lang="en-US"/>
        </a:p>
      </dgm:t>
    </dgm:pt>
    <dgm:pt modelId="{B4F71436-9DBD-46A4-9BB0-2C0202C94C88}" type="parTrans" cxnId="{0F666417-5D55-4AEE-946D-F069A715A4F2}">
      <dgm:prSet/>
      <dgm:spPr/>
      <dgm:t>
        <a:bodyPr/>
        <a:lstStyle/>
        <a:p>
          <a:endParaRPr lang="en-US"/>
        </a:p>
      </dgm:t>
    </dgm:pt>
    <dgm:pt modelId="{2396295D-0DEE-438D-8303-DE05DB608585}" type="sibTrans" cxnId="{0F666417-5D55-4AEE-946D-F069A715A4F2}">
      <dgm:prSet/>
      <dgm:spPr/>
      <dgm:t>
        <a:bodyPr/>
        <a:lstStyle/>
        <a:p>
          <a:endParaRPr lang="en-US"/>
        </a:p>
      </dgm:t>
    </dgm:pt>
    <dgm:pt modelId="{488267B1-54E8-41AB-B328-18B7B2EA5011}">
      <dgm:prSet/>
      <dgm:spPr/>
      <dgm:t>
        <a:bodyPr/>
        <a:lstStyle/>
        <a:p>
          <a:r>
            <a:rPr lang="en-ID"/>
            <a:t>Cost per Order: Biaya rata-rata yang dikeluarkan untuk memproses setiap pesanan.</a:t>
          </a:r>
          <a:endParaRPr lang="en-US"/>
        </a:p>
      </dgm:t>
    </dgm:pt>
    <dgm:pt modelId="{AA3E4876-7822-472F-B14F-767F34A485DB}" type="parTrans" cxnId="{6EF39549-FC9C-49A1-8304-0931D4844065}">
      <dgm:prSet/>
      <dgm:spPr/>
      <dgm:t>
        <a:bodyPr/>
        <a:lstStyle/>
        <a:p>
          <a:endParaRPr lang="en-US"/>
        </a:p>
      </dgm:t>
    </dgm:pt>
    <dgm:pt modelId="{27CDB7E7-9ADE-4E3A-AF9B-54AB014AC2A7}" type="sibTrans" cxnId="{6EF39549-FC9C-49A1-8304-0931D4844065}">
      <dgm:prSet/>
      <dgm:spPr/>
      <dgm:t>
        <a:bodyPr/>
        <a:lstStyle/>
        <a:p>
          <a:endParaRPr lang="en-US"/>
        </a:p>
      </dgm:t>
    </dgm:pt>
    <dgm:pt modelId="{44823CDB-F8FD-40C5-BA55-8182A0178AE4}" type="pres">
      <dgm:prSet presAssocID="{6FC49AE3-EDF7-406A-B9C2-E394DC65569B}" presName="Name0" presStyleCnt="0">
        <dgm:presLayoutVars>
          <dgm:dir/>
          <dgm:animLvl val="lvl"/>
          <dgm:resizeHandles val="exact"/>
        </dgm:presLayoutVars>
      </dgm:prSet>
      <dgm:spPr/>
    </dgm:pt>
    <dgm:pt modelId="{9EF759A6-830C-46FC-9685-D76C5C3184F4}" type="pres">
      <dgm:prSet presAssocID="{AD04E824-5142-4BC0-A1F1-0303CD061CC3}" presName="boxAndChildren" presStyleCnt="0"/>
      <dgm:spPr/>
    </dgm:pt>
    <dgm:pt modelId="{8BA9213A-6128-491D-A324-0F0E391195AB}" type="pres">
      <dgm:prSet presAssocID="{AD04E824-5142-4BC0-A1F1-0303CD061CC3}" presName="parentTextBox" presStyleLbl="node1" presStyleIdx="0" presStyleCnt="2"/>
      <dgm:spPr/>
    </dgm:pt>
    <dgm:pt modelId="{63BBFB56-40D1-42FD-8010-F116AA717870}" type="pres">
      <dgm:prSet presAssocID="{AD04E824-5142-4BC0-A1F1-0303CD061CC3}" presName="entireBox" presStyleLbl="node1" presStyleIdx="0" presStyleCnt="2"/>
      <dgm:spPr/>
    </dgm:pt>
    <dgm:pt modelId="{DA280AF5-E598-4819-B83F-8455027B2A60}" type="pres">
      <dgm:prSet presAssocID="{AD04E824-5142-4BC0-A1F1-0303CD061CC3}" presName="descendantBox" presStyleCnt="0"/>
      <dgm:spPr/>
    </dgm:pt>
    <dgm:pt modelId="{F43350FB-93FB-4C8C-9D26-534C26138596}" type="pres">
      <dgm:prSet presAssocID="{A6126B1D-2EDE-4696-8122-74E9676A87B3}" presName="childTextBox" presStyleLbl="fgAccFollowNode1" presStyleIdx="0" presStyleCnt="3">
        <dgm:presLayoutVars>
          <dgm:bulletEnabled val="1"/>
        </dgm:presLayoutVars>
      </dgm:prSet>
      <dgm:spPr/>
    </dgm:pt>
    <dgm:pt modelId="{6E907CC0-D1B7-4249-9BA4-FD916B68BA8B}" type="pres">
      <dgm:prSet presAssocID="{9AA24D3B-2BFA-406E-9289-5C099C62D140}" presName="childTextBox" presStyleLbl="fgAccFollowNode1" presStyleIdx="1" presStyleCnt="3">
        <dgm:presLayoutVars>
          <dgm:bulletEnabled val="1"/>
        </dgm:presLayoutVars>
      </dgm:prSet>
      <dgm:spPr/>
    </dgm:pt>
    <dgm:pt modelId="{DF93DE95-CBEF-49DD-BD34-81E5B184C589}" type="pres">
      <dgm:prSet presAssocID="{488267B1-54E8-41AB-B328-18B7B2EA5011}" presName="childTextBox" presStyleLbl="fgAccFollowNode1" presStyleIdx="2" presStyleCnt="3">
        <dgm:presLayoutVars>
          <dgm:bulletEnabled val="1"/>
        </dgm:presLayoutVars>
      </dgm:prSet>
      <dgm:spPr/>
    </dgm:pt>
    <dgm:pt modelId="{9F01D737-4803-4FC0-A4C6-BCDA03E602B1}" type="pres">
      <dgm:prSet presAssocID="{C69A3E6D-4140-45D8-88ED-C943F172AFCD}" presName="sp" presStyleCnt="0"/>
      <dgm:spPr/>
    </dgm:pt>
    <dgm:pt modelId="{B7671FC6-5658-4D63-BC0E-4BE234A4B95C}" type="pres">
      <dgm:prSet presAssocID="{218E3028-B149-4FBE-8AC8-E1DEE10F25A8}" presName="arrowAndChildren" presStyleCnt="0"/>
      <dgm:spPr/>
    </dgm:pt>
    <dgm:pt modelId="{D7A06E51-D227-4770-9B10-7342EF66F486}" type="pres">
      <dgm:prSet presAssocID="{218E3028-B149-4FBE-8AC8-E1DEE10F25A8}" presName="parentTextArrow" presStyleLbl="node1" presStyleIdx="1" presStyleCnt="2"/>
      <dgm:spPr/>
    </dgm:pt>
  </dgm:ptLst>
  <dgm:cxnLst>
    <dgm:cxn modelId="{7E6DE00E-4F92-4D1C-9149-3DCE862C8CBB}" type="presOf" srcId="{AD04E824-5142-4BC0-A1F1-0303CD061CC3}" destId="{63BBFB56-40D1-42FD-8010-F116AA717870}" srcOrd="1" destOrd="0" presId="urn:microsoft.com/office/officeart/2005/8/layout/process4"/>
    <dgm:cxn modelId="{0F666417-5D55-4AEE-946D-F069A715A4F2}" srcId="{AD04E824-5142-4BC0-A1F1-0303CD061CC3}" destId="{9AA24D3B-2BFA-406E-9289-5C099C62D140}" srcOrd="1" destOrd="0" parTransId="{B4F71436-9DBD-46A4-9BB0-2C0202C94C88}" sibTransId="{2396295D-0DEE-438D-8303-DE05DB608585}"/>
    <dgm:cxn modelId="{55E2E63B-7082-4800-B877-8A2CCF75B21C}" srcId="{6FC49AE3-EDF7-406A-B9C2-E394DC65569B}" destId="{218E3028-B149-4FBE-8AC8-E1DEE10F25A8}" srcOrd="0" destOrd="0" parTransId="{BF0CD9BB-38BE-4F87-AC63-67A070DDE030}" sibTransId="{C69A3E6D-4140-45D8-88ED-C943F172AFCD}"/>
    <dgm:cxn modelId="{5ECEAF61-F35C-4078-8C4E-552B10D47380}" type="presOf" srcId="{218E3028-B149-4FBE-8AC8-E1DEE10F25A8}" destId="{D7A06E51-D227-4770-9B10-7342EF66F486}" srcOrd="0" destOrd="0" presId="urn:microsoft.com/office/officeart/2005/8/layout/process4"/>
    <dgm:cxn modelId="{6EF39549-FC9C-49A1-8304-0931D4844065}" srcId="{AD04E824-5142-4BC0-A1F1-0303CD061CC3}" destId="{488267B1-54E8-41AB-B328-18B7B2EA5011}" srcOrd="2" destOrd="0" parTransId="{AA3E4876-7822-472F-B14F-767F34A485DB}" sibTransId="{27CDB7E7-9ADE-4E3A-AF9B-54AB014AC2A7}"/>
    <dgm:cxn modelId="{C9BB7270-096C-4CB8-A64D-9DB54A0C6BA5}" type="presOf" srcId="{488267B1-54E8-41AB-B328-18B7B2EA5011}" destId="{DF93DE95-CBEF-49DD-BD34-81E5B184C589}" srcOrd="0" destOrd="0" presId="urn:microsoft.com/office/officeart/2005/8/layout/process4"/>
    <dgm:cxn modelId="{8CAFDF99-D6F4-4656-90AE-88126A97FE96}" type="presOf" srcId="{9AA24D3B-2BFA-406E-9289-5C099C62D140}" destId="{6E907CC0-D1B7-4249-9BA4-FD916B68BA8B}" srcOrd="0" destOrd="0" presId="urn:microsoft.com/office/officeart/2005/8/layout/process4"/>
    <dgm:cxn modelId="{24E703A2-FF30-4FDB-A274-8EA76BBC11B5}" type="presOf" srcId="{6FC49AE3-EDF7-406A-B9C2-E394DC65569B}" destId="{44823CDB-F8FD-40C5-BA55-8182A0178AE4}" srcOrd="0" destOrd="0" presId="urn:microsoft.com/office/officeart/2005/8/layout/process4"/>
    <dgm:cxn modelId="{E59448BE-ADD7-4744-BBF3-59F5B6D476A0}" srcId="{AD04E824-5142-4BC0-A1F1-0303CD061CC3}" destId="{A6126B1D-2EDE-4696-8122-74E9676A87B3}" srcOrd="0" destOrd="0" parTransId="{AD2A572E-6FA0-458A-B549-DF3E19C18E4A}" sibTransId="{83175A04-37C7-4904-955F-C755AE2019F6}"/>
    <dgm:cxn modelId="{7AE254D6-937B-419B-AF2D-34312B020D50}" srcId="{6FC49AE3-EDF7-406A-B9C2-E394DC65569B}" destId="{AD04E824-5142-4BC0-A1F1-0303CD061CC3}" srcOrd="1" destOrd="0" parTransId="{E5BBF15D-8683-4C0A-AA5F-F670748214FC}" sibTransId="{910350A5-C538-42C7-9ED0-7374DB4128EA}"/>
    <dgm:cxn modelId="{C60363DA-AABC-4132-8CBF-19F0EDEC7E1D}" type="presOf" srcId="{A6126B1D-2EDE-4696-8122-74E9676A87B3}" destId="{F43350FB-93FB-4C8C-9D26-534C26138596}" srcOrd="0" destOrd="0" presId="urn:microsoft.com/office/officeart/2005/8/layout/process4"/>
    <dgm:cxn modelId="{7EDE7ADE-46D8-418D-9C91-B14D2A14B505}" type="presOf" srcId="{AD04E824-5142-4BC0-A1F1-0303CD061CC3}" destId="{8BA9213A-6128-491D-A324-0F0E391195AB}" srcOrd="0" destOrd="0" presId="urn:microsoft.com/office/officeart/2005/8/layout/process4"/>
    <dgm:cxn modelId="{EA729F7D-AC09-41B2-BD31-A37B36A56F04}" type="presParOf" srcId="{44823CDB-F8FD-40C5-BA55-8182A0178AE4}" destId="{9EF759A6-830C-46FC-9685-D76C5C3184F4}" srcOrd="0" destOrd="0" presId="urn:microsoft.com/office/officeart/2005/8/layout/process4"/>
    <dgm:cxn modelId="{C46A22D1-0AE7-4EEA-A549-FD94A4E9754C}" type="presParOf" srcId="{9EF759A6-830C-46FC-9685-D76C5C3184F4}" destId="{8BA9213A-6128-491D-A324-0F0E391195AB}" srcOrd="0" destOrd="0" presId="urn:microsoft.com/office/officeart/2005/8/layout/process4"/>
    <dgm:cxn modelId="{A6FFA7E4-D0FF-435B-A0B6-4F6A3D29B3C7}" type="presParOf" srcId="{9EF759A6-830C-46FC-9685-D76C5C3184F4}" destId="{63BBFB56-40D1-42FD-8010-F116AA717870}" srcOrd="1" destOrd="0" presId="urn:microsoft.com/office/officeart/2005/8/layout/process4"/>
    <dgm:cxn modelId="{FB0A3888-C117-4E3C-B387-5C248FBDCBEA}" type="presParOf" srcId="{9EF759A6-830C-46FC-9685-D76C5C3184F4}" destId="{DA280AF5-E598-4819-B83F-8455027B2A60}" srcOrd="2" destOrd="0" presId="urn:microsoft.com/office/officeart/2005/8/layout/process4"/>
    <dgm:cxn modelId="{6AEC02DD-7931-49B9-95C4-5D715AE287CD}" type="presParOf" srcId="{DA280AF5-E598-4819-B83F-8455027B2A60}" destId="{F43350FB-93FB-4C8C-9D26-534C26138596}" srcOrd="0" destOrd="0" presId="urn:microsoft.com/office/officeart/2005/8/layout/process4"/>
    <dgm:cxn modelId="{BEDE69CA-FCC3-4A6A-B032-C2D34712E35D}" type="presParOf" srcId="{DA280AF5-E598-4819-B83F-8455027B2A60}" destId="{6E907CC0-D1B7-4249-9BA4-FD916B68BA8B}" srcOrd="1" destOrd="0" presId="urn:microsoft.com/office/officeart/2005/8/layout/process4"/>
    <dgm:cxn modelId="{9BB1B4DC-65A2-4F0C-AD12-503C6CDF33A0}" type="presParOf" srcId="{DA280AF5-E598-4819-B83F-8455027B2A60}" destId="{DF93DE95-CBEF-49DD-BD34-81E5B184C589}" srcOrd="2" destOrd="0" presId="urn:microsoft.com/office/officeart/2005/8/layout/process4"/>
    <dgm:cxn modelId="{848633B4-0090-4423-A149-E70598781B5E}" type="presParOf" srcId="{44823CDB-F8FD-40C5-BA55-8182A0178AE4}" destId="{9F01D737-4803-4FC0-A4C6-BCDA03E602B1}" srcOrd="1" destOrd="0" presId="urn:microsoft.com/office/officeart/2005/8/layout/process4"/>
    <dgm:cxn modelId="{BE136419-54D6-47A2-A10E-5BC4A2A6AB60}" type="presParOf" srcId="{44823CDB-F8FD-40C5-BA55-8182A0178AE4}" destId="{B7671FC6-5658-4D63-BC0E-4BE234A4B95C}" srcOrd="2" destOrd="0" presId="urn:microsoft.com/office/officeart/2005/8/layout/process4"/>
    <dgm:cxn modelId="{89D7170F-3A30-4F01-8914-FBD40D02A31C}" type="presParOf" srcId="{B7671FC6-5658-4D63-BC0E-4BE234A4B95C}" destId="{D7A06E51-D227-4770-9B10-7342EF66F486}"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E9C1E08-3F76-4A89-B567-33EDCEE3ADEA}"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AB189F16-88DA-42E2-AFF0-A2DEB90CE05D}">
      <dgm:prSet/>
      <dgm:spPr/>
      <dgm:t>
        <a:bodyPr/>
        <a:lstStyle/>
        <a:p>
          <a:r>
            <a:rPr lang="en-ID"/>
            <a:t>Definisi: Mengukur seberapa baik produk atau layanan memenuhi harapan pelanggan.</a:t>
          </a:r>
          <a:endParaRPr lang="en-US"/>
        </a:p>
      </dgm:t>
    </dgm:pt>
    <dgm:pt modelId="{FB17D1DB-B3EE-4D22-A996-319EFDCD1F32}" type="parTrans" cxnId="{63A699D5-B028-49F5-AF02-D2DA3D9CF82D}">
      <dgm:prSet/>
      <dgm:spPr/>
      <dgm:t>
        <a:bodyPr/>
        <a:lstStyle/>
        <a:p>
          <a:endParaRPr lang="en-US"/>
        </a:p>
      </dgm:t>
    </dgm:pt>
    <dgm:pt modelId="{6C1099BB-32BA-40FC-9BBC-B052B676B4FA}" type="sibTrans" cxnId="{63A699D5-B028-49F5-AF02-D2DA3D9CF82D}">
      <dgm:prSet/>
      <dgm:spPr/>
      <dgm:t>
        <a:bodyPr/>
        <a:lstStyle/>
        <a:p>
          <a:endParaRPr lang="en-US"/>
        </a:p>
      </dgm:t>
    </dgm:pt>
    <dgm:pt modelId="{8FA9BA34-4EDB-44A3-A674-128F5F73F65C}">
      <dgm:prSet/>
      <dgm:spPr/>
      <dgm:t>
        <a:bodyPr/>
        <a:lstStyle/>
        <a:p>
          <a:r>
            <a:rPr lang="en-ID"/>
            <a:t>Contoh KPI:</a:t>
          </a:r>
          <a:endParaRPr lang="en-US"/>
        </a:p>
      </dgm:t>
    </dgm:pt>
    <dgm:pt modelId="{B128D121-3F46-4BE9-ABB1-70C42EF8EB3F}" type="parTrans" cxnId="{E44CC53E-D2C8-4E29-B41A-856490D8684C}">
      <dgm:prSet/>
      <dgm:spPr/>
      <dgm:t>
        <a:bodyPr/>
        <a:lstStyle/>
        <a:p>
          <a:endParaRPr lang="en-US"/>
        </a:p>
      </dgm:t>
    </dgm:pt>
    <dgm:pt modelId="{930C8EC8-B261-4061-8E4A-4F8C00C65DB9}" type="sibTrans" cxnId="{E44CC53E-D2C8-4E29-B41A-856490D8684C}">
      <dgm:prSet/>
      <dgm:spPr/>
      <dgm:t>
        <a:bodyPr/>
        <a:lstStyle/>
        <a:p>
          <a:endParaRPr lang="en-US"/>
        </a:p>
      </dgm:t>
    </dgm:pt>
    <dgm:pt modelId="{C094EE16-378A-44C0-8EC5-A4D444342734}">
      <dgm:prSet/>
      <dgm:spPr/>
      <dgm:t>
        <a:bodyPr/>
        <a:lstStyle/>
        <a:p>
          <a:r>
            <a:rPr lang="en-ID"/>
            <a:t>On-Time Delivery (OTD): Persentase pesanan yang dikirimkan tepat waktu sesuai dengan janji pengiriman.</a:t>
          </a:r>
          <a:endParaRPr lang="en-US"/>
        </a:p>
      </dgm:t>
    </dgm:pt>
    <dgm:pt modelId="{A6B86075-8D24-458B-8442-8F2B740C2732}" type="parTrans" cxnId="{3581397C-2A0B-4729-8911-D0513285A181}">
      <dgm:prSet/>
      <dgm:spPr/>
      <dgm:t>
        <a:bodyPr/>
        <a:lstStyle/>
        <a:p>
          <a:endParaRPr lang="en-US"/>
        </a:p>
      </dgm:t>
    </dgm:pt>
    <dgm:pt modelId="{CF788CC1-90E1-458F-8B1C-2F3BAB1400E4}" type="sibTrans" cxnId="{3581397C-2A0B-4729-8911-D0513285A181}">
      <dgm:prSet/>
      <dgm:spPr/>
      <dgm:t>
        <a:bodyPr/>
        <a:lstStyle/>
        <a:p>
          <a:endParaRPr lang="en-US"/>
        </a:p>
      </dgm:t>
    </dgm:pt>
    <dgm:pt modelId="{E25FBE6D-3469-450C-9618-B9AF8CFA79C6}">
      <dgm:prSet/>
      <dgm:spPr/>
      <dgm:t>
        <a:bodyPr/>
        <a:lstStyle/>
        <a:p>
          <a:r>
            <a:rPr lang="en-ID"/>
            <a:t>Order Accuracy: Persentase pesanan yang dikirimkan dengan jumlah dan spesifikasi yang benar.</a:t>
          </a:r>
          <a:endParaRPr lang="en-US"/>
        </a:p>
      </dgm:t>
    </dgm:pt>
    <dgm:pt modelId="{B1733F39-F602-4E70-80CE-F2FD5824B9C6}" type="parTrans" cxnId="{D0325BCA-97F0-481E-A7F6-511F851A25D4}">
      <dgm:prSet/>
      <dgm:spPr/>
      <dgm:t>
        <a:bodyPr/>
        <a:lstStyle/>
        <a:p>
          <a:endParaRPr lang="en-US"/>
        </a:p>
      </dgm:t>
    </dgm:pt>
    <dgm:pt modelId="{B92F6797-7182-4F2F-B7D7-B943B3D54301}" type="sibTrans" cxnId="{D0325BCA-97F0-481E-A7F6-511F851A25D4}">
      <dgm:prSet/>
      <dgm:spPr/>
      <dgm:t>
        <a:bodyPr/>
        <a:lstStyle/>
        <a:p>
          <a:endParaRPr lang="en-US"/>
        </a:p>
      </dgm:t>
    </dgm:pt>
    <dgm:pt modelId="{D9EABD2E-5AF0-479E-9239-2590AB6D5427}">
      <dgm:prSet/>
      <dgm:spPr/>
      <dgm:t>
        <a:bodyPr/>
        <a:lstStyle/>
        <a:p>
          <a:r>
            <a:rPr lang="en-ID"/>
            <a:t>Customer Feedback and Complaints: Jumlah keluhan pelanggan atau skor umpan balik yang diperoleh</a:t>
          </a:r>
          <a:endParaRPr lang="en-US"/>
        </a:p>
      </dgm:t>
    </dgm:pt>
    <dgm:pt modelId="{6A4B1193-4FFB-41FB-A95F-643CBC0F7560}" type="parTrans" cxnId="{CC583CEC-3D96-4390-B19F-A5E3B3A827B1}">
      <dgm:prSet/>
      <dgm:spPr/>
      <dgm:t>
        <a:bodyPr/>
        <a:lstStyle/>
        <a:p>
          <a:endParaRPr lang="en-US"/>
        </a:p>
      </dgm:t>
    </dgm:pt>
    <dgm:pt modelId="{AF2392B8-BC40-4F61-A0FD-D2F2FCB398B7}" type="sibTrans" cxnId="{CC583CEC-3D96-4390-B19F-A5E3B3A827B1}">
      <dgm:prSet/>
      <dgm:spPr/>
      <dgm:t>
        <a:bodyPr/>
        <a:lstStyle/>
        <a:p>
          <a:endParaRPr lang="en-US"/>
        </a:p>
      </dgm:t>
    </dgm:pt>
    <dgm:pt modelId="{4E74AB4F-06EE-459C-A87E-F66F991F4762}" type="pres">
      <dgm:prSet presAssocID="{4E9C1E08-3F76-4A89-B567-33EDCEE3ADEA}" presName="linear" presStyleCnt="0">
        <dgm:presLayoutVars>
          <dgm:animLvl val="lvl"/>
          <dgm:resizeHandles val="exact"/>
        </dgm:presLayoutVars>
      </dgm:prSet>
      <dgm:spPr/>
    </dgm:pt>
    <dgm:pt modelId="{CC9494F2-5E5B-46DF-8F8D-0A3DBFF83251}" type="pres">
      <dgm:prSet presAssocID="{AB189F16-88DA-42E2-AFF0-A2DEB90CE05D}" presName="parentText" presStyleLbl="node1" presStyleIdx="0" presStyleCnt="2">
        <dgm:presLayoutVars>
          <dgm:chMax val="0"/>
          <dgm:bulletEnabled val="1"/>
        </dgm:presLayoutVars>
      </dgm:prSet>
      <dgm:spPr/>
    </dgm:pt>
    <dgm:pt modelId="{C30C0E3E-9BFA-40E2-AE02-E0BE2AF23F3D}" type="pres">
      <dgm:prSet presAssocID="{6C1099BB-32BA-40FC-9BBC-B052B676B4FA}" presName="spacer" presStyleCnt="0"/>
      <dgm:spPr/>
    </dgm:pt>
    <dgm:pt modelId="{41D0FF7F-260D-41BE-8114-598FE183DF3C}" type="pres">
      <dgm:prSet presAssocID="{8FA9BA34-4EDB-44A3-A674-128F5F73F65C}" presName="parentText" presStyleLbl="node1" presStyleIdx="1" presStyleCnt="2">
        <dgm:presLayoutVars>
          <dgm:chMax val="0"/>
          <dgm:bulletEnabled val="1"/>
        </dgm:presLayoutVars>
      </dgm:prSet>
      <dgm:spPr/>
    </dgm:pt>
    <dgm:pt modelId="{56B58840-6C7D-4ABA-8A20-97B79D5924B9}" type="pres">
      <dgm:prSet presAssocID="{8FA9BA34-4EDB-44A3-A674-128F5F73F65C}" presName="childText" presStyleLbl="revTx" presStyleIdx="0" presStyleCnt="1">
        <dgm:presLayoutVars>
          <dgm:bulletEnabled val="1"/>
        </dgm:presLayoutVars>
      </dgm:prSet>
      <dgm:spPr/>
    </dgm:pt>
  </dgm:ptLst>
  <dgm:cxnLst>
    <dgm:cxn modelId="{E44CC53E-D2C8-4E29-B41A-856490D8684C}" srcId="{4E9C1E08-3F76-4A89-B567-33EDCEE3ADEA}" destId="{8FA9BA34-4EDB-44A3-A674-128F5F73F65C}" srcOrd="1" destOrd="0" parTransId="{B128D121-3F46-4BE9-ABB1-70C42EF8EB3F}" sibTransId="{930C8EC8-B261-4061-8E4A-4F8C00C65DB9}"/>
    <dgm:cxn modelId="{51FA1C44-387D-47B1-AE60-AC1A2E791853}" type="presOf" srcId="{AB189F16-88DA-42E2-AFF0-A2DEB90CE05D}" destId="{CC9494F2-5E5B-46DF-8F8D-0A3DBFF83251}" srcOrd="0" destOrd="0" presId="urn:microsoft.com/office/officeart/2005/8/layout/vList2"/>
    <dgm:cxn modelId="{3581397C-2A0B-4729-8911-D0513285A181}" srcId="{8FA9BA34-4EDB-44A3-A674-128F5F73F65C}" destId="{C094EE16-378A-44C0-8EC5-A4D444342734}" srcOrd="0" destOrd="0" parTransId="{A6B86075-8D24-458B-8442-8F2B740C2732}" sibTransId="{CF788CC1-90E1-458F-8B1C-2F3BAB1400E4}"/>
    <dgm:cxn modelId="{D4D53280-5877-47F7-8892-C486A984B243}" type="presOf" srcId="{D9EABD2E-5AF0-479E-9239-2590AB6D5427}" destId="{56B58840-6C7D-4ABA-8A20-97B79D5924B9}" srcOrd="0" destOrd="2" presId="urn:microsoft.com/office/officeart/2005/8/layout/vList2"/>
    <dgm:cxn modelId="{8FA445B5-0D8A-4120-950C-E28FAF94BC56}" type="presOf" srcId="{E25FBE6D-3469-450C-9618-B9AF8CFA79C6}" destId="{56B58840-6C7D-4ABA-8A20-97B79D5924B9}" srcOrd="0" destOrd="1" presId="urn:microsoft.com/office/officeart/2005/8/layout/vList2"/>
    <dgm:cxn modelId="{BCACE7C1-3511-455C-9BFC-1A7674C76B1D}" type="presOf" srcId="{C094EE16-378A-44C0-8EC5-A4D444342734}" destId="{56B58840-6C7D-4ABA-8A20-97B79D5924B9}" srcOrd="0" destOrd="0" presId="urn:microsoft.com/office/officeart/2005/8/layout/vList2"/>
    <dgm:cxn modelId="{12A372C7-9EBC-4991-A6FB-15023A6FE967}" type="presOf" srcId="{8FA9BA34-4EDB-44A3-A674-128F5F73F65C}" destId="{41D0FF7F-260D-41BE-8114-598FE183DF3C}" srcOrd="0" destOrd="0" presId="urn:microsoft.com/office/officeart/2005/8/layout/vList2"/>
    <dgm:cxn modelId="{D0325BCA-97F0-481E-A7F6-511F851A25D4}" srcId="{8FA9BA34-4EDB-44A3-A674-128F5F73F65C}" destId="{E25FBE6D-3469-450C-9618-B9AF8CFA79C6}" srcOrd="1" destOrd="0" parTransId="{B1733F39-F602-4E70-80CE-F2FD5824B9C6}" sibTransId="{B92F6797-7182-4F2F-B7D7-B943B3D54301}"/>
    <dgm:cxn modelId="{63A699D5-B028-49F5-AF02-D2DA3D9CF82D}" srcId="{4E9C1E08-3F76-4A89-B567-33EDCEE3ADEA}" destId="{AB189F16-88DA-42E2-AFF0-A2DEB90CE05D}" srcOrd="0" destOrd="0" parTransId="{FB17D1DB-B3EE-4D22-A996-319EFDCD1F32}" sibTransId="{6C1099BB-32BA-40FC-9BBC-B052B676B4FA}"/>
    <dgm:cxn modelId="{CC583CEC-3D96-4390-B19F-A5E3B3A827B1}" srcId="{8FA9BA34-4EDB-44A3-A674-128F5F73F65C}" destId="{D9EABD2E-5AF0-479E-9239-2590AB6D5427}" srcOrd="2" destOrd="0" parTransId="{6A4B1193-4FFB-41FB-A95F-643CBC0F7560}" sibTransId="{AF2392B8-BC40-4F61-A0FD-D2F2FCB398B7}"/>
    <dgm:cxn modelId="{C2D1F3F3-6AF0-45C9-A7DD-D01BC0D4B15E}" type="presOf" srcId="{4E9C1E08-3F76-4A89-B567-33EDCEE3ADEA}" destId="{4E74AB4F-06EE-459C-A87E-F66F991F4762}" srcOrd="0" destOrd="0" presId="urn:microsoft.com/office/officeart/2005/8/layout/vList2"/>
    <dgm:cxn modelId="{CE889CC6-7A38-4739-9D57-BA8161517C97}" type="presParOf" srcId="{4E74AB4F-06EE-459C-A87E-F66F991F4762}" destId="{CC9494F2-5E5B-46DF-8F8D-0A3DBFF83251}" srcOrd="0" destOrd="0" presId="urn:microsoft.com/office/officeart/2005/8/layout/vList2"/>
    <dgm:cxn modelId="{49BCD160-0633-4001-BAE5-FAE1A8D3677F}" type="presParOf" srcId="{4E74AB4F-06EE-459C-A87E-F66F991F4762}" destId="{C30C0E3E-9BFA-40E2-AE02-E0BE2AF23F3D}" srcOrd="1" destOrd="0" presId="urn:microsoft.com/office/officeart/2005/8/layout/vList2"/>
    <dgm:cxn modelId="{EE949493-9A73-4229-83C8-239C3FE1BC28}" type="presParOf" srcId="{4E74AB4F-06EE-459C-A87E-F66F991F4762}" destId="{41D0FF7F-260D-41BE-8114-598FE183DF3C}" srcOrd="2" destOrd="0" presId="urn:microsoft.com/office/officeart/2005/8/layout/vList2"/>
    <dgm:cxn modelId="{3378DAA8-E674-4B7B-A281-F9600ADC467A}" type="presParOf" srcId="{4E74AB4F-06EE-459C-A87E-F66F991F4762}" destId="{56B58840-6C7D-4ABA-8A20-97B79D5924B9}"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0A028EE-1A2D-467C-86E1-4B34FA3D1733}" type="doc">
      <dgm:prSet loTypeId="urn:microsoft.com/office/officeart/2005/8/layout/hChevron3" loCatId="process" qsTypeId="urn:microsoft.com/office/officeart/2005/8/quickstyle/simple1" qsCatId="simple" csTypeId="urn:microsoft.com/office/officeart/2005/8/colors/colorful1" csCatId="colorful"/>
      <dgm:spPr/>
      <dgm:t>
        <a:bodyPr/>
        <a:lstStyle/>
        <a:p>
          <a:endParaRPr lang="en-US"/>
        </a:p>
      </dgm:t>
    </dgm:pt>
    <dgm:pt modelId="{DDA6FF65-540E-4A9E-9F20-28E3D5D522AA}">
      <dgm:prSet/>
      <dgm:spPr/>
      <dgm:t>
        <a:bodyPr/>
        <a:lstStyle/>
        <a:p>
          <a:r>
            <a:rPr lang="en-ID"/>
            <a:t>Definisi: Mengukur kemampuan rantai pasok untuk memenuhi janji pengiriman tepat waktu.</a:t>
          </a:r>
          <a:endParaRPr lang="en-US"/>
        </a:p>
      </dgm:t>
    </dgm:pt>
    <dgm:pt modelId="{E77A0ED6-3F3F-44D0-BCBD-71650981EF6D}" type="parTrans" cxnId="{3457941D-6827-4A9A-86AC-A9E63C812AE9}">
      <dgm:prSet/>
      <dgm:spPr/>
      <dgm:t>
        <a:bodyPr/>
        <a:lstStyle/>
        <a:p>
          <a:endParaRPr lang="en-US"/>
        </a:p>
      </dgm:t>
    </dgm:pt>
    <dgm:pt modelId="{64FB38E0-AB73-4C64-8304-7518CBFC02CE}" type="sibTrans" cxnId="{3457941D-6827-4A9A-86AC-A9E63C812AE9}">
      <dgm:prSet/>
      <dgm:spPr/>
      <dgm:t>
        <a:bodyPr/>
        <a:lstStyle/>
        <a:p>
          <a:endParaRPr lang="en-US"/>
        </a:p>
      </dgm:t>
    </dgm:pt>
    <dgm:pt modelId="{3B0A4678-EA3F-406D-B3B4-EC499907442E}">
      <dgm:prSet/>
      <dgm:spPr/>
      <dgm:t>
        <a:bodyPr/>
        <a:lstStyle/>
        <a:p>
          <a:r>
            <a:rPr lang="en-ID"/>
            <a:t>Contoh KPI:</a:t>
          </a:r>
          <a:endParaRPr lang="en-US"/>
        </a:p>
      </dgm:t>
    </dgm:pt>
    <dgm:pt modelId="{1444B6BF-6B5D-45F2-8059-419127F0A66C}" type="parTrans" cxnId="{4D49A936-8743-4AA3-AC87-3BEDB8B70227}">
      <dgm:prSet/>
      <dgm:spPr/>
      <dgm:t>
        <a:bodyPr/>
        <a:lstStyle/>
        <a:p>
          <a:endParaRPr lang="en-US"/>
        </a:p>
      </dgm:t>
    </dgm:pt>
    <dgm:pt modelId="{CD41796D-5BA6-4638-81A5-877D908E7A98}" type="sibTrans" cxnId="{4D49A936-8743-4AA3-AC87-3BEDB8B70227}">
      <dgm:prSet/>
      <dgm:spPr/>
      <dgm:t>
        <a:bodyPr/>
        <a:lstStyle/>
        <a:p>
          <a:endParaRPr lang="en-US"/>
        </a:p>
      </dgm:t>
    </dgm:pt>
    <dgm:pt modelId="{F447CB9F-94FB-4202-8293-DB3BB717E33E}">
      <dgm:prSet/>
      <dgm:spPr/>
      <dgm:t>
        <a:bodyPr/>
        <a:lstStyle/>
        <a:p>
          <a:r>
            <a:rPr lang="en-ID"/>
            <a:t>On-Time Delivery Rate: Persentase pesanan yang dikirimkan sesuai dengan jadwal yang telah ditentukan.</a:t>
          </a:r>
          <a:endParaRPr lang="en-US"/>
        </a:p>
      </dgm:t>
    </dgm:pt>
    <dgm:pt modelId="{963EACEB-EE17-42C1-8441-E53C47CF5193}" type="parTrans" cxnId="{6BFD9983-CC1E-4579-B94D-BD705A5569DD}">
      <dgm:prSet/>
      <dgm:spPr/>
      <dgm:t>
        <a:bodyPr/>
        <a:lstStyle/>
        <a:p>
          <a:endParaRPr lang="en-US"/>
        </a:p>
      </dgm:t>
    </dgm:pt>
    <dgm:pt modelId="{760F225D-759D-4AC8-B264-DDE4BC58AE72}" type="sibTrans" cxnId="{6BFD9983-CC1E-4579-B94D-BD705A5569DD}">
      <dgm:prSet/>
      <dgm:spPr/>
      <dgm:t>
        <a:bodyPr/>
        <a:lstStyle/>
        <a:p>
          <a:endParaRPr lang="en-US"/>
        </a:p>
      </dgm:t>
    </dgm:pt>
    <dgm:pt modelId="{F3401041-96DA-4E37-933B-21EEFCCE0E23}">
      <dgm:prSet/>
      <dgm:spPr/>
      <dgm:t>
        <a:bodyPr/>
        <a:lstStyle/>
        <a:p>
          <a:r>
            <a:rPr lang="en-ID"/>
            <a:t>Lead Time: Waktu yang dibutuhkan untuk memproduksi dan mengirimkan produk dari saat pemesanan hingga sampai ke pelanggan.</a:t>
          </a:r>
          <a:endParaRPr lang="en-US"/>
        </a:p>
      </dgm:t>
    </dgm:pt>
    <dgm:pt modelId="{382D88DF-908B-48C0-921C-A0174F194782}" type="parTrans" cxnId="{2A12F0D9-0BF4-4F88-91F1-8B8799B5FC9D}">
      <dgm:prSet/>
      <dgm:spPr/>
      <dgm:t>
        <a:bodyPr/>
        <a:lstStyle/>
        <a:p>
          <a:endParaRPr lang="en-US"/>
        </a:p>
      </dgm:t>
    </dgm:pt>
    <dgm:pt modelId="{2F990CDB-57D1-45D1-BAD7-78CF6995DD90}" type="sibTrans" cxnId="{2A12F0D9-0BF4-4F88-91F1-8B8799B5FC9D}">
      <dgm:prSet/>
      <dgm:spPr/>
      <dgm:t>
        <a:bodyPr/>
        <a:lstStyle/>
        <a:p>
          <a:endParaRPr lang="en-US"/>
        </a:p>
      </dgm:t>
    </dgm:pt>
    <dgm:pt modelId="{D33AAEB2-4CC0-4DBD-BBA5-3B65FCD1CA46}" type="pres">
      <dgm:prSet presAssocID="{C0A028EE-1A2D-467C-86E1-4B34FA3D1733}" presName="Name0" presStyleCnt="0">
        <dgm:presLayoutVars>
          <dgm:dir/>
          <dgm:resizeHandles val="exact"/>
        </dgm:presLayoutVars>
      </dgm:prSet>
      <dgm:spPr/>
    </dgm:pt>
    <dgm:pt modelId="{D0977C16-F03C-4450-A038-3C40BA5CD436}" type="pres">
      <dgm:prSet presAssocID="{DDA6FF65-540E-4A9E-9F20-28E3D5D522AA}" presName="parAndChTx" presStyleLbl="node1" presStyleIdx="0" presStyleCnt="2">
        <dgm:presLayoutVars>
          <dgm:bulletEnabled val="1"/>
        </dgm:presLayoutVars>
      </dgm:prSet>
      <dgm:spPr/>
    </dgm:pt>
    <dgm:pt modelId="{DAB522A7-73D7-42ED-8816-650B529D3461}" type="pres">
      <dgm:prSet presAssocID="{64FB38E0-AB73-4C64-8304-7518CBFC02CE}" presName="parAndChSpace" presStyleCnt="0"/>
      <dgm:spPr/>
    </dgm:pt>
    <dgm:pt modelId="{55E248E9-1E47-4B26-9DE4-B42BBDA540C1}" type="pres">
      <dgm:prSet presAssocID="{3B0A4678-EA3F-406D-B3B4-EC499907442E}" presName="parAndChTx" presStyleLbl="node1" presStyleIdx="1" presStyleCnt="2">
        <dgm:presLayoutVars>
          <dgm:bulletEnabled val="1"/>
        </dgm:presLayoutVars>
      </dgm:prSet>
      <dgm:spPr/>
    </dgm:pt>
  </dgm:ptLst>
  <dgm:cxnLst>
    <dgm:cxn modelId="{9D3C2A0C-2F27-4541-B73C-B5D5E4FB435F}" type="presOf" srcId="{F447CB9F-94FB-4202-8293-DB3BB717E33E}" destId="{55E248E9-1E47-4B26-9DE4-B42BBDA540C1}" srcOrd="0" destOrd="1" presId="urn:microsoft.com/office/officeart/2005/8/layout/hChevron3"/>
    <dgm:cxn modelId="{3457941D-6827-4A9A-86AC-A9E63C812AE9}" srcId="{C0A028EE-1A2D-467C-86E1-4B34FA3D1733}" destId="{DDA6FF65-540E-4A9E-9F20-28E3D5D522AA}" srcOrd="0" destOrd="0" parTransId="{E77A0ED6-3F3F-44D0-BCBD-71650981EF6D}" sibTransId="{64FB38E0-AB73-4C64-8304-7518CBFC02CE}"/>
    <dgm:cxn modelId="{5664752B-D177-43F0-BD68-210FD61A4329}" type="presOf" srcId="{3B0A4678-EA3F-406D-B3B4-EC499907442E}" destId="{55E248E9-1E47-4B26-9DE4-B42BBDA540C1}" srcOrd="0" destOrd="0" presId="urn:microsoft.com/office/officeart/2005/8/layout/hChevron3"/>
    <dgm:cxn modelId="{4D49A936-8743-4AA3-AC87-3BEDB8B70227}" srcId="{C0A028EE-1A2D-467C-86E1-4B34FA3D1733}" destId="{3B0A4678-EA3F-406D-B3B4-EC499907442E}" srcOrd="1" destOrd="0" parTransId="{1444B6BF-6B5D-45F2-8059-419127F0A66C}" sibTransId="{CD41796D-5BA6-4638-81A5-877D908E7A98}"/>
    <dgm:cxn modelId="{DAB10F42-5D22-412D-96AC-1716DC6F649F}" type="presOf" srcId="{C0A028EE-1A2D-467C-86E1-4B34FA3D1733}" destId="{D33AAEB2-4CC0-4DBD-BBA5-3B65FCD1CA46}" srcOrd="0" destOrd="0" presId="urn:microsoft.com/office/officeart/2005/8/layout/hChevron3"/>
    <dgm:cxn modelId="{6BFD9983-CC1E-4579-B94D-BD705A5569DD}" srcId="{3B0A4678-EA3F-406D-B3B4-EC499907442E}" destId="{F447CB9F-94FB-4202-8293-DB3BB717E33E}" srcOrd="0" destOrd="0" parTransId="{963EACEB-EE17-42C1-8441-E53C47CF5193}" sibTransId="{760F225D-759D-4AC8-B264-DDE4BC58AE72}"/>
    <dgm:cxn modelId="{94D178A1-0247-4CDD-9345-2E042040BF4D}" type="presOf" srcId="{F3401041-96DA-4E37-933B-21EEFCCE0E23}" destId="{55E248E9-1E47-4B26-9DE4-B42BBDA540C1}" srcOrd="0" destOrd="2" presId="urn:microsoft.com/office/officeart/2005/8/layout/hChevron3"/>
    <dgm:cxn modelId="{7CA830BE-D304-417E-A9A1-D88CA9772B5F}" type="presOf" srcId="{DDA6FF65-540E-4A9E-9F20-28E3D5D522AA}" destId="{D0977C16-F03C-4450-A038-3C40BA5CD436}" srcOrd="0" destOrd="0" presId="urn:microsoft.com/office/officeart/2005/8/layout/hChevron3"/>
    <dgm:cxn modelId="{2A12F0D9-0BF4-4F88-91F1-8B8799B5FC9D}" srcId="{3B0A4678-EA3F-406D-B3B4-EC499907442E}" destId="{F3401041-96DA-4E37-933B-21EEFCCE0E23}" srcOrd="1" destOrd="0" parTransId="{382D88DF-908B-48C0-921C-A0174F194782}" sibTransId="{2F990CDB-57D1-45D1-BAD7-78CF6995DD90}"/>
    <dgm:cxn modelId="{C582E128-99DA-4D21-AD28-E28B36568C0D}" type="presParOf" srcId="{D33AAEB2-4CC0-4DBD-BBA5-3B65FCD1CA46}" destId="{D0977C16-F03C-4450-A038-3C40BA5CD436}" srcOrd="0" destOrd="0" presId="urn:microsoft.com/office/officeart/2005/8/layout/hChevron3"/>
    <dgm:cxn modelId="{946333FB-A29D-4ED1-80E8-14444B9C092B}" type="presParOf" srcId="{D33AAEB2-4CC0-4DBD-BBA5-3B65FCD1CA46}" destId="{DAB522A7-73D7-42ED-8816-650B529D3461}" srcOrd="1" destOrd="0" presId="urn:microsoft.com/office/officeart/2005/8/layout/hChevron3"/>
    <dgm:cxn modelId="{1BDAD1CF-C71E-4590-B2AA-5F1E70130BE6}" type="presParOf" srcId="{D33AAEB2-4CC0-4DBD-BBA5-3B65FCD1CA46}" destId="{55E248E9-1E47-4B26-9DE4-B42BBDA540C1}" srcOrd="2"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7A29DF1-E62E-45D8-8DCE-F178AA1CD2E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2F09F60D-AC5D-4EBB-B742-515AFD97A0E8}">
      <dgm:prSet/>
      <dgm:spPr/>
      <dgm:t>
        <a:bodyPr/>
        <a:lstStyle/>
        <a:p>
          <a:r>
            <a:rPr lang="en-ID"/>
            <a:t>Definisi: Mengukur seberapa ramah lingkungan dan berkelanjutan operasi dalam rantai pasok.</a:t>
          </a:r>
          <a:endParaRPr lang="en-US"/>
        </a:p>
      </dgm:t>
    </dgm:pt>
    <dgm:pt modelId="{BFCD769A-8A5B-4C6B-805E-644CDE827F68}" type="parTrans" cxnId="{D66BDFB5-57CF-41D5-A75B-F0B4B43E77F6}">
      <dgm:prSet/>
      <dgm:spPr/>
      <dgm:t>
        <a:bodyPr/>
        <a:lstStyle/>
        <a:p>
          <a:endParaRPr lang="en-US"/>
        </a:p>
      </dgm:t>
    </dgm:pt>
    <dgm:pt modelId="{E82FDFCD-2463-40C3-8B9F-BC6438178BAE}" type="sibTrans" cxnId="{D66BDFB5-57CF-41D5-A75B-F0B4B43E77F6}">
      <dgm:prSet/>
      <dgm:spPr/>
      <dgm:t>
        <a:bodyPr/>
        <a:lstStyle/>
        <a:p>
          <a:endParaRPr lang="en-US"/>
        </a:p>
      </dgm:t>
    </dgm:pt>
    <dgm:pt modelId="{A01A59A4-CAFE-49BF-A62E-CFC69A4144E9}">
      <dgm:prSet/>
      <dgm:spPr/>
      <dgm:t>
        <a:bodyPr/>
        <a:lstStyle/>
        <a:p>
          <a:r>
            <a:rPr lang="en-ID"/>
            <a:t>Contoh KPI:</a:t>
          </a:r>
          <a:endParaRPr lang="en-US"/>
        </a:p>
      </dgm:t>
    </dgm:pt>
    <dgm:pt modelId="{75185546-BE93-41C5-83F9-0D463291B998}" type="parTrans" cxnId="{31111A61-31B8-418F-9AE7-E9AAFB24E643}">
      <dgm:prSet/>
      <dgm:spPr/>
      <dgm:t>
        <a:bodyPr/>
        <a:lstStyle/>
        <a:p>
          <a:endParaRPr lang="en-US"/>
        </a:p>
      </dgm:t>
    </dgm:pt>
    <dgm:pt modelId="{1A4ED642-49AC-4331-9B75-B0D75B7F0DAD}" type="sibTrans" cxnId="{31111A61-31B8-418F-9AE7-E9AAFB24E643}">
      <dgm:prSet/>
      <dgm:spPr/>
      <dgm:t>
        <a:bodyPr/>
        <a:lstStyle/>
        <a:p>
          <a:endParaRPr lang="en-US"/>
        </a:p>
      </dgm:t>
    </dgm:pt>
    <dgm:pt modelId="{B18F295E-7A53-471A-A084-42C684BEDB1C}">
      <dgm:prSet/>
      <dgm:spPr/>
      <dgm:t>
        <a:bodyPr/>
        <a:lstStyle/>
        <a:p>
          <a:r>
            <a:rPr lang="en-ID"/>
            <a:t>Carbon Footprint: Jumlah emisi karbon yang dihasilkan oleh operasi rantai pasok.</a:t>
          </a:r>
          <a:endParaRPr lang="en-US"/>
        </a:p>
      </dgm:t>
    </dgm:pt>
    <dgm:pt modelId="{0EB5C7A7-4CB4-4F74-9EBB-5971F5EE2AF8}" type="parTrans" cxnId="{03FE5870-BB85-412E-A086-D53C2DF7253C}">
      <dgm:prSet/>
      <dgm:spPr/>
      <dgm:t>
        <a:bodyPr/>
        <a:lstStyle/>
        <a:p>
          <a:endParaRPr lang="en-US"/>
        </a:p>
      </dgm:t>
    </dgm:pt>
    <dgm:pt modelId="{DE05D2DC-12E9-4015-A8A9-17FC6ABC9FA2}" type="sibTrans" cxnId="{03FE5870-BB85-412E-A086-D53C2DF7253C}">
      <dgm:prSet/>
      <dgm:spPr/>
      <dgm:t>
        <a:bodyPr/>
        <a:lstStyle/>
        <a:p>
          <a:endParaRPr lang="en-US"/>
        </a:p>
      </dgm:t>
    </dgm:pt>
    <dgm:pt modelId="{0E16C4FB-DF62-4F97-979E-A7D78B6ABAFA}">
      <dgm:prSet/>
      <dgm:spPr/>
      <dgm:t>
        <a:bodyPr/>
        <a:lstStyle/>
        <a:p>
          <a:r>
            <a:rPr lang="en-ID"/>
            <a:t>Sustainable Sourcing: Persentase bahan baku yang diperoleh dari sumber yang berkelanjutan atau ramah lingkungan.</a:t>
          </a:r>
          <a:endParaRPr lang="en-US"/>
        </a:p>
      </dgm:t>
    </dgm:pt>
    <dgm:pt modelId="{D21C9520-A662-4437-B054-D3A329A70EF7}" type="parTrans" cxnId="{010098B9-F433-44C0-826C-23D163B62157}">
      <dgm:prSet/>
      <dgm:spPr/>
      <dgm:t>
        <a:bodyPr/>
        <a:lstStyle/>
        <a:p>
          <a:endParaRPr lang="en-US"/>
        </a:p>
      </dgm:t>
    </dgm:pt>
    <dgm:pt modelId="{46CCE1DB-793B-40EE-9D42-B6C1C9D94BBA}" type="sibTrans" cxnId="{010098B9-F433-44C0-826C-23D163B62157}">
      <dgm:prSet/>
      <dgm:spPr/>
      <dgm:t>
        <a:bodyPr/>
        <a:lstStyle/>
        <a:p>
          <a:endParaRPr lang="en-US"/>
        </a:p>
      </dgm:t>
    </dgm:pt>
    <dgm:pt modelId="{764C39C3-AC1D-4952-837C-D3D7BFE7E8BA}" type="pres">
      <dgm:prSet presAssocID="{F7A29DF1-E62E-45D8-8DCE-F178AA1CD2EB}" presName="linear" presStyleCnt="0">
        <dgm:presLayoutVars>
          <dgm:animLvl val="lvl"/>
          <dgm:resizeHandles val="exact"/>
        </dgm:presLayoutVars>
      </dgm:prSet>
      <dgm:spPr/>
    </dgm:pt>
    <dgm:pt modelId="{9A3F2040-9750-4613-B2F3-C38093EEAF16}" type="pres">
      <dgm:prSet presAssocID="{2F09F60D-AC5D-4EBB-B742-515AFD97A0E8}" presName="parentText" presStyleLbl="node1" presStyleIdx="0" presStyleCnt="2">
        <dgm:presLayoutVars>
          <dgm:chMax val="0"/>
          <dgm:bulletEnabled val="1"/>
        </dgm:presLayoutVars>
      </dgm:prSet>
      <dgm:spPr/>
    </dgm:pt>
    <dgm:pt modelId="{A9B60FFE-ED0B-4F5B-8D20-EE6BD7058E8F}" type="pres">
      <dgm:prSet presAssocID="{E82FDFCD-2463-40C3-8B9F-BC6438178BAE}" presName="spacer" presStyleCnt="0"/>
      <dgm:spPr/>
    </dgm:pt>
    <dgm:pt modelId="{25DE42BD-300B-4D38-9F3C-E2182C7F17E3}" type="pres">
      <dgm:prSet presAssocID="{A01A59A4-CAFE-49BF-A62E-CFC69A4144E9}" presName="parentText" presStyleLbl="node1" presStyleIdx="1" presStyleCnt="2">
        <dgm:presLayoutVars>
          <dgm:chMax val="0"/>
          <dgm:bulletEnabled val="1"/>
        </dgm:presLayoutVars>
      </dgm:prSet>
      <dgm:spPr/>
    </dgm:pt>
    <dgm:pt modelId="{2A96A771-D9C1-4FE7-8AA4-97B16B89D84A}" type="pres">
      <dgm:prSet presAssocID="{A01A59A4-CAFE-49BF-A62E-CFC69A4144E9}" presName="childText" presStyleLbl="revTx" presStyleIdx="0" presStyleCnt="1">
        <dgm:presLayoutVars>
          <dgm:bulletEnabled val="1"/>
        </dgm:presLayoutVars>
      </dgm:prSet>
      <dgm:spPr/>
    </dgm:pt>
  </dgm:ptLst>
  <dgm:cxnLst>
    <dgm:cxn modelId="{31111A61-31B8-418F-9AE7-E9AAFB24E643}" srcId="{F7A29DF1-E62E-45D8-8DCE-F178AA1CD2EB}" destId="{A01A59A4-CAFE-49BF-A62E-CFC69A4144E9}" srcOrd="1" destOrd="0" parTransId="{75185546-BE93-41C5-83F9-0D463291B998}" sibTransId="{1A4ED642-49AC-4331-9B75-B0D75B7F0DAD}"/>
    <dgm:cxn modelId="{03FE5870-BB85-412E-A086-D53C2DF7253C}" srcId="{A01A59A4-CAFE-49BF-A62E-CFC69A4144E9}" destId="{B18F295E-7A53-471A-A084-42C684BEDB1C}" srcOrd="0" destOrd="0" parTransId="{0EB5C7A7-4CB4-4F74-9EBB-5971F5EE2AF8}" sibTransId="{DE05D2DC-12E9-4015-A8A9-17FC6ABC9FA2}"/>
    <dgm:cxn modelId="{25FBE750-8F04-421F-88A9-D1B96A3BDAB4}" type="presOf" srcId="{B18F295E-7A53-471A-A084-42C684BEDB1C}" destId="{2A96A771-D9C1-4FE7-8AA4-97B16B89D84A}" srcOrd="0" destOrd="0" presId="urn:microsoft.com/office/officeart/2005/8/layout/vList2"/>
    <dgm:cxn modelId="{D66BDFB5-57CF-41D5-A75B-F0B4B43E77F6}" srcId="{F7A29DF1-E62E-45D8-8DCE-F178AA1CD2EB}" destId="{2F09F60D-AC5D-4EBB-B742-515AFD97A0E8}" srcOrd="0" destOrd="0" parTransId="{BFCD769A-8A5B-4C6B-805E-644CDE827F68}" sibTransId="{E82FDFCD-2463-40C3-8B9F-BC6438178BAE}"/>
    <dgm:cxn modelId="{916A32B6-9AD7-4CDC-8A7E-4126BC50C1ED}" type="presOf" srcId="{2F09F60D-AC5D-4EBB-B742-515AFD97A0E8}" destId="{9A3F2040-9750-4613-B2F3-C38093EEAF16}" srcOrd="0" destOrd="0" presId="urn:microsoft.com/office/officeart/2005/8/layout/vList2"/>
    <dgm:cxn modelId="{3E42DDB6-A98B-450D-8B03-DF173C795387}" type="presOf" srcId="{A01A59A4-CAFE-49BF-A62E-CFC69A4144E9}" destId="{25DE42BD-300B-4D38-9F3C-E2182C7F17E3}" srcOrd="0" destOrd="0" presId="urn:microsoft.com/office/officeart/2005/8/layout/vList2"/>
    <dgm:cxn modelId="{010098B9-F433-44C0-826C-23D163B62157}" srcId="{A01A59A4-CAFE-49BF-A62E-CFC69A4144E9}" destId="{0E16C4FB-DF62-4F97-979E-A7D78B6ABAFA}" srcOrd="1" destOrd="0" parTransId="{D21C9520-A662-4437-B054-D3A329A70EF7}" sibTransId="{46CCE1DB-793B-40EE-9D42-B6C1C9D94BBA}"/>
    <dgm:cxn modelId="{796B0FBB-BBDE-4EFE-9106-11939E791ADA}" type="presOf" srcId="{0E16C4FB-DF62-4F97-979E-A7D78B6ABAFA}" destId="{2A96A771-D9C1-4FE7-8AA4-97B16B89D84A}" srcOrd="0" destOrd="1" presId="urn:microsoft.com/office/officeart/2005/8/layout/vList2"/>
    <dgm:cxn modelId="{D08CAAE8-6544-4DB9-A3CF-A6F8133F10B0}" type="presOf" srcId="{F7A29DF1-E62E-45D8-8DCE-F178AA1CD2EB}" destId="{764C39C3-AC1D-4952-837C-D3D7BFE7E8BA}" srcOrd="0" destOrd="0" presId="urn:microsoft.com/office/officeart/2005/8/layout/vList2"/>
    <dgm:cxn modelId="{40CF671A-CC10-41B1-91B2-E5C02D02DE82}" type="presParOf" srcId="{764C39C3-AC1D-4952-837C-D3D7BFE7E8BA}" destId="{9A3F2040-9750-4613-B2F3-C38093EEAF16}" srcOrd="0" destOrd="0" presId="urn:microsoft.com/office/officeart/2005/8/layout/vList2"/>
    <dgm:cxn modelId="{DF79E137-587E-4FB9-852C-907A4B952163}" type="presParOf" srcId="{764C39C3-AC1D-4952-837C-D3D7BFE7E8BA}" destId="{A9B60FFE-ED0B-4F5B-8D20-EE6BD7058E8F}" srcOrd="1" destOrd="0" presId="urn:microsoft.com/office/officeart/2005/8/layout/vList2"/>
    <dgm:cxn modelId="{58D81B06-19D2-4E23-B7D9-B91160F9D927}" type="presParOf" srcId="{764C39C3-AC1D-4952-837C-D3D7BFE7E8BA}" destId="{25DE42BD-300B-4D38-9F3C-E2182C7F17E3}" srcOrd="2" destOrd="0" presId="urn:microsoft.com/office/officeart/2005/8/layout/vList2"/>
    <dgm:cxn modelId="{69C398F6-B6D4-4B1E-9107-492B89C39CF9}" type="presParOf" srcId="{764C39C3-AC1D-4952-837C-D3D7BFE7E8BA}" destId="{2A96A771-D9C1-4FE7-8AA4-97B16B89D84A}"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D654478-8617-401F-A455-E0851659301A}"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33641C9B-02DE-46A0-A30D-EC170E2EE929}">
      <dgm:prSet/>
      <dgm:spPr/>
      <dgm:t>
        <a:bodyPr/>
        <a:lstStyle/>
        <a:p>
          <a:r>
            <a:rPr lang="en-ID" b="1"/>
            <a:t>SCOR Model (Supply Chain Operations Reference):</a:t>
          </a:r>
          <a:r>
            <a:rPr lang="en-ID"/>
            <a:t> Sebuah framework yang digunakan untuk menilai kinerja rantai pasok melalui lima elemen utama: Plan, Source, Make, Deliver, dan Return.</a:t>
          </a:r>
          <a:endParaRPr lang="en-US"/>
        </a:p>
      </dgm:t>
    </dgm:pt>
    <dgm:pt modelId="{47955AF3-EDE9-48EE-8D5D-C3D8FABD884F}" type="parTrans" cxnId="{AE40F4BB-9589-4A1C-BEFE-B24E3D063987}">
      <dgm:prSet/>
      <dgm:spPr/>
      <dgm:t>
        <a:bodyPr/>
        <a:lstStyle/>
        <a:p>
          <a:endParaRPr lang="en-US"/>
        </a:p>
      </dgm:t>
    </dgm:pt>
    <dgm:pt modelId="{427993BE-B5CA-44D5-9CC3-A912A69D3F10}" type="sibTrans" cxnId="{AE40F4BB-9589-4A1C-BEFE-B24E3D063987}">
      <dgm:prSet/>
      <dgm:spPr/>
      <dgm:t>
        <a:bodyPr/>
        <a:lstStyle/>
        <a:p>
          <a:endParaRPr lang="en-US"/>
        </a:p>
      </dgm:t>
    </dgm:pt>
    <dgm:pt modelId="{CC1FE65B-0E31-4B79-8579-0329259AB9D4}">
      <dgm:prSet/>
      <dgm:spPr/>
      <dgm:t>
        <a:bodyPr/>
        <a:lstStyle/>
        <a:p>
          <a:r>
            <a:rPr lang="en-ID" b="1"/>
            <a:t>Balanced Scorecard:</a:t>
          </a:r>
          <a:r>
            <a:rPr lang="en-ID"/>
            <a:t> Alat manajemen yang digunakan untuk mengukur kinerja SCM dari berbagai perspektif: keuangan, pelanggan, proses internal, dan pembelajaran serta pertumbuhan.</a:t>
          </a:r>
          <a:endParaRPr lang="en-US"/>
        </a:p>
      </dgm:t>
    </dgm:pt>
    <dgm:pt modelId="{23FDDE94-31C0-47F9-95E7-127945D8F3AC}" type="parTrans" cxnId="{7EBEC347-4E60-47EF-ACA5-76B258C7A4AC}">
      <dgm:prSet/>
      <dgm:spPr/>
      <dgm:t>
        <a:bodyPr/>
        <a:lstStyle/>
        <a:p>
          <a:endParaRPr lang="en-US"/>
        </a:p>
      </dgm:t>
    </dgm:pt>
    <dgm:pt modelId="{3C3DE1A6-C71E-4EC3-BDBC-1C6A7A498DAD}" type="sibTrans" cxnId="{7EBEC347-4E60-47EF-ACA5-76B258C7A4AC}">
      <dgm:prSet/>
      <dgm:spPr/>
      <dgm:t>
        <a:bodyPr/>
        <a:lstStyle/>
        <a:p>
          <a:endParaRPr lang="en-US"/>
        </a:p>
      </dgm:t>
    </dgm:pt>
    <dgm:pt modelId="{80643BC1-E706-4B79-8320-4A77227F536E}">
      <dgm:prSet/>
      <dgm:spPr/>
      <dgm:t>
        <a:bodyPr/>
        <a:lstStyle/>
        <a:p>
          <a:r>
            <a:rPr lang="en-ID" b="1"/>
            <a:t>Kepuasan Pelanggan:</a:t>
          </a:r>
          <a:r>
            <a:rPr lang="en-ID"/>
            <a:t> Melihat dari sisi seberapa baik sistem SCM dapat memenuhi ekspektasi pelanggan.</a:t>
          </a:r>
          <a:endParaRPr lang="en-US"/>
        </a:p>
      </dgm:t>
    </dgm:pt>
    <dgm:pt modelId="{8F4DA09F-5A31-41A9-961C-8418FB4CBC4A}" type="parTrans" cxnId="{140D343B-FAEF-4F2B-AD86-9C12B9A8276B}">
      <dgm:prSet/>
      <dgm:spPr/>
      <dgm:t>
        <a:bodyPr/>
        <a:lstStyle/>
        <a:p>
          <a:endParaRPr lang="en-US"/>
        </a:p>
      </dgm:t>
    </dgm:pt>
    <dgm:pt modelId="{D9B8EBD3-ABFB-4FB6-B215-45F6D0A37711}" type="sibTrans" cxnId="{140D343B-FAEF-4F2B-AD86-9C12B9A8276B}">
      <dgm:prSet/>
      <dgm:spPr/>
      <dgm:t>
        <a:bodyPr/>
        <a:lstStyle/>
        <a:p>
          <a:endParaRPr lang="en-US"/>
        </a:p>
      </dgm:t>
    </dgm:pt>
    <dgm:pt modelId="{A8672918-C870-4BF7-9301-AD4E19970A8D}" type="pres">
      <dgm:prSet presAssocID="{0D654478-8617-401F-A455-E0851659301A}" presName="root" presStyleCnt="0">
        <dgm:presLayoutVars>
          <dgm:dir/>
          <dgm:resizeHandles val="exact"/>
        </dgm:presLayoutVars>
      </dgm:prSet>
      <dgm:spPr/>
    </dgm:pt>
    <dgm:pt modelId="{A170E4F5-5A01-4297-A3EC-C59A9FB61D27}" type="pres">
      <dgm:prSet presAssocID="{33641C9B-02DE-46A0-A30D-EC170E2EE929}" presName="compNode" presStyleCnt="0"/>
      <dgm:spPr/>
    </dgm:pt>
    <dgm:pt modelId="{63657185-C4A1-49D3-BABC-161CC8FE06C1}" type="pres">
      <dgm:prSet presAssocID="{33641C9B-02DE-46A0-A30D-EC170E2EE929}" presName="bgRect" presStyleLbl="bgShp" presStyleIdx="0" presStyleCnt="3"/>
      <dgm:spPr/>
    </dgm:pt>
    <dgm:pt modelId="{3D92C955-8064-4D53-84D3-DFF8E392B887}" type="pres">
      <dgm:prSet presAssocID="{33641C9B-02DE-46A0-A30D-EC170E2EE92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ycle with People"/>
        </a:ext>
      </dgm:extLst>
    </dgm:pt>
    <dgm:pt modelId="{DB97F16E-C335-4FC5-9459-F35AB867C67D}" type="pres">
      <dgm:prSet presAssocID="{33641C9B-02DE-46A0-A30D-EC170E2EE929}" presName="spaceRect" presStyleCnt="0"/>
      <dgm:spPr/>
    </dgm:pt>
    <dgm:pt modelId="{97060244-6D26-434E-9616-9F32B4C55C7A}" type="pres">
      <dgm:prSet presAssocID="{33641C9B-02DE-46A0-A30D-EC170E2EE929}" presName="parTx" presStyleLbl="revTx" presStyleIdx="0" presStyleCnt="3">
        <dgm:presLayoutVars>
          <dgm:chMax val="0"/>
          <dgm:chPref val="0"/>
        </dgm:presLayoutVars>
      </dgm:prSet>
      <dgm:spPr/>
    </dgm:pt>
    <dgm:pt modelId="{90BB91D0-A118-4AFC-A2EA-6F6C2FC78EDF}" type="pres">
      <dgm:prSet presAssocID="{427993BE-B5CA-44D5-9CC3-A912A69D3F10}" presName="sibTrans" presStyleCnt="0"/>
      <dgm:spPr/>
    </dgm:pt>
    <dgm:pt modelId="{F04FEFEA-6496-4FFF-ACD7-53D7E595FAC2}" type="pres">
      <dgm:prSet presAssocID="{CC1FE65B-0E31-4B79-8579-0329259AB9D4}" presName="compNode" presStyleCnt="0"/>
      <dgm:spPr/>
    </dgm:pt>
    <dgm:pt modelId="{DCD49E38-F23A-4FBC-A21F-1866F2ECC79E}" type="pres">
      <dgm:prSet presAssocID="{CC1FE65B-0E31-4B79-8579-0329259AB9D4}" presName="bgRect" presStyleLbl="bgShp" presStyleIdx="1" presStyleCnt="3"/>
      <dgm:spPr/>
    </dgm:pt>
    <dgm:pt modelId="{0D633638-DB16-40C3-AA7A-71E975816C11}" type="pres">
      <dgm:prSet presAssocID="{CC1FE65B-0E31-4B79-8579-0329259AB9D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ument"/>
        </a:ext>
      </dgm:extLst>
    </dgm:pt>
    <dgm:pt modelId="{4706A03D-2D2A-4C85-B1E4-2918AE913C8F}" type="pres">
      <dgm:prSet presAssocID="{CC1FE65B-0E31-4B79-8579-0329259AB9D4}" presName="spaceRect" presStyleCnt="0"/>
      <dgm:spPr/>
    </dgm:pt>
    <dgm:pt modelId="{A7380200-6F98-4598-B24D-74EC8043A663}" type="pres">
      <dgm:prSet presAssocID="{CC1FE65B-0E31-4B79-8579-0329259AB9D4}" presName="parTx" presStyleLbl="revTx" presStyleIdx="1" presStyleCnt="3">
        <dgm:presLayoutVars>
          <dgm:chMax val="0"/>
          <dgm:chPref val="0"/>
        </dgm:presLayoutVars>
      </dgm:prSet>
      <dgm:spPr/>
    </dgm:pt>
    <dgm:pt modelId="{7F54F747-9235-4C66-B6CF-5D1B4F1382F5}" type="pres">
      <dgm:prSet presAssocID="{3C3DE1A6-C71E-4EC3-BDBC-1C6A7A498DAD}" presName="sibTrans" presStyleCnt="0"/>
      <dgm:spPr/>
    </dgm:pt>
    <dgm:pt modelId="{7DCC15FD-3582-4777-95FC-8CC8A634E1EC}" type="pres">
      <dgm:prSet presAssocID="{80643BC1-E706-4B79-8320-4A77227F536E}" presName="compNode" presStyleCnt="0"/>
      <dgm:spPr/>
    </dgm:pt>
    <dgm:pt modelId="{30EAB0F7-7229-4E0B-8931-FD619B3D99A9}" type="pres">
      <dgm:prSet presAssocID="{80643BC1-E706-4B79-8320-4A77227F536E}" presName="bgRect" presStyleLbl="bgShp" presStyleIdx="2" presStyleCnt="3"/>
      <dgm:spPr/>
    </dgm:pt>
    <dgm:pt modelId="{2E08ABEB-4720-4849-8855-1CBC18F7BCA5}" type="pres">
      <dgm:prSet presAssocID="{80643BC1-E706-4B79-8320-4A77227F536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673E2DF5-9A9C-46F0-B536-4BEACEC4DF90}" type="pres">
      <dgm:prSet presAssocID="{80643BC1-E706-4B79-8320-4A77227F536E}" presName="spaceRect" presStyleCnt="0"/>
      <dgm:spPr/>
    </dgm:pt>
    <dgm:pt modelId="{93D3E99A-0A29-4437-AD5E-12B23F2E9D7D}" type="pres">
      <dgm:prSet presAssocID="{80643BC1-E706-4B79-8320-4A77227F536E}" presName="parTx" presStyleLbl="revTx" presStyleIdx="2" presStyleCnt="3">
        <dgm:presLayoutVars>
          <dgm:chMax val="0"/>
          <dgm:chPref val="0"/>
        </dgm:presLayoutVars>
      </dgm:prSet>
      <dgm:spPr/>
    </dgm:pt>
  </dgm:ptLst>
  <dgm:cxnLst>
    <dgm:cxn modelId="{340BB309-B48A-4572-B1CB-0FC81BA62377}" type="presOf" srcId="{0D654478-8617-401F-A455-E0851659301A}" destId="{A8672918-C870-4BF7-9301-AD4E19970A8D}" srcOrd="0" destOrd="0" presId="urn:microsoft.com/office/officeart/2018/2/layout/IconVerticalSolidList"/>
    <dgm:cxn modelId="{2D5A6C15-7EAE-4078-8945-F8141DBB0474}" type="presOf" srcId="{80643BC1-E706-4B79-8320-4A77227F536E}" destId="{93D3E99A-0A29-4437-AD5E-12B23F2E9D7D}" srcOrd="0" destOrd="0" presId="urn:microsoft.com/office/officeart/2018/2/layout/IconVerticalSolidList"/>
    <dgm:cxn modelId="{140D343B-FAEF-4F2B-AD86-9C12B9A8276B}" srcId="{0D654478-8617-401F-A455-E0851659301A}" destId="{80643BC1-E706-4B79-8320-4A77227F536E}" srcOrd="2" destOrd="0" parTransId="{8F4DA09F-5A31-41A9-961C-8418FB4CBC4A}" sibTransId="{D9B8EBD3-ABFB-4FB6-B215-45F6D0A37711}"/>
    <dgm:cxn modelId="{7EBEC347-4E60-47EF-ACA5-76B258C7A4AC}" srcId="{0D654478-8617-401F-A455-E0851659301A}" destId="{CC1FE65B-0E31-4B79-8579-0329259AB9D4}" srcOrd="1" destOrd="0" parTransId="{23FDDE94-31C0-47F9-95E7-127945D8F3AC}" sibTransId="{3C3DE1A6-C71E-4EC3-BDBC-1C6A7A498DAD}"/>
    <dgm:cxn modelId="{AE40F4BB-9589-4A1C-BEFE-B24E3D063987}" srcId="{0D654478-8617-401F-A455-E0851659301A}" destId="{33641C9B-02DE-46A0-A30D-EC170E2EE929}" srcOrd="0" destOrd="0" parTransId="{47955AF3-EDE9-48EE-8D5D-C3D8FABD884F}" sibTransId="{427993BE-B5CA-44D5-9CC3-A912A69D3F10}"/>
    <dgm:cxn modelId="{DB4513C3-65BB-4D42-B1F7-790947D74DD3}" type="presOf" srcId="{33641C9B-02DE-46A0-A30D-EC170E2EE929}" destId="{97060244-6D26-434E-9616-9F32B4C55C7A}" srcOrd="0" destOrd="0" presId="urn:microsoft.com/office/officeart/2018/2/layout/IconVerticalSolidList"/>
    <dgm:cxn modelId="{F343DDD0-7000-4EB5-A8A5-BEEA7C08D1E5}" type="presOf" srcId="{CC1FE65B-0E31-4B79-8579-0329259AB9D4}" destId="{A7380200-6F98-4598-B24D-74EC8043A663}" srcOrd="0" destOrd="0" presId="urn:microsoft.com/office/officeart/2018/2/layout/IconVerticalSolidList"/>
    <dgm:cxn modelId="{01E93EBB-8D4B-482B-B5A5-C9B3E794B9F1}" type="presParOf" srcId="{A8672918-C870-4BF7-9301-AD4E19970A8D}" destId="{A170E4F5-5A01-4297-A3EC-C59A9FB61D27}" srcOrd="0" destOrd="0" presId="urn:microsoft.com/office/officeart/2018/2/layout/IconVerticalSolidList"/>
    <dgm:cxn modelId="{6D1EFDEA-91E5-451D-AE57-0965F2C987B6}" type="presParOf" srcId="{A170E4F5-5A01-4297-A3EC-C59A9FB61D27}" destId="{63657185-C4A1-49D3-BABC-161CC8FE06C1}" srcOrd="0" destOrd="0" presId="urn:microsoft.com/office/officeart/2018/2/layout/IconVerticalSolidList"/>
    <dgm:cxn modelId="{8D6117C5-272D-4A9F-8DE1-B99DFF4E0EDF}" type="presParOf" srcId="{A170E4F5-5A01-4297-A3EC-C59A9FB61D27}" destId="{3D92C955-8064-4D53-84D3-DFF8E392B887}" srcOrd="1" destOrd="0" presId="urn:microsoft.com/office/officeart/2018/2/layout/IconVerticalSolidList"/>
    <dgm:cxn modelId="{4C52B879-E227-4181-BA25-0FAB51204022}" type="presParOf" srcId="{A170E4F5-5A01-4297-A3EC-C59A9FB61D27}" destId="{DB97F16E-C335-4FC5-9459-F35AB867C67D}" srcOrd="2" destOrd="0" presId="urn:microsoft.com/office/officeart/2018/2/layout/IconVerticalSolidList"/>
    <dgm:cxn modelId="{898CBB46-F833-46C0-BB12-48BAFA47CEDA}" type="presParOf" srcId="{A170E4F5-5A01-4297-A3EC-C59A9FB61D27}" destId="{97060244-6D26-434E-9616-9F32B4C55C7A}" srcOrd="3" destOrd="0" presId="urn:microsoft.com/office/officeart/2018/2/layout/IconVerticalSolidList"/>
    <dgm:cxn modelId="{6348D648-77F0-42FB-B7A5-973A317EBCE2}" type="presParOf" srcId="{A8672918-C870-4BF7-9301-AD4E19970A8D}" destId="{90BB91D0-A118-4AFC-A2EA-6F6C2FC78EDF}" srcOrd="1" destOrd="0" presId="urn:microsoft.com/office/officeart/2018/2/layout/IconVerticalSolidList"/>
    <dgm:cxn modelId="{47C9514C-CA4B-467A-BE0A-F1D6019CA8DA}" type="presParOf" srcId="{A8672918-C870-4BF7-9301-AD4E19970A8D}" destId="{F04FEFEA-6496-4FFF-ACD7-53D7E595FAC2}" srcOrd="2" destOrd="0" presId="urn:microsoft.com/office/officeart/2018/2/layout/IconVerticalSolidList"/>
    <dgm:cxn modelId="{E2ED85F2-3117-4BE0-90A9-FFDE4FCCFFE9}" type="presParOf" srcId="{F04FEFEA-6496-4FFF-ACD7-53D7E595FAC2}" destId="{DCD49E38-F23A-4FBC-A21F-1866F2ECC79E}" srcOrd="0" destOrd="0" presId="urn:microsoft.com/office/officeart/2018/2/layout/IconVerticalSolidList"/>
    <dgm:cxn modelId="{FD43932A-8ACE-4E83-AC64-EE8D984BDA5B}" type="presParOf" srcId="{F04FEFEA-6496-4FFF-ACD7-53D7E595FAC2}" destId="{0D633638-DB16-40C3-AA7A-71E975816C11}" srcOrd="1" destOrd="0" presId="urn:microsoft.com/office/officeart/2018/2/layout/IconVerticalSolidList"/>
    <dgm:cxn modelId="{388C5C1F-CC0C-45A9-92D9-DE5F29A8A6E0}" type="presParOf" srcId="{F04FEFEA-6496-4FFF-ACD7-53D7E595FAC2}" destId="{4706A03D-2D2A-4C85-B1E4-2918AE913C8F}" srcOrd="2" destOrd="0" presId="urn:microsoft.com/office/officeart/2018/2/layout/IconVerticalSolidList"/>
    <dgm:cxn modelId="{8C58D833-C0DA-4C31-8183-900FF7C13A79}" type="presParOf" srcId="{F04FEFEA-6496-4FFF-ACD7-53D7E595FAC2}" destId="{A7380200-6F98-4598-B24D-74EC8043A663}" srcOrd="3" destOrd="0" presId="urn:microsoft.com/office/officeart/2018/2/layout/IconVerticalSolidList"/>
    <dgm:cxn modelId="{4CD5B8A5-AC81-44BE-A4DE-15D20B39905B}" type="presParOf" srcId="{A8672918-C870-4BF7-9301-AD4E19970A8D}" destId="{7F54F747-9235-4C66-B6CF-5D1B4F1382F5}" srcOrd="3" destOrd="0" presId="urn:microsoft.com/office/officeart/2018/2/layout/IconVerticalSolidList"/>
    <dgm:cxn modelId="{65CA3301-5D2E-4F9E-B6D3-4C3A66F3DF78}" type="presParOf" srcId="{A8672918-C870-4BF7-9301-AD4E19970A8D}" destId="{7DCC15FD-3582-4777-95FC-8CC8A634E1EC}" srcOrd="4" destOrd="0" presId="urn:microsoft.com/office/officeart/2018/2/layout/IconVerticalSolidList"/>
    <dgm:cxn modelId="{AA838F5E-BB6F-4C80-A7D9-17153E1AA0F9}" type="presParOf" srcId="{7DCC15FD-3582-4777-95FC-8CC8A634E1EC}" destId="{30EAB0F7-7229-4E0B-8931-FD619B3D99A9}" srcOrd="0" destOrd="0" presId="urn:microsoft.com/office/officeart/2018/2/layout/IconVerticalSolidList"/>
    <dgm:cxn modelId="{FDFEC993-A89E-4158-B6EC-C94E057C1822}" type="presParOf" srcId="{7DCC15FD-3582-4777-95FC-8CC8A634E1EC}" destId="{2E08ABEB-4720-4849-8855-1CBC18F7BCA5}" srcOrd="1" destOrd="0" presId="urn:microsoft.com/office/officeart/2018/2/layout/IconVerticalSolidList"/>
    <dgm:cxn modelId="{438CEC5B-EEA4-466C-8E98-AD3D257247F0}" type="presParOf" srcId="{7DCC15FD-3582-4777-95FC-8CC8A634E1EC}" destId="{673E2DF5-9A9C-46F0-B536-4BEACEC4DF90}" srcOrd="2" destOrd="0" presId="urn:microsoft.com/office/officeart/2018/2/layout/IconVerticalSolidList"/>
    <dgm:cxn modelId="{E995E2C9-6A49-4D21-BDEE-74CF26247723}" type="presParOf" srcId="{7DCC15FD-3582-4777-95FC-8CC8A634E1EC}" destId="{93D3E99A-0A29-4437-AD5E-12B23F2E9D7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5A5EAAB-E58F-4960-91DA-8BB3C1C04B0F}" type="doc">
      <dgm:prSet loTypeId="urn:microsoft.com/office/officeart/2016/7/layout/LinearBlockProcessNumbered" loCatId="process" qsTypeId="urn:microsoft.com/office/officeart/2005/8/quickstyle/simple1" qsCatId="simple" csTypeId="urn:microsoft.com/office/officeart/2005/8/colors/colorful1" csCatId="colorful"/>
      <dgm:spPr/>
      <dgm:t>
        <a:bodyPr/>
        <a:lstStyle/>
        <a:p>
          <a:endParaRPr lang="en-US"/>
        </a:p>
      </dgm:t>
    </dgm:pt>
    <dgm:pt modelId="{B443B66C-5EDF-4D0A-87E2-1616F50B7BFD}">
      <dgm:prSet/>
      <dgm:spPr/>
      <dgm:t>
        <a:bodyPr/>
        <a:lstStyle/>
        <a:p>
          <a:r>
            <a:rPr lang="en-ID"/>
            <a:t>Software SCM: Sistem ERP dan SCM yang membantu dalam pengumpulan data secara real-time untuk memantau dan menganalisis kinerja rantai pasok.</a:t>
          </a:r>
          <a:endParaRPr lang="en-US"/>
        </a:p>
      </dgm:t>
    </dgm:pt>
    <dgm:pt modelId="{24D52D4A-DA6C-4CBF-BE41-31CB0BCA7C94}" type="parTrans" cxnId="{6700409D-1292-485C-8775-A22E6C18897A}">
      <dgm:prSet/>
      <dgm:spPr/>
      <dgm:t>
        <a:bodyPr/>
        <a:lstStyle/>
        <a:p>
          <a:endParaRPr lang="en-US"/>
        </a:p>
      </dgm:t>
    </dgm:pt>
    <dgm:pt modelId="{FCA48338-1F0B-4E8E-9C2A-D60CAE20F7BA}" type="sibTrans" cxnId="{6700409D-1292-485C-8775-A22E6C18897A}">
      <dgm:prSet phldrT="01" phldr="0"/>
      <dgm:spPr/>
      <dgm:t>
        <a:bodyPr/>
        <a:lstStyle/>
        <a:p>
          <a:r>
            <a:rPr lang="en-US"/>
            <a:t>01</a:t>
          </a:r>
        </a:p>
      </dgm:t>
    </dgm:pt>
    <dgm:pt modelId="{36BDA538-74E0-457D-9D99-6D605922F66D}">
      <dgm:prSet/>
      <dgm:spPr/>
      <dgm:t>
        <a:bodyPr/>
        <a:lstStyle/>
        <a:p>
          <a:r>
            <a:rPr lang="en-ID"/>
            <a:t>Audit Kinerja: Pemeriksaan berkala terhadap kinerja operasional, untuk memastikan kesesuaian dengan standar.</a:t>
          </a:r>
          <a:endParaRPr lang="en-US"/>
        </a:p>
      </dgm:t>
    </dgm:pt>
    <dgm:pt modelId="{4A7D1C04-DE10-45DA-B5CD-776E9F6D8D4D}" type="parTrans" cxnId="{D7BE4FE8-6CA3-4F96-A76E-6304D7570B95}">
      <dgm:prSet/>
      <dgm:spPr/>
      <dgm:t>
        <a:bodyPr/>
        <a:lstStyle/>
        <a:p>
          <a:endParaRPr lang="en-US"/>
        </a:p>
      </dgm:t>
    </dgm:pt>
    <dgm:pt modelId="{BB360754-74D9-42DB-9A9C-5BE58754BC7F}" type="sibTrans" cxnId="{D7BE4FE8-6CA3-4F96-A76E-6304D7570B95}">
      <dgm:prSet phldrT="02" phldr="0"/>
      <dgm:spPr/>
      <dgm:t>
        <a:bodyPr/>
        <a:lstStyle/>
        <a:p>
          <a:r>
            <a:rPr lang="en-US"/>
            <a:t>02</a:t>
          </a:r>
        </a:p>
      </dgm:t>
    </dgm:pt>
    <dgm:pt modelId="{CBB23FBB-5C41-4170-A642-9A8AE66AB7BC}">
      <dgm:prSet/>
      <dgm:spPr/>
      <dgm:t>
        <a:bodyPr/>
        <a:lstStyle/>
        <a:p>
          <a:r>
            <a:rPr lang="en-ID"/>
            <a:t>Benchmarking: Membandingkan kinerja dengan perusahaan lain atau standar industri untuk menentukan area yang perlu perbaikan.</a:t>
          </a:r>
          <a:endParaRPr lang="en-US"/>
        </a:p>
      </dgm:t>
    </dgm:pt>
    <dgm:pt modelId="{76AEDE59-2C7D-4364-AC34-3B9B9F9E174E}" type="parTrans" cxnId="{9543653C-66C1-4B3D-94D7-35E83EB2EC07}">
      <dgm:prSet/>
      <dgm:spPr/>
      <dgm:t>
        <a:bodyPr/>
        <a:lstStyle/>
        <a:p>
          <a:endParaRPr lang="en-US"/>
        </a:p>
      </dgm:t>
    </dgm:pt>
    <dgm:pt modelId="{4AD5E342-8FC7-459C-91B7-3E91F75D1F57}" type="sibTrans" cxnId="{9543653C-66C1-4B3D-94D7-35E83EB2EC07}">
      <dgm:prSet phldrT="03" phldr="0"/>
      <dgm:spPr/>
      <dgm:t>
        <a:bodyPr/>
        <a:lstStyle/>
        <a:p>
          <a:r>
            <a:rPr lang="en-US"/>
            <a:t>03</a:t>
          </a:r>
        </a:p>
      </dgm:t>
    </dgm:pt>
    <dgm:pt modelId="{7A1FF276-343E-4D8C-B2C2-6F42DC618F35}">
      <dgm:prSet/>
      <dgm:spPr/>
      <dgm:t>
        <a:bodyPr/>
        <a:lstStyle/>
        <a:p>
          <a:r>
            <a:rPr lang="en-ID"/>
            <a:t>Analisis SWOT (Strengths, Weaknesses, Opportunities, Threats): Untuk menilai kinerja SCM dalam konteks internal dan eksternal.</a:t>
          </a:r>
          <a:endParaRPr lang="en-US"/>
        </a:p>
      </dgm:t>
    </dgm:pt>
    <dgm:pt modelId="{17EC10DA-D7B9-4451-ABA1-F0A564880D68}" type="parTrans" cxnId="{CE25517E-DF7E-4D94-BD1D-AA55B5735BBB}">
      <dgm:prSet/>
      <dgm:spPr/>
      <dgm:t>
        <a:bodyPr/>
        <a:lstStyle/>
        <a:p>
          <a:endParaRPr lang="en-US"/>
        </a:p>
      </dgm:t>
    </dgm:pt>
    <dgm:pt modelId="{6E69DB65-947D-49DB-B93B-0A0D4E172266}" type="sibTrans" cxnId="{CE25517E-DF7E-4D94-BD1D-AA55B5735BBB}">
      <dgm:prSet phldrT="04" phldr="0"/>
      <dgm:spPr/>
      <dgm:t>
        <a:bodyPr/>
        <a:lstStyle/>
        <a:p>
          <a:r>
            <a:rPr lang="en-US"/>
            <a:t>04</a:t>
          </a:r>
        </a:p>
      </dgm:t>
    </dgm:pt>
    <dgm:pt modelId="{54626072-B539-4A41-B3A4-C1A71695422B}" type="pres">
      <dgm:prSet presAssocID="{95A5EAAB-E58F-4960-91DA-8BB3C1C04B0F}" presName="Name0" presStyleCnt="0">
        <dgm:presLayoutVars>
          <dgm:animLvl val="lvl"/>
          <dgm:resizeHandles val="exact"/>
        </dgm:presLayoutVars>
      </dgm:prSet>
      <dgm:spPr/>
    </dgm:pt>
    <dgm:pt modelId="{820C45F7-35E1-418C-8A24-8CB36A49C68D}" type="pres">
      <dgm:prSet presAssocID="{B443B66C-5EDF-4D0A-87E2-1616F50B7BFD}" presName="compositeNode" presStyleCnt="0">
        <dgm:presLayoutVars>
          <dgm:bulletEnabled val="1"/>
        </dgm:presLayoutVars>
      </dgm:prSet>
      <dgm:spPr/>
    </dgm:pt>
    <dgm:pt modelId="{BBB3E65A-CA52-4898-BB34-660AE9BFCBF1}" type="pres">
      <dgm:prSet presAssocID="{B443B66C-5EDF-4D0A-87E2-1616F50B7BFD}" presName="bgRect" presStyleLbl="alignNode1" presStyleIdx="0" presStyleCnt="4"/>
      <dgm:spPr/>
    </dgm:pt>
    <dgm:pt modelId="{A173EF17-891D-4E6F-9F70-EC3B6F64D3FF}" type="pres">
      <dgm:prSet presAssocID="{FCA48338-1F0B-4E8E-9C2A-D60CAE20F7BA}" presName="sibTransNodeRect" presStyleLbl="alignNode1" presStyleIdx="0" presStyleCnt="4">
        <dgm:presLayoutVars>
          <dgm:chMax val="0"/>
          <dgm:bulletEnabled val="1"/>
        </dgm:presLayoutVars>
      </dgm:prSet>
      <dgm:spPr/>
    </dgm:pt>
    <dgm:pt modelId="{079092C8-DD9E-49E5-BF2C-A25F65072A03}" type="pres">
      <dgm:prSet presAssocID="{B443B66C-5EDF-4D0A-87E2-1616F50B7BFD}" presName="nodeRect" presStyleLbl="alignNode1" presStyleIdx="0" presStyleCnt="4">
        <dgm:presLayoutVars>
          <dgm:bulletEnabled val="1"/>
        </dgm:presLayoutVars>
      </dgm:prSet>
      <dgm:spPr/>
    </dgm:pt>
    <dgm:pt modelId="{07955F98-3811-4C65-A5E1-DF86E9C0756A}" type="pres">
      <dgm:prSet presAssocID="{FCA48338-1F0B-4E8E-9C2A-D60CAE20F7BA}" presName="sibTrans" presStyleCnt="0"/>
      <dgm:spPr/>
    </dgm:pt>
    <dgm:pt modelId="{ED8FB7B6-9F49-4729-9595-B59EE3C3E412}" type="pres">
      <dgm:prSet presAssocID="{36BDA538-74E0-457D-9D99-6D605922F66D}" presName="compositeNode" presStyleCnt="0">
        <dgm:presLayoutVars>
          <dgm:bulletEnabled val="1"/>
        </dgm:presLayoutVars>
      </dgm:prSet>
      <dgm:spPr/>
    </dgm:pt>
    <dgm:pt modelId="{633F9719-8FA4-42FD-A5DC-76DBA2A5BC81}" type="pres">
      <dgm:prSet presAssocID="{36BDA538-74E0-457D-9D99-6D605922F66D}" presName="bgRect" presStyleLbl="alignNode1" presStyleIdx="1" presStyleCnt="4"/>
      <dgm:spPr/>
    </dgm:pt>
    <dgm:pt modelId="{D06558CC-95B6-4AFC-AABB-A4F9AC4BAE80}" type="pres">
      <dgm:prSet presAssocID="{BB360754-74D9-42DB-9A9C-5BE58754BC7F}" presName="sibTransNodeRect" presStyleLbl="alignNode1" presStyleIdx="1" presStyleCnt="4">
        <dgm:presLayoutVars>
          <dgm:chMax val="0"/>
          <dgm:bulletEnabled val="1"/>
        </dgm:presLayoutVars>
      </dgm:prSet>
      <dgm:spPr/>
    </dgm:pt>
    <dgm:pt modelId="{12BEE307-FC12-4A8F-8558-88479325D3C2}" type="pres">
      <dgm:prSet presAssocID="{36BDA538-74E0-457D-9D99-6D605922F66D}" presName="nodeRect" presStyleLbl="alignNode1" presStyleIdx="1" presStyleCnt="4">
        <dgm:presLayoutVars>
          <dgm:bulletEnabled val="1"/>
        </dgm:presLayoutVars>
      </dgm:prSet>
      <dgm:spPr/>
    </dgm:pt>
    <dgm:pt modelId="{708056E0-9A98-4C8B-9129-E3748C5D5E9C}" type="pres">
      <dgm:prSet presAssocID="{BB360754-74D9-42DB-9A9C-5BE58754BC7F}" presName="sibTrans" presStyleCnt="0"/>
      <dgm:spPr/>
    </dgm:pt>
    <dgm:pt modelId="{27040E43-EED8-433A-A69A-8BD262632BF9}" type="pres">
      <dgm:prSet presAssocID="{CBB23FBB-5C41-4170-A642-9A8AE66AB7BC}" presName="compositeNode" presStyleCnt="0">
        <dgm:presLayoutVars>
          <dgm:bulletEnabled val="1"/>
        </dgm:presLayoutVars>
      </dgm:prSet>
      <dgm:spPr/>
    </dgm:pt>
    <dgm:pt modelId="{10F38A12-197F-4C64-9F26-D2683950D7AE}" type="pres">
      <dgm:prSet presAssocID="{CBB23FBB-5C41-4170-A642-9A8AE66AB7BC}" presName="bgRect" presStyleLbl="alignNode1" presStyleIdx="2" presStyleCnt="4"/>
      <dgm:spPr/>
    </dgm:pt>
    <dgm:pt modelId="{3F0E0674-B747-4346-9657-7FA69EEF86D3}" type="pres">
      <dgm:prSet presAssocID="{4AD5E342-8FC7-459C-91B7-3E91F75D1F57}" presName="sibTransNodeRect" presStyleLbl="alignNode1" presStyleIdx="2" presStyleCnt="4">
        <dgm:presLayoutVars>
          <dgm:chMax val="0"/>
          <dgm:bulletEnabled val="1"/>
        </dgm:presLayoutVars>
      </dgm:prSet>
      <dgm:spPr/>
    </dgm:pt>
    <dgm:pt modelId="{0E70F154-7E37-402B-8554-4D5AED81A7CB}" type="pres">
      <dgm:prSet presAssocID="{CBB23FBB-5C41-4170-A642-9A8AE66AB7BC}" presName="nodeRect" presStyleLbl="alignNode1" presStyleIdx="2" presStyleCnt="4">
        <dgm:presLayoutVars>
          <dgm:bulletEnabled val="1"/>
        </dgm:presLayoutVars>
      </dgm:prSet>
      <dgm:spPr/>
    </dgm:pt>
    <dgm:pt modelId="{1C57EB07-7529-4A86-8F14-E6233EF3D4F1}" type="pres">
      <dgm:prSet presAssocID="{4AD5E342-8FC7-459C-91B7-3E91F75D1F57}" presName="sibTrans" presStyleCnt="0"/>
      <dgm:spPr/>
    </dgm:pt>
    <dgm:pt modelId="{63FBE652-F849-4E38-B7EC-FB34E56C7C2F}" type="pres">
      <dgm:prSet presAssocID="{7A1FF276-343E-4D8C-B2C2-6F42DC618F35}" presName="compositeNode" presStyleCnt="0">
        <dgm:presLayoutVars>
          <dgm:bulletEnabled val="1"/>
        </dgm:presLayoutVars>
      </dgm:prSet>
      <dgm:spPr/>
    </dgm:pt>
    <dgm:pt modelId="{D4B47D40-7E44-409E-B6D9-8B3500CB9B45}" type="pres">
      <dgm:prSet presAssocID="{7A1FF276-343E-4D8C-B2C2-6F42DC618F35}" presName="bgRect" presStyleLbl="alignNode1" presStyleIdx="3" presStyleCnt="4"/>
      <dgm:spPr/>
    </dgm:pt>
    <dgm:pt modelId="{6CA65682-DDB2-4539-86BE-A2D74E53A1D1}" type="pres">
      <dgm:prSet presAssocID="{6E69DB65-947D-49DB-B93B-0A0D4E172266}" presName="sibTransNodeRect" presStyleLbl="alignNode1" presStyleIdx="3" presStyleCnt="4">
        <dgm:presLayoutVars>
          <dgm:chMax val="0"/>
          <dgm:bulletEnabled val="1"/>
        </dgm:presLayoutVars>
      </dgm:prSet>
      <dgm:spPr/>
    </dgm:pt>
    <dgm:pt modelId="{AD37D0B8-E23C-4F6C-9B71-C3E2F7E69F60}" type="pres">
      <dgm:prSet presAssocID="{7A1FF276-343E-4D8C-B2C2-6F42DC618F35}" presName="nodeRect" presStyleLbl="alignNode1" presStyleIdx="3" presStyleCnt="4">
        <dgm:presLayoutVars>
          <dgm:bulletEnabled val="1"/>
        </dgm:presLayoutVars>
      </dgm:prSet>
      <dgm:spPr/>
    </dgm:pt>
  </dgm:ptLst>
  <dgm:cxnLst>
    <dgm:cxn modelId="{2942FE30-C44C-4B55-A7A6-FA7278CF08FD}" type="presOf" srcId="{BB360754-74D9-42DB-9A9C-5BE58754BC7F}" destId="{D06558CC-95B6-4AFC-AABB-A4F9AC4BAE80}" srcOrd="0" destOrd="0" presId="urn:microsoft.com/office/officeart/2016/7/layout/LinearBlockProcessNumbered"/>
    <dgm:cxn modelId="{9543653C-66C1-4B3D-94D7-35E83EB2EC07}" srcId="{95A5EAAB-E58F-4960-91DA-8BB3C1C04B0F}" destId="{CBB23FBB-5C41-4170-A642-9A8AE66AB7BC}" srcOrd="2" destOrd="0" parTransId="{76AEDE59-2C7D-4364-AC34-3B9B9F9E174E}" sibTransId="{4AD5E342-8FC7-459C-91B7-3E91F75D1F57}"/>
    <dgm:cxn modelId="{3CDB275C-D2E3-44C6-9687-E8D1387F68EB}" type="presOf" srcId="{FCA48338-1F0B-4E8E-9C2A-D60CAE20F7BA}" destId="{A173EF17-891D-4E6F-9F70-EC3B6F64D3FF}" srcOrd="0" destOrd="0" presId="urn:microsoft.com/office/officeart/2016/7/layout/LinearBlockProcessNumbered"/>
    <dgm:cxn modelId="{E79B605D-F11A-4B66-88C4-A5D252516836}" type="presOf" srcId="{7A1FF276-343E-4D8C-B2C2-6F42DC618F35}" destId="{D4B47D40-7E44-409E-B6D9-8B3500CB9B45}" srcOrd="0" destOrd="0" presId="urn:microsoft.com/office/officeart/2016/7/layout/LinearBlockProcessNumbered"/>
    <dgm:cxn modelId="{74D7C171-3F48-4C15-99AE-D479AC21C492}" type="presOf" srcId="{CBB23FBB-5C41-4170-A642-9A8AE66AB7BC}" destId="{10F38A12-197F-4C64-9F26-D2683950D7AE}" srcOrd="0" destOrd="0" presId="urn:microsoft.com/office/officeart/2016/7/layout/LinearBlockProcessNumbered"/>
    <dgm:cxn modelId="{52EC3858-B228-4E20-8DAA-E624BCBE46F2}" type="presOf" srcId="{36BDA538-74E0-457D-9D99-6D605922F66D}" destId="{633F9719-8FA4-42FD-A5DC-76DBA2A5BC81}" srcOrd="0" destOrd="0" presId="urn:microsoft.com/office/officeart/2016/7/layout/LinearBlockProcessNumbered"/>
    <dgm:cxn modelId="{BC56117B-731D-4734-8502-A33521182AFC}" type="presOf" srcId="{6E69DB65-947D-49DB-B93B-0A0D4E172266}" destId="{6CA65682-DDB2-4539-86BE-A2D74E53A1D1}" srcOrd="0" destOrd="0" presId="urn:microsoft.com/office/officeart/2016/7/layout/LinearBlockProcessNumbered"/>
    <dgm:cxn modelId="{CE25517E-DF7E-4D94-BD1D-AA55B5735BBB}" srcId="{95A5EAAB-E58F-4960-91DA-8BB3C1C04B0F}" destId="{7A1FF276-343E-4D8C-B2C2-6F42DC618F35}" srcOrd="3" destOrd="0" parTransId="{17EC10DA-D7B9-4451-ABA1-F0A564880D68}" sibTransId="{6E69DB65-947D-49DB-B93B-0A0D4E172266}"/>
    <dgm:cxn modelId="{8AB67F89-809B-4072-B590-DA2D71D5D391}" type="presOf" srcId="{4AD5E342-8FC7-459C-91B7-3E91F75D1F57}" destId="{3F0E0674-B747-4346-9657-7FA69EEF86D3}" srcOrd="0" destOrd="0" presId="urn:microsoft.com/office/officeart/2016/7/layout/LinearBlockProcessNumbered"/>
    <dgm:cxn modelId="{37F2898A-695F-4AE7-B39E-9DC038B21B9C}" type="presOf" srcId="{7A1FF276-343E-4D8C-B2C2-6F42DC618F35}" destId="{AD37D0B8-E23C-4F6C-9B71-C3E2F7E69F60}" srcOrd="1" destOrd="0" presId="urn:microsoft.com/office/officeart/2016/7/layout/LinearBlockProcessNumbered"/>
    <dgm:cxn modelId="{6700409D-1292-485C-8775-A22E6C18897A}" srcId="{95A5EAAB-E58F-4960-91DA-8BB3C1C04B0F}" destId="{B443B66C-5EDF-4D0A-87E2-1616F50B7BFD}" srcOrd="0" destOrd="0" parTransId="{24D52D4A-DA6C-4CBF-BE41-31CB0BCA7C94}" sibTransId="{FCA48338-1F0B-4E8E-9C2A-D60CAE20F7BA}"/>
    <dgm:cxn modelId="{3A55CD9D-8295-4155-AFD1-139DEED2C35D}" type="presOf" srcId="{B443B66C-5EDF-4D0A-87E2-1616F50B7BFD}" destId="{079092C8-DD9E-49E5-BF2C-A25F65072A03}" srcOrd="1" destOrd="0" presId="urn:microsoft.com/office/officeart/2016/7/layout/LinearBlockProcessNumbered"/>
    <dgm:cxn modelId="{CAC9BFAA-D449-4483-B3A5-44F807518AB9}" type="presOf" srcId="{B443B66C-5EDF-4D0A-87E2-1616F50B7BFD}" destId="{BBB3E65A-CA52-4898-BB34-660AE9BFCBF1}" srcOrd="0" destOrd="0" presId="urn:microsoft.com/office/officeart/2016/7/layout/LinearBlockProcessNumbered"/>
    <dgm:cxn modelId="{C7D237AC-7CF5-4B94-A22C-86AD96C01C64}" type="presOf" srcId="{95A5EAAB-E58F-4960-91DA-8BB3C1C04B0F}" destId="{54626072-B539-4A41-B3A4-C1A71695422B}" srcOrd="0" destOrd="0" presId="urn:microsoft.com/office/officeart/2016/7/layout/LinearBlockProcessNumbered"/>
    <dgm:cxn modelId="{1AC00AE1-EF41-42A7-9925-F4D050C14E52}" type="presOf" srcId="{CBB23FBB-5C41-4170-A642-9A8AE66AB7BC}" destId="{0E70F154-7E37-402B-8554-4D5AED81A7CB}" srcOrd="1" destOrd="0" presId="urn:microsoft.com/office/officeart/2016/7/layout/LinearBlockProcessNumbered"/>
    <dgm:cxn modelId="{D7BE4FE8-6CA3-4F96-A76E-6304D7570B95}" srcId="{95A5EAAB-E58F-4960-91DA-8BB3C1C04B0F}" destId="{36BDA538-74E0-457D-9D99-6D605922F66D}" srcOrd="1" destOrd="0" parTransId="{4A7D1C04-DE10-45DA-B5CD-776E9F6D8D4D}" sibTransId="{BB360754-74D9-42DB-9A9C-5BE58754BC7F}"/>
    <dgm:cxn modelId="{CA04E8EC-0E8E-424F-96A3-850C3F33F8B1}" type="presOf" srcId="{36BDA538-74E0-457D-9D99-6D605922F66D}" destId="{12BEE307-FC12-4A8F-8558-88479325D3C2}" srcOrd="1" destOrd="0" presId="urn:microsoft.com/office/officeart/2016/7/layout/LinearBlockProcessNumbered"/>
    <dgm:cxn modelId="{36A842C7-1F06-48C0-B586-8C1C5DBABB91}" type="presParOf" srcId="{54626072-B539-4A41-B3A4-C1A71695422B}" destId="{820C45F7-35E1-418C-8A24-8CB36A49C68D}" srcOrd="0" destOrd="0" presId="urn:microsoft.com/office/officeart/2016/7/layout/LinearBlockProcessNumbered"/>
    <dgm:cxn modelId="{AED5AC55-D889-4E11-87A4-2A5BA8DC14C5}" type="presParOf" srcId="{820C45F7-35E1-418C-8A24-8CB36A49C68D}" destId="{BBB3E65A-CA52-4898-BB34-660AE9BFCBF1}" srcOrd="0" destOrd="0" presId="urn:microsoft.com/office/officeart/2016/7/layout/LinearBlockProcessNumbered"/>
    <dgm:cxn modelId="{D37656B8-66BB-4AF4-8CBD-A5D85ADBC845}" type="presParOf" srcId="{820C45F7-35E1-418C-8A24-8CB36A49C68D}" destId="{A173EF17-891D-4E6F-9F70-EC3B6F64D3FF}" srcOrd="1" destOrd="0" presId="urn:microsoft.com/office/officeart/2016/7/layout/LinearBlockProcessNumbered"/>
    <dgm:cxn modelId="{E17112B9-4DCA-45FF-B81B-3DC3EAEFB797}" type="presParOf" srcId="{820C45F7-35E1-418C-8A24-8CB36A49C68D}" destId="{079092C8-DD9E-49E5-BF2C-A25F65072A03}" srcOrd="2" destOrd="0" presId="urn:microsoft.com/office/officeart/2016/7/layout/LinearBlockProcessNumbered"/>
    <dgm:cxn modelId="{03F06E00-CCA0-4D9B-AD62-91FBDF0F01CF}" type="presParOf" srcId="{54626072-B539-4A41-B3A4-C1A71695422B}" destId="{07955F98-3811-4C65-A5E1-DF86E9C0756A}" srcOrd="1" destOrd="0" presId="urn:microsoft.com/office/officeart/2016/7/layout/LinearBlockProcessNumbered"/>
    <dgm:cxn modelId="{D6DDC577-45E9-47F1-8A7C-465CE6FE1C71}" type="presParOf" srcId="{54626072-B539-4A41-B3A4-C1A71695422B}" destId="{ED8FB7B6-9F49-4729-9595-B59EE3C3E412}" srcOrd="2" destOrd="0" presId="urn:microsoft.com/office/officeart/2016/7/layout/LinearBlockProcessNumbered"/>
    <dgm:cxn modelId="{CB0509C4-D9E9-40A1-A9BA-6A8332E316E8}" type="presParOf" srcId="{ED8FB7B6-9F49-4729-9595-B59EE3C3E412}" destId="{633F9719-8FA4-42FD-A5DC-76DBA2A5BC81}" srcOrd="0" destOrd="0" presId="urn:microsoft.com/office/officeart/2016/7/layout/LinearBlockProcessNumbered"/>
    <dgm:cxn modelId="{E10B5D26-9A26-4CB2-8FD5-325AB1330AA5}" type="presParOf" srcId="{ED8FB7B6-9F49-4729-9595-B59EE3C3E412}" destId="{D06558CC-95B6-4AFC-AABB-A4F9AC4BAE80}" srcOrd="1" destOrd="0" presId="urn:microsoft.com/office/officeart/2016/7/layout/LinearBlockProcessNumbered"/>
    <dgm:cxn modelId="{5FB5F3D7-EE0E-43B4-9A35-AE6A6C3EDF4F}" type="presParOf" srcId="{ED8FB7B6-9F49-4729-9595-B59EE3C3E412}" destId="{12BEE307-FC12-4A8F-8558-88479325D3C2}" srcOrd="2" destOrd="0" presId="urn:microsoft.com/office/officeart/2016/7/layout/LinearBlockProcessNumbered"/>
    <dgm:cxn modelId="{D852240A-032E-450F-ABF9-D8B6220A889D}" type="presParOf" srcId="{54626072-B539-4A41-B3A4-C1A71695422B}" destId="{708056E0-9A98-4C8B-9129-E3748C5D5E9C}" srcOrd="3" destOrd="0" presId="urn:microsoft.com/office/officeart/2016/7/layout/LinearBlockProcessNumbered"/>
    <dgm:cxn modelId="{32C2E79A-A230-4401-87AD-78CF5791CAF3}" type="presParOf" srcId="{54626072-B539-4A41-B3A4-C1A71695422B}" destId="{27040E43-EED8-433A-A69A-8BD262632BF9}" srcOrd="4" destOrd="0" presId="urn:microsoft.com/office/officeart/2016/7/layout/LinearBlockProcessNumbered"/>
    <dgm:cxn modelId="{D3AECECF-0175-4E5C-A2C1-BD45AE6A3527}" type="presParOf" srcId="{27040E43-EED8-433A-A69A-8BD262632BF9}" destId="{10F38A12-197F-4C64-9F26-D2683950D7AE}" srcOrd="0" destOrd="0" presId="urn:microsoft.com/office/officeart/2016/7/layout/LinearBlockProcessNumbered"/>
    <dgm:cxn modelId="{F37594A8-2315-478B-82CD-BE2DAA6D9866}" type="presParOf" srcId="{27040E43-EED8-433A-A69A-8BD262632BF9}" destId="{3F0E0674-B747-4346-9657-7FA69EEF86D3}" srcOrd="1" destOrd="0" presId="urn:microsoft.com/office/officeart/2016/7/layout/LinearBlockProcessNumbered"/>
    <dgm:cxn modelId="{C48B14CC-29E8-4874-A787-702A2DAB82A5}" type="presParOf" srcId="{27040E43-EED8-433A-A69A-8BD262632BF9}" destId="{0E70F154-7E37-402B-8554-4D5AED81A7CB}" srcOrd="2" destOrd="0" presId="urn:microsoft.com/office/officeart/2016/7/layout/LinearBlockProcessNumbered"/>
    <dgm:cxn modelId="{DFF6B0E6-D825-4BCC-9D3D-1C8869E1F170}" type="presParOf" srcId="{54626072-B539-4A41-B3A4-C1A71695422B}" destId="{1C57EB07-7529-4A86-8F14-E6233EF3D4F1}" srcOrd="5" destOrd="0" presId="urn:microsoft.com/office/officeart/2016/7/layout/LinearBlockProcessNumbered"/>
    <dgm:cxn modelId="{C7885262-0C6A-4183-BA06-993925916AFB}" type="presParOf" srcId="{54626072-B539-4A41-B3A4-C1A71695422B}" destId="{63FBE652-F849-4E38-B7EC-FB34E56C7C2F}" srcOrd="6" destOrd="0" presId="urn:microsoft.com/office/officeart/2016/7/layout/LinearBlockProcessNumbered"/>
    <dgm:cxn modelId="{579E9170-E124-4C63-8BA6-77969D5EC6FE}" type="presParOf" srcId="{63FBE652-F849-4E38-B7EC-FB34E56C7C2F}" destId="{D4B47D40-7E44-409E-B6D9-8B3500CB9B45}" srcOrd="0" destOrd="0" presId="urn:microsoft.com/office/officeart/2016/7/layout/LinearBlockProcessNumbered"/>
    <dgm:cxn modelId="{191E99AF-2FE1-4FF2-BAD9-7EF8A38B81F7}" type="presParOf" srcId="{63FBE652-F849-4E38-B7EC-FB34E56C7C2F}" destId="{6CA65682-DDB2-4539-86BE-A2D74E53A1D1}" srcOrd="1" destOrd="0" presId="urn:microsoft.com/office/officeart/2016/7/layout/LinearBlockProcessNumbered"/>
    <dgm:cxn modelId="{1E8497A0-F588-4C6D-B3D5-385EDDF7CC45}" type="presParOf" srcId="{63FBE652-F849-4E38-B7EC-FB34E56C7C2F}" destId="{AD37D0B8-E23C-4F6C-9B71-C3E2F7E69F60}"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17232A1-3881-46E5-BE13-962FC1535617}"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D40FF9B-1267-417D-9D05-A31B4B399FFD}">
      <dgm:prSet/>
      <dgm:spPr/>
      <dgm:t>
        <a:bodyPr/>
        <a:lstStyle/>
        <a:p>
          <a:pPr>
            <a:lnSpc>
              <a:spcPct val="100000"/>
            </a:lnSpc>
          </a:pPr>
          <a:r>
            <a:rPr lang="en-ID"/>
            <a:t>Keterbatasan Data: Kualitas dan akurasi data yang diperlukan untuk pengukuran kinerja bisa menjadi tantangan.</a:t>
          </a:r>
          <a:endParaRPr lang="en-US"/>
        </a:p>
      </dgm:t>
    </dgm:pt>
    <dgm:pt modelId="{5804CA11-3ECE-4831-8E53-FC118B9D6BD1}" type="parTrans" cxnId="{CA85E9B3-2290-4D4D-B2DA-355ADE44C5CA}">
      <dgm:prSet/>
      <dgm:spPr/>
      <dgm:t>
        <a:bodyPr/>
        <a:lstStyle/>
        <a:p>
          <a:endParaRPr lang="en-US"/>
        </a:p>
      </dgm:t>
    </dgm:pt>
    <dgm:pt modelId="{2C107F31-D043-4187-9B76-F588A678A4C2}" type="sibTrans" cxnId="{CA85E9B3-2290-4D4D-B2DA-355ADE44C5CA}">
      <dgm:prSet/>
      <dgm:spPr/>
      <dgm:t>
        <a:bodyPr/>
        <a:lstStyle/>
        <a:p>
          <a:endParaRPr lang="en-US"/>
        </a:p>
      </dgm:t>
    </dgm:pt>
    <dgm:pt modelId="{A01455EA-6374-4ED5-8DEF-C4E8628E52ED}">
      <dgm:prSet/>
      <dgm:spPr/>
      <dgm:t>
        <a:bodyPr/>
        <a:lstStyle/>
        <a:p>
          <a:pPr>
            <a:lnSpc>
              <a:spcPct val="100000"/>
            </a:lnSpc>
          </a:pPr>
          <a:r>
            <a:rPr lang="en-ID"/>
            <a:t>Kesulitan dalam Menentukan KPI yang Tepat: Memilih indikator yang relevan dengan tujuan bisnis dan rantai pasok.</a:t>
          </a:r>
          <a:endParaRPr lang="en-US"/>
        </a:p>
      </dgm:t>
    </dgm:pt>
    <dgm:pt modelId="{090E33F5-03EA-4AF3-B1C0-24922E0CFD46}" type="parTrans" cxnId="{AC8D745D-3744-42C5-9177-C657DB7574AE}">
      <dgm:prSet/>
      <dgm:spPr/>
      <dgm:t>
        <a:bodyPr/>
        <a:lstStyle/>
        <a:p>
          <a:endParaRPr lang="en-US"/>
        </a:p>
      </dgm:t>
    </dgm:pt>
    <dgm:pt modelId="{C1A2B0B4-E5C2-487B-8BD1-7C3551F0C19A}" type="sibTrans" cxnId="{AC8D745D-3744-42C5-9177-C657DB7574AE}">
      <dgm:prSet/>
      <dgm:spPr/>
      <dgm:t>
        <a:bodyPr/>
        <a:lstStyle/>
        <a:p>
          <a:endParaRPr lang="en-US"/>
        </a:p>
      </dgm:t>
    </dgm:pt>
    <dgm:pt modelId="{CB1BF2E1-CE7E-4425-B77F-8815398AFA27}">
      <dgm:prSet/>
      <dgm:spPr/>
      <dgm:t>
        <a:bodyPr/>
        <a:lstStyle/>
        <a:p>
          <a:pPr>
            <a:lnSpc>
              <a:spcPct val="100000"/>
            </a:lnSpc>
          </a:pPr>
          <a:r>
            <a:rPr lang="en-ID"/>
            <a:t>Pengaruh Faktor Eksternal: Perubahan pasar, cuaca, dan faktor lain yang memengaruhi kinerja.</a:t>
          </a:r>
          <a:endParaRPr lang="en-US"/>
        </a:p>
      </dgm:t>
    </dgm:pt>
    <dgm:pt modelId="{82DF5B92-C5AD-4645-B834-AB195C687BA9}" type="parTrans" cxnId="{207C6FF0-289B-466D-9AE4-D33FC469E376}">
      <dgm:prSet/>
      <dgm:spPr/>
      <dgm:t>
        <a:bodyPr/>
        <a:lstStyle/>
        <a:p>
          <a:endParaRPr lang="en-US"/>
        </a:p>
      </dgm:t>
    </dgm:pt>
    <dgm:pt modelId="{D3734842-85DA-4F72-A387-9852E04F8C0E}" type="sibTrans" cxnId="{207C6FF0-289B-466D-9AE4-D33FC469E376}">
      <dgm:prSet/>
      <dgm:spPr/>
      <dgm:t>
        <a:bodyPr/>
        <a:lstStyle/>
        <a:p>
          <a:endParaRPr lang="en-US"/>
        </a:p>
      </dgm:t>
    </dgm:pt>
    <dgm:pt modelId="{8F0F68BA-22E9-46B0-AB21-A5C2DE72F392}">
      <dgm:prSet/>
      <dgm:spPr/>
      <dgm:t>
        <a:bodyPr/>
        <a:lstStyle/>
        <a:p>
          <a:pPr>
            <a:lnSpc>
              <a:spcPct val="100000"/>
            </a:lnSpc>
          </a:pPr>
          <a:r>
            <a:rPr lang="en-ID"/>
            <a:t>Integrasi Sistem: Menyatukan data dan informasi dari berbagai sistem yang berbeda dalam rantai pasok</a:t>
          </a:r>
          <a:endParaRPr lang="en-US"/>
        </a:p>
      </dgm:t>
    </dgm:pt>
    <dgm:pt modelId="{86B56E62-E6C4-4151-8AD1-6A1AB0B0F233}" type="parTrans" cxnId="{83F5A840-E051-45D6-BCDC-ABC077266AB8}">
      <dgm:prSet/>
      <dgm:spPr/>
      <dgm:t>
        <a:bodyPr/>
        <a:lstStyle/>
        <a:p>
          <a:endParaRPr lang="en-US"/>
        </a:p>
      </dgm:t>
    </dgm:pt>
    <dgm:pt modelId="{54ACA973-B4CE-4CB0-84CC-08E97917394E}" type="sibTrans" cxnId="{83F5A840-E051-45D6-BCDC-ABC077266AB8}">
      <dgm:prSet/>
      <dgm:spPr/>
      <dgm:t>
        <a:bodyPr/>
        <a:lstStyle/>
        <a:p>
          <a:endParaRPr lang="en-US"/>
        </a:p>
      </dgm:t>
    </dgm:pt>
    <dgm:pt modelId="{C90D81DD-B9B6-40C6-B3F4-745242B4C818}" type="pres">
      <dgm:prSet presAssocID="{B17232A1-3881-46E5-BE13-962FC1535617}" presName="root" presStyleCnt="0">
        <dgm:presLayoutVars>
          <dgm:dir/>
          <dgm:resizeHandles val="exact"/>
        </dgm:presLayoutVars>
      </dgm:prSet>
      <dgm:spPr/>
    </dgm:pt>
    <dgm:pt modelId="{9E9FB3AB-AC3F-4F9A-A502-A2D00E815293}" type="pres">
      <dgm:prSet presAssocID="{5D40FF9B-1267-417D-9D05-A31B4B399FFD}" presName="compNode" presStyleCnt="0"/>
      <dgm:spPr/>
    </dgm:pt>
    <dgm:pt modelId="{FD8893D9-1E58-4BA7-B818-CEC63649D674}" type="pres">
      <dgm:prSet presAssocID="{5D40FF9B-1267-417D-9D05-A31B4B399FFD}" presName="bgRect" presStyleLbl="bgShp" presStyleIdx="0" presStyleCnt="4"/>
      <dgm:spPr/>
    </dgm:pt>
    <dgm:pt modelId="{461BAF55-B4D0-4AD0-83BE-84B6CF729D3C}" type="pres">
      <dgm:prSet presAssocID="{5D40FF9B-1267-417D-9D05-A31B4B399FF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tatistics"/>
        </a:ext>
      </dgm:extLst>
    </dgm:pt>
    <dgm:pt modelId="{902B1CF0-6B6D-4E06-8C1C-34E490E2A224}" type="pres">
      <dgm:prSet presAssocID="{5D40FF9B-1267-417D-9D05-A31B4B399FFD}" presName="spaceRect" presStyleCnt="0"/>
      <dgm:spPr/>
    </dgm:pt>
    <dgm:pt modelId="{BA0D9E07-E3FC-4707-91EC-51B3BC1D998E}" type="pres">
      <dgm:prSet presAssocID="{5D40FF9B-1267-417D-9D05-A31B4B399FFD}" presName="parTx" presStyleLbl="revTx" presStyleIdx="0" presStyleCnt="4">
        <dgm:presLayoutVars>
          <dgm:chMax val="0"/>
          <dgm:chPref val="0"/>
        </dgm:presLayoutVars>
      </dgm:prSet>
      <dgm:spPr/>
    </dgm:pt>
    <dgm:pt modelId="{36236F2D-BCB0-43E4-A66A-F0A929220D2D}" type="pres">
      <dgm:prSet presAssocID="{2C107F31-D043-4187-9B76-F588A678A4C2}" presName="sibTrans" presStyleCnt="0"/>
      <dgm:spPr/>
    </dgm:pt>
    <dgm:pt modelId="{5716019C-C135-4CCD-A1E3-53359F71C74B}" type="pres">
      <dgm:prSet presAssocID="{A01455EA-6374-4ED5-8DEF-C4E8628E52ED}" presName="compNode" presStyleCnt="0"/>
      <dgm:spPr/>
    </dgm:pt>
    <dgm:pt modelId="{01C7D04E-0A96-42B4-89B7-332665FDD1C2}" type="pres">
      <dgm:prSet presAssocID="{A01455EA-6374-4ED5-8DEF-C4E8628E52ED}" presName="bgRect" presStyleLbl="bgShp" presStyleIdx="1" presStyleCnt="4"/>
      <dgm:spPr/>
    </dgm:pt>
    <dgm:pt modelId="{01C38B95-A716-466F-B11B-4893A83D547B}" type="pres">
      <dgm:prSet presAssocID="{A01455EA-6374-4ED5-8DEF-C4E8628E52E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esentation with Checklist"/>
        </a:ext>
      </dgm:extLst>
    </dgm:pt>
    <dgm:pt modelId="{786754D6-A825-47E1-8336-538605C325A1}" type="pres">
      <dgm:prSet presAssocID="{A01455EA-6374-4ED5-8DEF-C4E8628E52ED}" presName="spaceRect" presStyleCnt="0"/>
      <dgm:spPr/>
    </dgm:pt>
    <dgm:pt modelId="{DF0641CB-FD4E-4933-8191-58636DD15934}" type="pres">
      <dgm:prSet presAssocID="{A01455EA-6374-4ED5-8DEF-C4E8628E52ED}" presName="parTx" presStyleLbl="revTx" presStyleIdx="1" presStyleCnt="4">
        <dgm:presLayoutVars>
          <dgm:chMax val="0"/>
          <dgm:chPref val="0"/>
        </dgm:presLayoutVars>
      </dgm:prSet>
      <dgm:spPr/>
    </dgm:pt>
    <dgm:pt modelId="{DD44B101-C8D4-4544-978E-7969B6DD0A9D}" type="pres">
      <dgm:prSet presAssocID="{C1A2B0B4-E5C2-487B-8BD1-7C3551F0C19A}" presName="sibTrans" presStyleCnt="0"/>
      <dgm:spPr/>
    </dgm:pt>
    <dgm:pt modelId="{9C2204CC-F9BC-4CE0-9172-307C8CCE156C}" type="pres">
      <dgm:prSet presAssocID="{CB1BF2E1-CE7E-4425-B77F-8815398AFA27}" presName="compNode" presStyleCnt="0"/>
      <dgm:spPr/>
    </dgm:pt>
    <dgm:pt modelId="{A10B6024-1FC4-4897-B984-C4F23F822C45}" type="pres">
      <dgm:prSet presAssocID="{CB1BF2E1-CE7E-4425-B77F-8815398AFA27}" presName="bgRect" presStyleLbl="bgShp" presStyleIdx="2" presStyleCnt="4"/>
      <dgm:spPr/>
    </dgm:pt>
    <dgm:pt modelId="{B53525D9-C3E0-4447-9CCA-0BE1C29F1D13}" type="pres">
      <dgm:prSet presAssocID="{CB1BF2E1-CE7E-4425-B77F-8815398AFA2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Quotes"/>
        </a:ext>
      </dgm:extLst>
    </dgm:pt>
    <dgm:pt modelId="{7D453802-B655-48BD-871E-59EA693CCD0B}" type="pres">
      <dgm:prSet presAssocID="{CB1BF2E1-CE7E-4425-B77F-8815398AFA27}" presName="spaceRect" presStyleCnt="0"/>
      <dgm:spPr/>
    </dgm:pt>
    <dgm:pt modelId="{E7A07696-A2E1-4BE8-A9CE-3095BE769A13}" type="pres">
      <dgm:prSet presAssocID="{CB1BF2E1-CE7E-4425-B77F-8815398AFA27}" presName="parTx" presStyleLbl="revTx" presStyleIdx="2" presStyleCnt="4">
        <dgm:presLayoutVars>
          <dgm:chMax val="0"/>
          <dgm:chPref val="0"/>
        </dgm:presLayoutVars>
      </dgm:prSet>
      <dgm:spPr/>
    </dgm:pt>
    <dgm:pt modelId="{906C8D00-1F35-4957-92CE-EA88B11E0633}" type="pres">
      <dgm:prSet presAssocID="{D3734842-85DA-4F72-A387-9852E04F8C0E}" presName="sibTrans" presStyleCnt="0"/>
      <dgm:spPr/>
    </dgm:pt>
    <dgm:pt modelId="{4A023EF9-10DC-498D-9198-B002DB95BF2B}" type="pres">
      <dgm:prSet presAssocID="{8F0F68BA-22E9-46B0-AB21-A5C2DE72F392}" presName="compNode" presStyleCnt="0"/>
      <dgm:spPr/>
    </dgm:pt>
    <dgm:pt modelId="{97FC244B-A988-42E8-8CB8-5BE48D41C3C9}" type="pres">
      <dgm:prSet presAssocID="{8F0F68BA-22E9-46B0-AB21-A5C2DE72F392}" presName="bgRect" presStyleLbl="bgShp" presStyleIdx="3" presStyleCnt="4"/>
      <dgm:spPr/>
    </dgm:pt>
    <dgm:pt modelId="{B7830055-9AF5-4510-B434-CB11332CE5FC}" type="pres">
      <dgm:prSet presAssocID="{8F0F68BA-22E9-46B0-AB21-A5C2DE72F39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omputer"/>
        </a:ext>
      </dgm:extLst>
    </dgm:pt>
    <dgm:pt modelId="{B75FF57E-6971-4778-B0BB-3CA1137E0CB0}" type="pres">
      <dgm:prSet presAssocID="{8F0F68BA-22E9-46B0-AB21-A5C2DE72F392}" presName="spaceRect" presStyleCnt="0"/>
      <dgm:spPr/>
    </dgm:pt>
    <dgm:pt modelId="{DA6581A8-31C6-49D3-B5A4-E7A1B5AD4200}" type="pres">
      <dgm:prSet presAssocID="{8F0F68BA-22E9-46B0-AB21-A5C2DE72F392}" presName="parTx" presStyleLbl="revTx" presStyleIdx="3" presStyleCnt="4">
        <dgm:presLayoutVars>
          <dgm:chMax val="0"/>
          <dgm:chPref val="0"/>
        </dgm:presLayoutVars>
      </dgm:prSet>
      <dgm:spPr/>
    </dgm:pt>
  </dgm:ptLst>
  <dgm:cxnLst>
    <dgm:cxn modelId="{83F5A840-E051-45D6-BCDC-ABC077266AB8}" srcId="{B17232A1-3881-46E5-BE13-962FC1535617}" destId="{8F0F68BA-22E9-46B0-AB21-A5C2DE72F392}" srcOrd="3" destOrd="0" parTransId="{86B56E62-E6C4-4151-8AD1-6A1AB0B0F233}" sibTransId="{54ACA973-B4CE-4CB0-84CC-08E97917394E}"/>
    <dgm:cxn modelId="{AC8D745D-3744-42C5-9177-C657DB7574AE}" srcId="{B17232A1-3881-46E5-BE13-962FC1535617}" destId="{A01455EA-6374-4ED5-8DEF-C4E8628E52ED}" srcOrd="1" destOrd="0" parTransId="{090E33F5-03EA-4AF3-B1C0-24922E0CFD46}" sibTransId="{C1A2B0B4-E5C2-487B-8BD1-7C3551F0C19A}"/>
    <dgm:cxn modelId="{8C215662-7478-4D59-8826-23D3078DF0C1}" type="presOf" srcId="{CB1BF2E1-CE7E-4425-B77F-8815398AFA27}" destId="{E7A07696-A2E1-4BE8-A9CE-3095BE769A13}" srcOrd="0" destOrd="0" presId="urn:microsoft.com/office/officeart/2018/2/layout/IconVerticalSolidList"/>
    <dgm:cxn modelId="{A31C676D-5E4F-4348-8EEA-353DE9DF9A59}" type="presOf" srcId="{5D40FF9B-1267-417D-9D05-A31B4B399FFD}" destId="{BA0D9E07-E3FC-4707-91EC-51B3BC1D998E}" srcOrd="0" destOrd="0" presId="urn:microsoft.com/office/officeart/2018/2/layout/IconVerticalSolidList"/>
    <dgm:cxn modelId="{CF1947A4-84EC-4C21-90D0-B984D91E9887}" type="presOf" srcId="{B17232A1-3881-46E5-BE13-962FC1535617}" destId="{C90D81DD-B9B6-40C6-B3F4-745242B4C818}" srcOrd="0" destOrd="0" presId="urn:microsoft.com/office/officeart/2018/2/layout/IconVerticalSolidList"/>
    <dgm:cxn modelId="{CA85E9B3-2290-4D4D-B2DA-355ADE44C5CA}" srcId="{B17232A1-3881-46E5-BE13-962FC1535617}" destId="{5D40FF9B-1267-417D-9D05-A31B4B399FFD}" srcOrd="0" destOrd="0" parTransId="{5804CA11-3ECE-4831-8E53-FC118B9D6BD1}" sibTransId="{2C107F31-D043-4187-9B76-F588A678A4C2}"/>
    <dgm:cxn modelId="{DE7339DA-58A0-4CA4-8C68-DB778F2431BC}" type="presOf" srcId="{A01455EA-6374-4ED5-8DEF-C4E8628E52ED}" destId="{DF0641CB-FD4E-4933-8191-58636DD15934}" srcOrd="0" destOrd="0" presId="urn:microsoft.com/office/officeart/2018/2/layout/IconVerticalSolidList"/>
    <dgm:cxn modelId="{207C6FF0-289B-466D-9AE4-D33FC469E376}" srcId="{B17232A1-3881-46E5-BE13-962FC1535617}" destId="{CB1BF2E1-CE7E-4425-B77F-8815398AFA27}" srcOrd="2" destOrd="0" parTransId="{82DF5B92-C5AD-4645-B834-AB195C687BA9}" sibTransId="{D3734842-85DA-4F72-A387-9852E04F8C0E}"/>
    <dgm:cxn modelId="{71F2F2FE-10F1-4D1A-A20B-8F8E8DCA58C9}" type="presOf" srcId="{8F0F68BA-22E9-46B0-AB21-A5C2DE72F392}" destId="{DA6581A8-31C6-49D3-B5A4-E7A1B5AD4200}" srcOrd="0" destOrd="0" presId="urn:microsoft.com/office/officeart/2018/2/layout/IconVerticalSolidList"/>
    <dgm:cxn modelId="{F9194548-0081-45A8-878E-8D5CB6887256}" type="presParOf" srcId="{C90D81DD-B9B6-40C6-B3F4-745242B4C818}" destId="{9E9FB3AB-AC3F-4F9A-A502-A2D00E815293}" srcOrd="0" destOrd="0" presId="urn:microsoft.com/office/officeart/2018/2/layout/IconVerticalSolidList"/>
    <dgm:cxn modelId="{C2B95761-6297-411F-A993-42A5A60DC79C}" type="presParOf" srcId="{9E9FB3AB-AC3F-4F9A-A502-A2D00E815293}" destId="{FD8893D9-1E58-4BA7-B818-CEC63649D674}" srcOrd="0" destOrd="0" presId="urn:microsoft.com/office/officeart/2018/2/layout/IconVerticalSolidList"/>
    <dgm:cxn modelId="{61BDDB63-7431-4917-A15C-3324B31EA861}" type="presParOf" srcId="{9E9FB3AB-AC3F-4F9A-A502-A2D00E815293}" destId="{461BAF55-B4D0-4AD0-83BE-84B6CF729D3C}" srcOrd="1" destOrd="0" presId="urn:microsoft.com/office/officeart/2018/2/layout/IconVerticalSolidList"/>
    <dgm:cxn modelId="{475E9BB3-1C94-41C8-A7E1-6CA942910A03}" type="presParOf" srcId="{9E9FB3AB-AC3F-4F9A-A502-A2D00E815293}" destId="{902B1CF0-6B6D-4E06-8C1C-34E490E2A224}" srcOrd="2" destOrd="0" presId="urn:microsoft.com/office/officeart/2018/2/layout/IconVerticalSolidList"/>
    <dgm:cxn modelId="{C248053E-E5F7-40D1-AF4C-6D81F252ACFA}" type="presParOf" srcId="{9E9FB3AB-AC3F-4F9A-A502-A2D00E815293}" destId="{BA0D9E07-E3FC-4707-91EC-51B3BC1D998E}" srcOrd="3" destOrd="0" presId="urn:microsoft.com/office/officeart/2018/2/layout/IconVerticalSolidList"/>
    <dgm:cxn modelId="{07ACF928-8E58-481E-9354-387246688176}" type="presParOf" srcId="{C90D81DD-B9B6-40C6-B3F4-745242B4C818}" destId="{36236F2D-BCB0-43E4-A66A-F0A929220D2D}" srcOrd="1" destOrd="0" presId="urn:microsoft.com/office/officeart/2018/2/layout/IconVerticalSolidList"/>
    <dgm:cxn modelId="{9D78B3ED-0A4F-4CDB-80F6-A628869AAC13}" type="presParOf" srcId="{C90D81DD-B9B6-40C6-B3F4-745242B4C818}" destId="{5716019C-C135-4CCD-A1E3-53359F71C74B}" srcOrd="2" destOrd="0" presId="urn:microsoft.com/office/officeart/2018/2/layout/IconVerticalSolidList"/>
    <dgm:cxn modelId="{85B6725E-66B9-47AE-8477-DFD89D22E8A6}" type="presParOf" srcId="{5716019C-C135-4CCD-A1E3-53359F71C74B}" destId="{01C7D04E-0A96-42B4-89B7-332665FDD1C2}" srcOrd="0" destOrd="0" presId="urn:microsoft.com/office/officeart/2018/2/layout/IconVerticalSolidList"/>
    <dgm:cxn modelId="{75CC9864-51B6-40CC-8D26-1DE01D1E0424}" type="presParOf" srcId="{5716019C-C135-4CCD-A1E3-53359F71C74B}" destId="{01C38B95-A716-466F-B11B-4893A83D547B}" srcOrd="1" destOrd="0" presId="urn:microsoft.com/office/officeart/2018/2/layout/IconVerticalSolidList"/>
    <dgm:cxn modelId="{2BC73DB3-3B12-47E7-A4B6-A1307C3D01F6}" type="presParOf" srcId="{5716019C-C135-4CCD-A1E3-53359F71C74B}" destId="{786754D6-A825-47E1-8336-538605C325A1}" srcOrd="2" destOrd="0" presId="urn:microsoft.com/office/officeart/2018/2/layout/IconVerticalSolidList"/>
    <dgm:cxn modelId="{8CBF01E1-FED0-44C3-8008-B11A65145DC3}" type="presParOf" srcId="{5716019C-C135-4CCD-A1E3-53359F71C74B}" destId="{DF0641CB-FD4E-4933-8191-58636DD15934}" srcOrd="3" destOrd="0" presId="urn:microsoft.com/office/officeart/2018/2/layout/IconVerticalSolidList"/>
    <dgm:cxn modelId="{E0294A75-B764-48EC-9907-271C0D65C563}" type="presParOf" srcId="{C90D81DD-B9B6-40C6-B3F4-745242B4C818}" destId="{DD44B101-C8D4-4544-978E-7969B6DD0A9D}" srcOrd="3" destOrd="0" presId="urn:microsoft.com/office/officeart/2018/2/layout/IconVerticalSolidList"/>
    <dgm:cxn modelId="{080BBAB6-CC50-408B-BA2D-D78E59BD6371}" type="presParOf" srcId="{C90D81DD-B9B6-40C6-B3F4-745242B4C818}" destId="{9C2204CC-F9BC-4CE0-9172-307C8CCE156C}" srcOrd="4" destOrd="0" presId="urn:microsoft.com/office/officeart/2018/2/layout/IconVerticalSolidList"/>
    <dgm:cxn modelId="{C7278015-3B62-4E07-A9F2-F69D40A36AA7}" type="presParOf" srcId="{9C2204CC-F9BC-4CE0-9172-307C8CCE156C}" destId="{A10B6024-1FC4-4897-B984-C4F23F822C45}" srcOrd="0" destOrd="0" presId="urn:microsoft.com/office/officeart/2018/2/layout/IconVerticalSolidList"/>
    <dgm:cxn modelId="{26EFF93C-0987-4CAD-B821-1FD8D5742566}" type="presParOf" srcId="{9C2204CC-F9BC-4CE0-9172-307C8CCE156C}" destId="{B53525D9-C3E0-4447-9CCA-0BE1C29F1D13}" srcOrd="1" destOrd="0" presId="urn:microsoft.com/office/officeart/2018/2/layout/IconVerticalSolidList"/>
    <dgm:cxn modelId="{3F968A9F-7574-4198-8A22-BE740E0D4D3C}" type="presParOf" srcId="{9C2204CC-F9BC-4CE0-9172-307C8CCE156C}" destId="{7D453802-B655-48BD-871E-59EA693CCD0B}" srcOrd="2" destOrd="0" presId="urn:microsoft.com/office/officeart/2018/2/layout/IconVerticalSolidList"/>
    <dgm:cxn modelId="{A662A75D-0907-41B7-B3CF-B7187755BF40}" type="presParOf" srcId="{9C2204CC-F9BC-4CE0-9172-307C8CCE156C}" destId="{E7A07696-A2E1-4BE8-A9CE-3095BE769A13}" srcOrd="3" destOrd="0" presId="urn:microsoft.com/office/officeart/2018/2/layout/IconVerticalSolidList"/>
    <dgm:cxn modelId="{0C30E832-20FD-4207-B0AE-BD11425812AB}" type="presParOf" srcId="{C90D81DD-B9B6-40C6-B3F4-745242B4C818}" destId="{906C8D00-1F35-4957-92CE-EA88B11E0633}" srcOrd="5" destOrd="0" presId="urn:microsoft.com/office/officeart/2018/2/layout/IconVerticalSolidList"/>
    <dgm:cxn modelId="{5407C2A4-D4C7-46F7-AD97-4EAC22CEE39B}" type="presParOf" srcId="{C90D81DD-B9B6-40C6-B3F4-745242B4C818}" destId="{4A023EF9-10DC-498D-9198-B002DB95BF2B}" srcOrd="6" destOrd="0" presId="urn:microsoft.com/office/officeart/2018/2/layout/IconVerticalSolidList"/>
    <dgm:cxn modelId="{8A68AC5E-F88E-463D-A907-5832E0A276CA}" type="presParOf" srcId="{4A023EF9-10DC-498D-9198-B002DB95BF2B}" destId="{97FC244B-A988-42E8-8CB8-5BE48D41C3C9}" srcOrd="0" destOrd="0" presId="urn:microsoft.com/office/officeart/2018/2/layout/IconVerticalSolidList"/>
    <dgm:cxn modelId="{76FEDB7B-9DBC-47C8-BE4F-887F364EDB19}" type="presParOf" srcId="{4A023EF9-10DC-498D-9198-B002DB95BF2B}" destId="{B7830055-9AF5-4510-B434-CB11332CE5FC}" srcOrd="1" destOrd="0" presId="urn:microsoft.com/office/officeart/2018/2/layout/IconVerticalSolidList"/>
    <dgm:cxn modelId="{FF118C08-A982-4364-9E03-274C6CF7C776}" type="presParOf" srcId="{4A023EF9-10DC-498D-9198-B002DB95BF2B}" destId="{B75FF57E-6971-4778-B0BB-3CA1137E0CB0}" srcOrd="2" destOrd="0" presId="urn:microsoft.com/office/officeart/2018/2/layout/IconVerticalSolidList"/>
    <dgm:cxn modelId="{1D5C8052-6887-4AD4-A6A5-9B5C4C5504A8}" type="presParOf" srcId="{4A023EF9-10DC-498D-9198-B002DB95BF2B}" destId="{DA6581A8-31C6-49D3-B5A4-E7A1B5AD420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C40D8F0-0EE6-42F0-A84F-E5FD968C5B52}"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DE80DE61-D5DB-4F40-B262-3ECA1A4A0CEA}">
      <dgm:prSet/>
      <dgm:spPr/>
      <dgm:t>
        <a:bodyPr/>
        <a:lstStyle/>
        <a:p>
          <a:r>
            <a:rPr lang="en-ID"/>
            <a:t>Contoh perusahaan (misalnya perusahaan manufaktur atau retail) yang mengimplementasikan framework atau KPI untuk mengukur kinerja rantai pasok.</a:t>
          </a:r>
          <a:endParaRPr lang="en-US"/>
        </a:p>
      </dgm:t>
    </dgm:pt>
    <dgm:pt modelId="{B5A3AD26-108E-467C-A74F-14D4238CA49B}" type="parTrans" cxnId="{18969A98-26D8-429B-BA0B-2A3459E9887B}">
      <dgm:prSet/>
      <dgm:spPr/>
      <dgm:t>
        <a:bodyPr/>
        <a:lstStyle/>
        <a:p>
          <a:endParaRPr lang="en-US"/>
        </a:p>
      </dgm:t>
    </dgm:pt>
    <dgm:pt modelId="{308CF851-E894-4261-9173-0EA1247C7875}" type="sibTrans" cxnId="{18969A98-26D8-429B-BA0B-2A3459E9887B}">
      <dgm:prSet/>
      <dgm:spPr/>
      <dgm:t>
        <a:bodyPr/>
        <a:lstStyle/>
        <a:p>
          <a:endParaRPr lang="en-US"/>
        </a:p>
      </dgm:t>
    </dgm:pt>
    <dgm:pt modelId="{0536CE63-483F-4B1A-B3C5-7EBE62CBFBC5}">
      <dgm:prSet/>
      <dgm:spPr/>
      <dgm:t>
        <a:bodyPr/>
        <a:lstStyle/>
        <a:p>
          <a:r>
            <a:rPr lang="en-ID"/>
            <a:t>Hasil yang dicapai: peningkatan efisiensi, pengurangan biaya, peningkatan kepuasan pelanggan, dan waktu pengiriman.</a:t>
          </a:r>
          <a:endParaRPr lang="en-US"/>
        </a:p>
      </dgm:t>
    </dgm:pt>
    <dgm:pt modelId="{4EC317A9-C806-4BC3-9DB6-DB9E52E5FC50}" type="parTrans" cxnId="{17E9B112-2AE9-4049-9D17-8832B625D8F8}">
      <dgm:prSet/>
      <dgm:spPr/>
      <dgm:t>
        <a:bodyPr/>
        <a:lstStyle/>
        <a:p>
          <a:endParaRPr lang="en-US"/>
        </a:p>
      </dgm:t>
    </dgm:pt>
    <dgm:pt modelId="{684DE5E2-9A69-46CD-BA91-47844C0A7FA4}" type="sibTrans" cxnId="{17E9B112-2AE9-4049-9D17-8832B625D8F8}">
      <dgm:prSet/>
      <dgm:spPr/>
      <dgm:t>
        <a:bodyPr/>
        <a:lstStyle/>
        <a:p>
          <a:endParaRPr lang="en-US"/>
        </a:p>
      </dgm:t>
    </dgm:pt>
    <dgm:pt modelId="{F5C634E3-1AEB-4B9F-9AA0-9E103A60E794}" type="pres">
      <dgm:prSet presAssocID="{0C40D8F0-0EE6-42F0-A84F-E5FD968C5B52}" presName="hierChild1" presStyleCnt="0">
        <dgm:presLayoutVars>
          <dgm:chPref val="1"/>
          <dgm:dir/>
          <dgm:animOne val="branch"/>
          <dgm:animLvl val="lvl"/>
          <dgm:resizeHandles/>
        </dgm:presLayoutVars>
      </dgm:prSet>
      <dgm:spPr/>
    </dgm:pt>
    <dgm:pt modelId="{A032774F-AE2E-4066-9AF7-F9284A50E9FF}" type="pres">
      <dgm:prSet presAssocID="{DE80DE61-D5DB-4F40-B262-3ECA1A4A0CEA}" presName="hierRoot1" presStyleCnt="0"/>
      <dgm:spPr/>
    </dgm:pt>
    <dgm:pt modelId="{D9DE30A7-D363-4165-B9D5-4F9D95661B89}" type="pres">
      <dgm:prSet presAssocID="{DE80DE61-D5DB-4F40-B262-3ECA1A4A0CEA}" presName="composite" presStyleCnt="0"/>
      <dgm:spPr/>
    </dgm:pt>
    <dgm:pt modelId="{BD9CFB56-16ED-4F86-85F3-3166B3CE0EDC}" type="pres">
      <dgm:prSet presAssocID="{DE80DE61-D5DB-4F40-B262-3ECA1A4A0CEA}" presName="background" presStyleLbl="node0" presStyleIdx="0" presStyleCnt="2"/>
      <dgm:spPr/>
    </dgm:pt>
    <dgm:pt modelId="{C6441F4D-0B83-4426-B110-7707F6D32C31}" type="pres">
      <dgm:prSet presAssocID="{DE80DE61-D5DB-4F40-B262-3ECA1A4A0CEA}" presName="text" presStyleLbl="fgAcc0" presStyleIdx="0" presStyleCnt="2">
        <dgm:presLayoutVars>
          <dgm:chPref val="3"/>
        </dgm:presLayoutVars>
      </dgm:prSet>
      <dgm:spPr/>
    </dgm:pt>
    <dgm:pt modelId="{E333506C-4E14-4CD1-8C63-FF8FD6AB1FD2}" type="pres">
      <dgm:prSet presAssocID="{DE80DE61-D5DB-4F40-B262-3ECA1A4A0CEA}" presName="hierChild2" presStyleCnt="0"/>
      <dgm:spPr/>
    </dgm:pt>
    <dgm:pt modelId="{85912263-51AD-414E-8663-E37FBB592280}" type="pres">
      <dgm:prSet presAssocID="{0536CE63-483F-4B1A-B3C5-7EBE62CBFBC5}" presName="hierRoot1" presStyleCnt="0"/>
      <dgm:spPr/>
    </dgm:pt>
    <dgm:pt modelId="{0018A312-A465-4CFD-BC8D-09401A66D5CB}" type="pres">
      <dgm:prSet presAssocID="{0536CE63-483F-4B1A-B3C5-7EBE62CBFBC5}" presName="composite" presStyleCnt="0"/>
      <dgm:spPr/>
    </dgm:pt>
    <dgm:pt modelId="{201F1DF8-9CF7-463D-96D5-02562ED83A11}" type="pres">
      <dgm:prSet presAssocID="{0536CE63-483F-4B1A-B3C5-7EBE62CBFBC5}" presName="background" presStyleLbl="node0" presStyleIdx="1" presStyleCnt="2"/>
      <dgm:spPr/>
    </dgm:pt>
    <dgm:pt modelId="{D0775217-770E-43AA-A3F4-1FACD10BD632}" type="pres">
      <dgm:prSet presAssocID="{0536CE63-483F-4B1A-B3C5-7EBE62CBFBC5}" presName="text" presStyleLbl="fgAcc0" presStyleIdx="1" presStyleCnt="2">
        <dgm:presLayoutVars>
          <dgm:chPref val="3"/>
        </dgm:presLayoutVars>
      </dgm:prSet>
      <dgm:spPr/>
    </dgm:pt>
    <dgm:pt modelId="{D1BA98C8-A517-438C-853B-F7B2D92EE3ED}" type="pres">
      <dgm:prSet presAssocID="{0536CE63-483F-4B1A-B3C5-7EBE62CBFBC5}" presName="hierChild2" presStyleCnt="0"/>
      <dgm:spPr/>
    </dgm:pt>
  </dgm:ptLst>
  <dgm:cxnLst>
    <dgm:cxn modelId="{17E9B112-2AE9-4049-9D17-8832B625D8F8}" srcId="{0C40D8F0-0EE6-42F0-A84F-E5FD968C5B52}" destId="{0536CE63-483F-4B1A-B3C5-7EBE62CBFBC5}" srcOrd="1" destOrd="0" parTransId="{4EC317A9-C806-4BC3-9DB6-DB9E52E5FC50}" sibTransId="{684DE5E2-9A69-46CD-BA91-47844C0A7FA4}"/>
    <dgm:cxn modelId="{A4158280-9D39-4FD1-A02A-08F72A01B9F3}" type="presOf" srcId="{DE80DE61-D5DB-4F40-B262-3ECA1A4A0CEA}" destId="{C6441F4D-0B83-4426-B110-7707F6D32C31}" srcOrd="0" destOrd="0" presId="urn:microsoft.com/office/officeart/2005/8/layout/hierarchy1"/>
    <dgm:cxn modelId="{32DC4094-4EFB-4820-BE8E-71750CD2F1EB}" type="presOf" srcId="{0C40D8F0-0EE6-42F0-A84F-E5FD968C5B52}" destId="{F5C634E3-1AEB-4B9F-9AA0-9E103A60E794}" srcOrd="0" destOrd="0" presId="urn:microsoft.com/office/officeart/2005/8/layout/hierarchy1"/>
    <dgm:cxn modelId="{18969A98-26D8-429B-BA0B-2A3459E9887B}" srcId="{0C40D8F0-0EE6-42F0-A84F-E5FD968C5B52}" destId="{DE80DE61-D5DB-4F40-B262-3ECA1A4A0CEA}" srcOrd="0" destOrd="0" parTransId="{B5A3AD26-108E-467C-A74F-14D4238CA49B}" sibTransId="{308CF851-E894-4261-9173-0EA1247C7875}"/>
    <dgm:cxn modelId="{6B15ACD0-7DED-4D75-97B0-22510653DCA2}" type="presOf" srcId="{0536CE63-483F-4B1A-B3C5-7EBE62CBFBC5}" destId="{D0775217-770E-43AA-A3F4-1FACD10BD632}" srcOrd="0" destOrd="0" presId="urn:microsoft.com/office/officeart/2005/8/layout/hierarchy1"/>
    <dgm:cxn modelId="{BA774A1B-2910-482D-9B1F-174196377339}" type="presParOf" srcId="{F5C634E3-1AEB-4B9F-9AA0-9E103A60E794}" destId="{A032774F-AE2E-4066-9AF7-F9284A50E9FF}" srcOrd="0" destOrd="0" presId="urn:microsoft.com/office/officeart/2005/8/layout/hierarchy1"/>
    <dgm:cxn modelId="{273BD1D2-B8EE-449E-A837-B12AE7B2EF1D}" type="presParOf" srcId="{A032774F-AE2E-4066-9AF7-F9284A50E9FF}" destId="{D9DE30A7-D363-4165-B9D5-4F9D95661B89}" srcOrd="0" destOrd="0" presId="urn:microsoft.com/office/officeart/2005/8/layout/hierarchy1"/>
    <dgm:cxn modelId="{FDC1EC93-1AEE-4B9C-8494-EDB8EAC969FD}" type="presParOf" srcId="{D9DE30A7-D363-4165-B9D5-4F9D95661B89}" destId="{BD9CFB56-16ED-4F86-85F3-3166B3CE0EDC}" srcOrd="0" destOrd="0" presId="urn:microsoft.com/office/officeart/2005/8/layout/hierarchy1"/>
    <dgm:cxn modelId="{ABE8F5D4-A733-4B62-8FCD-64E3DA4A5548}" type="presParOf" srcId="{D9DE30A7-D363-4165-B9D5-4F9D95661B89}" destId="{C6441F4D-0B83-4426-B110-7707F6D32C31}" srcOrd="1" destOrd="0" presId="urn:microsoft.com/office/officeart/2005/8/layout/hierarchy1"/>
    <dgm:cxn modelId="{E57EFAC8-BF30-47E9-AF73-641C300339C1}" type="presParOf" srcId="{A032774F-AE2E-4066-9AF7-F9284A50E9FF}" destId="{E333506C-4E14-4CD1-8C63-FF8FD6AB1FD2}" srcOrd="1" destOrd="0" presId="urn:microsoft.com/office/officeart/2005/8/layout/hierarchy1"/>
    <dgm:cxn modelId="{A230C961-FA75-491D-85A8-6DF7B42DDBC3}" type="presParOf" srcId="{F5C634E3-1AEB-4B9F-9AA0-9E103A60E794}" destId="{85912263-51AD-414E-8663-E37FBB592280}" srcOrd="1" destOrd="0" presId="urn:microsoft.com/office/officeart/2005/8/layout/hierarchy1"/>
    <dgm:cxn modelId="{1A773C41-6233-4143-A0FE-448804480A30}" type="presParOf" srcId="{85912263-51AD-414E-8663-E37FBB592280}" destId="{0018A312-A465-4CFD-BC8D-09401A66D5CB}" srcOrd="0" destOrd="0" presId="urn:microsoft.com/office/officeart/2005/8/layout/hierarchy1"/>
    <dgm:cxn modelId="{31F89759-15EB-4AC6-AA42-867C08D3B746}" type="presParOf" srcId="{0018A312-A465-4CFD-BC8D-09401A66D5CB}" destId="{201F1DF8-9CF7-463D-96D5-02562ED83A11}" srcOrd="0" destOrd="0" presId="urn:microsoft.com/office/officeart/2005/8/layout/hierarchy1"/>
    <dgm:cxn modelId="{4F428961-2443-4CBD-A873-7E7AA35B4701}" type="presParOf" srcId="{0018A312-A465-4CFD-BC8D-09401A66D5CB}" destId="{D0775217-770E-43AA-A3F4-1FACD10BD632}" srcOrd="1" destOrd="0" presId="urn:microsoft.com/office/officeart/2005/8/layout/hierarchy1"/>
    <dgm:cxn modelId="{7F64D08A-0201-4AC5-9865-28505A554755}" type="presParOf" srcId="{85912263-51AD-414E-8663-E37FBB592280}" destId="{D1BA98C8-A517-438C-853B-F7B2D92EE3ED}"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707EE15-6FCD-4F73-AF6E-1A21AE654506}"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51F9C4FA-52C7-485A-85CB-16A62C97189F}">
      <dgm:prSet/>
      <dgm:spPr/>
      <dgm:t>
        <a:bodyPr/>
        <a:lstStyle/>
        <a:p>
          <a:r>
            <a:rPr lang="en-ID"/>
            <a:t>Pengukuran kinerja SCM penting untuk mengidentifikasi kekuatan dan kelemahan dalam rantai pasok.</a:t>
          </a:r>
          <a:endParaRPr lang="en-US"/>
        </a:p>
      </dgm:t>
    </dgm:pt>
    <dgm:pt modelId="{7D267491-6FB2-48C7-B604-4DF6AAF32E88}" type="parTrans" cxnId="{DF4219DF-D33B-4354-BC1D-73844B59BF27}">
      <dgm:prSet/>
      <dgm:spPr/>
      <dgm:t>
        <a:bodyPr/>
        <a:lstStyle/>
        <a:p>
          <a:endParaRPr lang="en-US"/>
        </a:p>
      </dgm:t>
    </dgm:pt>
    <dgm:pt modelId="{150CD36D-507A-4F2A-9A05-C3B5F2396A2E}" type="sibTrans" cxnId="{DF4219DF-D33B-4354-BC1D-73844B59BF27}">
      <dgm:prSet/>
      <dgm:spPr/>
      <dgm:t>
        <a:bodyPr/>
        <a:lstStyle/>
        <a:p>
          <a:endParaRPr lang="en-US"/>
        </a:p>
      </dgm:t>
    </dgm:pt>
    <dgm:pt modelId="{DA21E157-A6CE-4BB9-A0AC-6E24C61B1211}">
      <dgm:prSet/>
      <dgm:spPr/>
      <dgm:t>
        <a:bodyPr/>
        <a:lstStyle/>
        <a:p>
          <a:r>
            <a:rPr lang="en-ID"/>
            <a:t>Penggunaan KPI yang tepat dan alat pengukuran dapat membantu mencapai tujuan efisiensi dan efektivitas.</a:t>
          </a:r>
          <a:endParaRPr lang="en-US"/>
        </a:p>
      </dgm:t>
    </dgm:pt>
    <dgm:pt modelId="{A6059A4F-EC38-416C-AA8A-608FAD80CDB9}" type="parTrans" cxnId="{B8452158-823D-4992-9E52-481CDF548EF8}">
      <dgm:prSet/>
      <dgm:spPr/>
      <dgm:t>
        <a:bodyPr/>
        <a:lstStyle/>
        <a:p>
          <a:endParaRPr lang="en-US"/>
        </a:p>
      </dgm:t>
    </dgm:pt>
    <dgm:pt modelId="{368F14A0-EC18-4634-BC04-30C711B318E0}" type="sibTrans" cxnId="{B8452158-823D-4992-9E52-481CDF548EF8}">
      <dgm:prSet/>
      <dgm:spPr/>
      <dgm:t>
        <a:bodyPr/>
        <a:lstStyle/>
        <a:p>
          <a:endParaRPr lang="en-US"/>
        </a:p>
      </dgm:t>
    </dgm:pt>
    <dgm:pt modelId="{82CB4265-6DE4-4706-9B44-3FC19E848B7F}">
      <dgm:prSet/>
      <dgm:spPr/>
      <dgm:t>
        <a:bodyPr/>
        <a:lstStyle/>
        <a:p>
          <a:r>
            <a:rPr lang="en-ID"/>
            <a:t>Rekomendasi: Berinvestasi dalam teknologi dan pelatihan untuk meningkatkan kemampuan pengukuran kinerja di seluruh rantai pasok.</a:t>
          </a:r>
          <a:endParaRPr lang="en-US"/>
        </a:p>
      </dgm:t>
    </dgm:pt>
    <dgm:pt modelId="{F70623E4-8DEF-4878-A7B5-C5D0D0E2829C}" type="parTrans" cxnId="{03E36B40-AB48-44C4-B3A8-A37B822B4F38}">
      <dgm:prSet/>
      <dgm:spPr/>
      <dgm:t>
        <a:bodyPr/>
        <a:lstStyle/>
        <a:p>
          <a:endParaRPr lang="en-US"/>
        </a:p>
      </dgm:t>
    </dgm:pt>
    <dgm:pt modelId="{834ADCF9-7873-44CD-8183-ED2098A8D6C7}" type="sibTrans" cxnId="{03E36B40-AB48-44C4-B3A8-A37B822B4F38}">
      <dgm:prSet/>
      <dgm:spPr/>
      <dgm:t>
        <a:bodyPr/>
        <a:lstStyle/>
        <a:p>
          <a:endParaRPr lang="en-US"/>
        </a:p>
      </dgm:t>
    </dgm:pt>
    <dgm:pt modelId="{78CDE4A0-DFE4-4F2A-BFF0-81B73E4FD7A6}" type="pres">
      <dgm:prSet presAssocID="{C707EE15-6FCD-4F73-AF6E-1A21AE654506}" presName="linear" presStyleCnt="0">
        <dgm:presLayoutVars>
          <dgm:animLvl val="lvl"/>
          <dgm:resizeHandles val="exact"/>
        </dgm:presLayoutVars>
      </dgm:prSet>
      <dgm:spPr/>
    </dgm:pt>
    <dgm:pt modelId="{3CD30F48-0B32-4CF1-85E9-F180677D0A4C}" type="pres">
      <dgm:prSet presAssocID="{51F9C4FA-52C7-485A-85CB-16A62C97189F}" presName="parentText" presStyleLbl="node1" presStyleIdx="0" presStyleCnt="3">
        <dgm:presLayoutVars>
          <dgm:chMax val="0"/>
          <dgm:bulletEnabled val="1"/>
        </dgm:presLayoutVars>
      </dgm:prSet>
      <dgm:spPr/>
    </dgm:pt>
    <dgm:pt modelId="{D665B788-EB87-42E6-BDD1-002F307AD47C}" type="pres">
      <dgm:prSet presAssocID="{150CD36D-507A-4F2A-9A05-C3B5F2396A2E}" presName="spacer" presStyleCnt="0"/>
      <dgm:spPr/>
    </dgm:pt>
    <dgm:pt modelId="{4F91AA7B-8A8E-4E5A-99DB-27A781097532}" type="pres">
      <dgm:prSet presAssocID="{DA21E157-A6CE-4BB9-A0AC-6E24C61B1211}" presName="parentText" presStyleLbl="node1" presStyleIdx="1" presStyleCnt="3">
        <dgm:presLayoutVars>
          <dgm:chMax val="0"/>
          <dgm:bulletEnabled val="1"/>
        </dgm:presLayoutVars>
      </dgm:prSet>
      <dgm:spPr/>
    </dgm:pt>
    <dgm:pt modelId="{47EDF101-232E-4BEC-8CE1-31F83E3FBFA5}" type="pres">
      <dgm:prSet presAssocID="{368F14A0-EC18-4634-BC04-30C711B318E0}" presName="spacer" presStyleCnt="0"/>
      <dgm:spPr/>
    </dgm:pt>
    <dgm:pt modelId="{20A7707A-1120-4B64-810F-04625A609C50}" type="pres">
      <dgm:prSet presAssocID="{82CB4265-6DE4-4706-9B44-3FC19E848B7F}" presName="parentText" presStyleLbl="node1" presStyleIdx="2" presStyleCnt="3">
        <dgm:presLayoutVars>
          <dgm:chMax val="0"/>
          <dgm:bulletEnabled val="1"/>
        </dgm:presLayoutVars>
      </dgm:prSet>
      <dgm:spPr/>
    </dgm:pt>
  </dgm:ptLst>
  <dgm:cxnLst>
    <dgm:cxn modelId="{AEF4A432-D51F-42DE-AE47-7DD7F0AA75F2}" type="presOf" srcId="{82CB4265-6DE4-4706-9B44-3FC19E848B7F}" destId="{20A7707A-1120-4B64-810F-04625A609C50}" srcOrd="0" destOrd="0" presId="urn:microsoft.com/office/officeart/2005/8/layout/vList2"/>
    <dgm:cxn modelId="{03E36B40-AB48-44C4-B3A8-A37B822B4F38}" srcId="{C707EE15-6FCD-4F73-AF6E-1A21AE654506}" destId="{82CB4265-6DE4-4706-9B44-3FC19E848B7F}" srcOrd="2" destOrd="0" parTransId="{F70623E4-8DEF-4878-A7B5-C5D0D0E2829C}" sibTransId="{834ADCF9-7873-44CD-8183-ED2098A8D6C7}"/>
    <dgm:cxn modelId="{AE189344-0B8E-449A-AAA2-D902A222B518}" type="presOf" srcId="{DA21E157-A6CE-4BB9-A0AC-6E24C61B1211}" destId="{4F91AA7B-8A8E-4E5A-99DB-27A781097532}" srcOrd="0" destOrd="0" presId="urn:microsoft.com/office/officeart/2005/8/layout/vList2"/>
    <dgm:cxn modelId="{B8452158-823D-4992-9E52-481CDF548EF8}" srcId="{C707EE15-6FCD-4F73-AF6E-1A21AE654506}" destId="{DA21E157-A6CE-4BB9-A0AC-6E24C61B1211}" srcOrd="1" destOrd="0" parTransId="{A6059A4F-EC38-416C-AA8A-608FAD80CDB9}" sibTransId="{368F14A0-EC18-4634-BC04-30C711B318E0}"/>
    <dgm:cxn modelId="{DF4219DF-D33B-4354-BC1D-73844B59BF27}" srcId="{C707EE15-6FCD-4F73-AF6E-1A21AE654506}" destId="{51F9C4FA-52C7-485A-85CB-16A62C97189F}" srcOrd="0" destOrd="0" parTransId="{7D267491-6FB2-48C7-B604-4DF6AAF32E88}" sibTransId="{150CD36D-507A-4F2A-9A05-C3B5F2396A2E}"/>
    <dgm:cxn modelId="{90C71BE4-4804-4BE6-8837-B7A405692EEB}" type="presOf" srcId="{C707EE15-6FCD-4F73-AF6E-1A21AE654506}" destId="{78CDE4A0-DFE4-4F2A-BFF0-81B73E4FD7A6}" srcOrd="0" destOrd="0" presId="urn:microsoft.com/office/officeart/2005/8/layout/vList2"/>
    <dgm:cxn modelId="{303002E5-5F4D-46C0-8B76-DBE818C8D64F}" type="presOf" srcId="{51F9C4FA-52C7-485A-85CB-16A62C97189F}" destId="{3CD30F48-0B32-4CF1-85E9-F180677D0A4C}" srcOrd="0" destOrd="0" presId="urn:microsoft.com/office/officeart/2005/8/layout/vList2"/>
    <dgm:cxn modelId="{6AA9CE1B-22E3-401E-A49C-838D2B9578FA}" type="presParOf" srcId="{78CDE4A0-DFE4-4F2A-BFF0-81B73E4FD7A6}" destId="{3CD30F48-0B32-4CF1-85E9-F180677D0A4C}" srcOrd="0" destOrd="0" presId="urn:microsoft.com/office/officeart/2005/8/layout/vList2"/>
    <dgm:cxn modelId="{E6B5B7D9-239A-43BD-B83A-32C7EC74C7ED}" type="presParOf" srcId="{78CDE4A0-DFE4-4F2A-BFF0-81B73E4FD7A6}" destId="{D665B788-EB87-42E6-BDD1-002F307AD47C}" srcOrd="1" destOrd="0" presId="urn:microsoft.com/office/officeart/2005/8/layout/vList2"/>
    <dgm:cxn modelId="{BC404EDC-4B3B-4FF3-9640-992E1C09049C}" type="presParOf" srcId="{78CDE4A0-DFE4-4F2A-BFF0-81B73E4FD7A6}" destId="{4F91AA7B-8A8E-4E5A-99DB-27A781097532}" srcOrd="2" destOrd="0" presId="urn:microsoft.com/office/officeart/2005/8/layout/vList2"/>
    <dgm:cxn modelId="{E1F095F7-4281-477B-AD36-305D48F7F352}" type="presParOf" srcId="{78CDE4A0-DFE4-4F2A-BFF0-81B73E4FD7A6}" destId="{47EDF101-232E-4BEC-8CE1-31F83E3FBFA5}" srcOrd="3" destOrd="0" presId="urn:microsoft.com/office/officeart/2005/8/layout/vList2"/>
    <dgm:cxn modelId="{12E959EA-E325-46BB-AAA9-6900E11697E9}" type="presParOf" srcId="{78CDE4A0-DFE4-4F2A-BFF0-81B73E4FD7A6}" destId="{20A7707A-1120-4B64-810F-04625A609C50}"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3014E-40A4-4EC6-8876-B462F4BBBE73}">
      <dsp:nvSpPr>
        <dsp:cNvPr id="0" name=""/>
        <dsp:cNvSpPr/>
      </dsp:nvSpPr>
      <dsp:spPr>
        <a:xfrm>
          <a:off x="0" y="0"/>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489FDE-3424-4542-A3F6-99A437DB4E86}">
      <dsp:nvSpPr>
        <dsp:cNvPr id="0" name=""/>
        <dsp:cNvSpPr/>
      </dsp:nvSpPr>
      <dsp:spPr>
        <a:xfrm>
          <a:off x="0" y="0"/>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0" i="0" kern="1200" baseline="0" dirty="0" err="1"/>
            <a:t>Pengertian</a:t>
          </a:r>
          <a:r>
            <a:rPr lang="en-US" sz="2500" b="0" i="0" kern="1200" baseline="0" dirty="0"/>
            <a:t> </a:t>
          </a:r>
          <a:r>
            <a:rPr lang="en-US" sz="2500" b="0" i="0" kern="1200" baseline="0" dirty="0" err="1"/>
            <a:t>Pengukuran</a:t>
          </a:r>
          <a:r>
            <a:rPr lang="en-US" sz="2500" b="0" i="0" kern="1200" baseline="0" dirty="0"/>
            <a:t> Kinerja </a:t>
          </a:r>
          <a:r>
            <a:rPr lang="en-US" sz="2500" b="0" i="0" kern="1200" baseline="0" dirty="0" err="1"/>
            <a:t>SCM</a:t>
          </a:r>
          <a:endParaRPr lang="en-US" sz="2500" kern="1200" dirty="0"/>
        </a:p>
      </dsp:txBody>
      <dsp:txXfrm>
        <a:off x="0" y="0"/>
        <a:ext cx="10515600" cy="543917"/>
      </dsp:txXfrm>
    </dsp:sp>
    <dsp:sp modelId="{379D6605-86E6-482A-AD25-1783831ABD5B}">
      <dsp:nvSpPr>
        <dsp:cNvPr id="0" name=""/>
        <dsp:cNvSpPr/>
      </dsp:nvSpPr>
      <dsp:spPr>
        <a:xfrm>
          <a:off x="0" y="543917"/>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7CFBF7-20C0-487D-99B4-181883119061}">
      <dsp:nvSpPr>
        <dsp:cNvPr id="0" name=""/>
        <dsp:cNvSpPr/>
      </dsp:nvSpPr>
      <dsp:spPr>
        <a:xfrm>
          <a:off x="0" y="543917"/>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0" i="0" kern="1200" baseline="0"/>
            <a:t>Tujuan Pengukuran Kinerja SCM</a:t>
          </a:r>
          <a:endParaRPr lang="en-US" sz="2500" kern="1200"/>
        </a:p>
      </dsp:txBody>
      <dsp:txXfrm>
        <a:off x="0" y="543917"/>
        <a:ext cx="10515600" cy="543917"/>
      </dsp:txXfrm>
    </dsp:sp>
    <dsp:sp modelId="{82884178-5E8A-4793-9CEE-DE0A9ABE21F4}">
      <dsp:nvSpPr>
        <dsp:cNvPr id="0" name=""/>
        <dsp:cNvSpPr/>
      </dsp:nvSpPr>
      <dsp:spPr>
        <a:xfrm>
          <a:off x="0" y="1087834"/>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7BDAB1-3228-43AE-A8F1-E2F6BFFEB154}">
      <dsp:nvSpPr>
        <dsp:cNvPr id="0" name=""/>
        <dsp:cNvSpPr/>
      </dsp:nvSpPr>
      <dsp:spPr>
        <a:xfrm>
          <a:off x="0" y="1087834"/>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0" i="0" kern="1200" baseline="0"/>
            <a:t>Indikator Kinerja Utama (KPIs) dalam SCM</a:t>
          </a:r>
          <a:endParaRPr lang="en-US" sz="2500" kern="1200"/>
        </a:p>
      </dsp:txBody>
      <dsp:txXfrm>
        <a:off x="0" y="1087834"/>
        <a:ext cx="10515600" cy="543917"/>
      </dsp:txXfrm>
    </dsp:sp>
    <dsp:sp modelId="{3FBF0CBD-C40E-4688-A71F-9ECCA1DAE04A}">
      <dsp:nvSpPr>
        <dsp:cNvPr id="0" name=""/>
        <dsp:cNvSpPr/>
      </dsp:nvSpPr>
      <dsp:spPr>
        <a:xfrm>
          <a:off x="0" y="1631751"/>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BD60F7-220C-4D5C-B46F-7BB9948B328B}">
      <dsp:nvSpPr>
        <dsp:cNvPr id="0" name=""/>
        <dsp:cNvSpPr/>
      </dsp:nvSpPr>
      <dsp:spPr>
        <a:xfrm>
          <a:off x="0" y="1631751"/>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0" i="0" kern="1200" baseline="0"/>
            <a:t>Framework Pengukuran Kinerja SCM</a:t>
          </a:r>
          <a:endParaRPr lang="en-US" sz="2500" kern="1200"/>
        </a:p>
      </dsp:txBody>
      <dsp:txXfrm>
        <a:off x="0" y="1631751"/>
        <a:ext cx="10515600" cy="543917"/>
      </dsp:txXfrm>
    </dsp:sp>
    <dsp:sp modelId="{2752BAA4-E914-44C0-BFFD-5EB8D1D24489}">
      <dsp:nvSpPr>
        <dsp:cNvPr id="0" name=""/>
        <dsp:cNvSpPr/>
      </dsp:nvSpPr>
      <dsp:spPr>
        <a:xfrm>
          <a:off x="0" y="2175669"/>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CF19DA0-FB6D-407A-BB3C-98ADE8F2B1D9}">
      <dsp:nvSpPr>
        <dsp:cNvPr id="0" name=""/>
        <dsp:cNvSpPr/>
      </dsp:nvSpPr>
      <dsp:spPr>
        <a:xfrm>
          <a:off x="0" y="2175669"/>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0" i="0" kern="1200" baseline="0"/>
            <a:t>Alat dan Metode untuk Pengukuran Kinerja</a:t>
          </a:r>
          <a:endParaRPr lang="en-US" sz="2500" kern="1200"/>
        </a:p>
      </dsp:txBody>
      <dsp:txXfrm>
        <a:off x="0" y="2175669"/>
        <a:ext cx="10515600" cy="543917"/>
      </dsp:txXfrm>
    </dsp:sp>
    <dsp:sp modelId="{3D1A0147-DC47-4F66-A561-28B6AE252410}">
      <dsp:nvSpPr>
        <dsp:cNvPr id="0" name=""/>
        <dsp:cNvSpPr/>
      </dsp:nvSpPr>
      <dsp:spPr>
        <a:xfrm>
          <a:off x="0" y="2719586"/>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A1E318-9A08-45FE-B63E-6F7029BB8B2B}">
      <dsp:nvSpPr>
        <dsp:cNvPr id="0" name=""/>
        <dsp:cNvSpPr/>
      </dsp:nvSpPr>
      <dsp:spPr>
        <a:xfrm>
          <a:off x="0" y="2719586"/>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0" i="0" kern="1200" baseline="0"/>
            <a:t>Tantangan dalam Pengukuran Kinerja SCM</a:t>
          </a:r>
          <a:endParaRPr lang="en-US" sz="2500" kern="1200"/>
        </a:p>
      </dsp:txBody>
      <dsp:txXfrm>
        <a:off x="0" y="2719586"/>
        <a:ext cx="10515600" cy="543917"/>
      </dsp:txXfrm>
    </dsp:sp>
    <dsp:sp modelId="{0737B908-6473-40C4-A24E-E39C93F5A86A}">
      <dsp:nvSpPr>
        <dsp:cNvPr id="0" name=""/>
        <dsp:cNvSpPr/>
      </dsp:nvSpPr>
      <dsp:spPr>
        <a:xfrm>
          <a:off x="0" y="326350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39B609-D380-4D9B-A3B4-B84D710009D3}">
      <dsp:nvSpPr>
        <dsp:cNvPr id="0" name=""/>
        <dsp:cNvSpPr/>
      </dsp:nvSpPr>
      <dsp:spPr>
        <a:xfrm>
          <a:off x="0" y="3263503"/>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0" i="0" kern="1200" baseline="0"/>
            <a:t>Studi Kasus: Implementasi Pengukuran Kinerja dalam SCM</a:t>
          </a:r>
          <a:endParaRPr lang="en-US" sz="2500" kern="1200"/>
        </a:p>
      </dsp:txBody>
      <dsp:txXfrm>
        <a:off x="0" y="3263503"/>
        <a:ext cx="10515600" cy="543917"/>
      </dsp:txXfrm>
    </dsp:sp>
    <dsp:sp modelId="{953253D3-7880-4F95-97FB-7F8BB6730B98}">
      <dsp:nvSpPr>
        <dsp:cNvPr id="0" name=""/>
        <dsp:cNvSpPr/>
      </dsp:nvSpPr>
      <dsp:spPr>
        <a:xfrm>
          <a:off x="0" y="3807420"/>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A87502-7FC3-4FBB-94EB-746EEE47337C}">
      <dsp:nvSpPr>
        <dsp:cNvPr id="0" name=""/>
        <dsp:cNvSpPr/>
      </dsp:nvSpPr>
      <dsp:spPr>
        <a:xfrm>
          <a:off x="0" y="3807420"/>
          <a:ext cx="10515600" cy="54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0" i="0" kern="1200" baseline="0"/>
            <a:t>Kesimpulan dan Rekomendasi </a:t>
          </a:r>
          <a:endParaRPr lang="en-US" sz="2500" kern="1200"/>
        </a:p>
      </dsp:txBody>
      <dsp:txXfrm>
        <a:off x="0" y="3807420"/>
        <a:ext cx="10515600" cy="5439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5D6338-AC84-4584-A73A-6F629B0C62D0}">
      <dsp:nvSpPr>
        <dsp:cNvPr id="0" name=""/>
        <dsp:cNvSpPr/>
      </dsp:nvSpPr>
      <dsp:spPr>
        <a:xfrm>
          <a:off x="41722" y="1158728"/>
          <a:ext cx="892445" cy="892445"/>
        </a:xfrm>
        <a:prstGeom prst="ellipse">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863628-7DD5-4032-8046-3B7521BDDE94}">
      <dsp:nvSpPr>
        <dsp:cNvPr id="0" name=""/>
        <dsp:cNvSpPr/>
      </dsp:nvSpPr>
      <dsp:spPr>
        <a:xfrm>
          <a:off x="229135" y="1346141"/>
          <a:ext cx="517618" cy="51761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96A132-B603-418A-BB39-FBB898BAE504}">
      <dsp:nvSpPr>
        <dsp:cNvPr id="0" name=""/>
        <dsp:cNvSpPr/>
      </dsp:nvSpPr>
      <dsp:spPr>
        <a:xfrm>
          <a:off x="1125406" y="1158728"/>
          <a:ext cx="2103621" cy="892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D" sz="1100" b="1" kern="1200"/>
            <a:t>Monczka, Trent, &amp; Handfield (2015) Definisi:</a:t>
          </a:r>
          <a:r>
            <a:rPr lang="en-ID" sz="1100" kern="1200"/>
            <a:t> Pengukuran kinerja dalam SCM adalah proses pengumpulan, analisis, dan evaluasi data yang relevan untuk menilai efektivitas dan efisiensi berbagai aktivitas dalam rantai pasok, serta untuk memastikan bahwa tujuan dan strategi organisasi tercapai. </a:t>
          </a:r>
          <a:endParaRPr lang="en-US" sz="1100" kern="1200"/>
        </a:p>
      </dsp:txBody>
      <dsp:txXfrm>
        <a:off x="1125406" y="1158728"/>
        <a:ext cx="2103621" cy="892445"/>
      </dsp:txXfrm>
    </dsp:sp>
    <dsp:sp modelId="{DF61FE6C-5D16-4F17-9030-0F77C001C341}">
      <dsp:nvSpPr>
        <dsp:cNvPr id="0" name=""/>
        <dsp:cNvSpPr/>
      </dsp:nvSpPr>
      <dsp:spPr>
        <a:xfrm>
          <a:off x="3595567" y="1158728"/>
          <a:ext cx="892445" cy="892445"/>
        </a:xfrm>
        <a:prstGeom prst="ellipse">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C33761-EDE6-4F96-A7DF-E53ADE6DC720}">
      <dsp:nvSpPr>
        <dsp:cNvPr id="0" name=""/>
        <dsp:cNvSpPr/>
      </dsp:nvSpPr>
      <dsp:spPr>
        <a:xfrm>
          <a:off x="3782981" y="1346141"/>
          <a:ext cx="517618" cy="51761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265AAB9-7821-48B2-BC87-9C567F0988E0}">
      <dsp:nvSpPr>
        <dsp:cNvPr id="0" name=""/>
        <dsp:cNvSpPr/>
      </dsp:nvSpPr>
      <dsp:spPr>
        <a:xfrm>
          <a:off x="4679251" y="1158728"/>
          <a:ext cx="2103621" cy="892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D" sz="1100" b="1" kern="1200"/>
            <a:t>Christopher (2016), Definisi:</a:t>
          </a:r>
          <a:r>
            <a:rPr lang="en-ID" sz="1100" kern="1200"/>
            <a:t> Pengukuran kinerja SCM adalah evaluasi dan pengawasan atas efektivitas operasional dalam rantai pasok, yang mencakup pengelolaan aliran barang, informasi, dan uang, dengan tujuan untuk memberikan nilai terbaik bagi pelanggan dengan biaya terendah.</a:t>
          </a:r>
          <a:endParaRPr lang="en-US" sz="1100" kern="1200"/>
        </a:p>
      </dsp:txBody>
      <dsp:txXfrm>
        <a:off x="4679251" y="1158728"/>
        <a:ext cx="2103621" cy="892445"/>
      </dsp:txXfrm>
    </dsp:sp>
    <dsp:sp modelId="{4F471D61-F5D5-4AB0-B4B5-C2E91677C3EC}">
      <dsp:nvSpPr>
        <dsp:cNvPr id="0" name=""/>
        <dsp:cNvSpPr/>
      </dsp:nvSpPr>
      <dsp:spPr>
        <a:xfrm>
          <a:off x="7149412" y="1158728"/>
          <a:ext cx="892445" cy="892445"/>
        </a:xfrm>
        <a:prstGeom prst="ellipse">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1DB073-E2CB-4D77-8CB1-29866DC00F1A}">
      <dsp:nvSpPr>
        <dsp:cNvPr id="0" name=""/>
        <dsp:cNvSpPr/>
      </dsp:nvSpPr>
      <dsp:spPr>
        <a:xfrm>
          <a:off x="7336826" y="1346141"/>
          <a:ext cx="517618" cy="51761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4836E7F-756D-41A9-8394-2AF5A1F59407}">
      <dsp:nvSpPr>
        <dsp:cNvPr id="0" name=""/>
        <dsp:cNvSpPr/>
      </dsp:nvSpPr>
      <dsp:spPr>
        <a:xfrm>
          <a:off x="8233096" y="1158728"/>
          <a:ext cx="2103621" cy="892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D" sz="1100" b="1" kern="1200"/>
            <a:t>Lambert, Stock, &amp; Ellram (2008), Definisi:</a:t>
          </a:r>
          <a:r>
            <a:rPr lang="en-ID" sz="1100" kern="1200"/>
            <a:t> Pengukuran kinerja SCM adalah penggunaan indikator atau metrik untuk mengevaluasi bagaimana proses dalam rantai pasok berjalan, baik dari sisi operasional maupun finansial, serta untuk memantau keberhasilan dalam memenuhi tujuan jangka panjang organisasi.</a:t>
          </a:r>
          <a:endParaRPr lang="en-US" sz="1100" kern="1200"/>
        </a:p>
      </dsp:txBody>
      <dsp:txXfrm>
        <a:off x="8233096" y="1158728"/>
        <a:ext cx="2103621" cy="89244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669363-EB14-45AF-8FC6-7229583A0195}">
      <dsp:nvSpPr>
        <dsp:cNvPr id="0" name=""/>
        <dsp:cNvSpPr/>
      </dsp:nvSpPr>
      <dsp:spPr>
        <a:xfrm>
          <a:off x="0" y="59695"/>
          <a:ext cx="10378440" cy="56511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i="0" kern="1200" baseline="0"/>
            <a:t>Menilai efektivitas dan efisiensi operasi rantai pasok.</a:t>
          </a:r>
          <a:endParaRPr lang="en-US" sz="2300" kern="1200"/>
        </a:p>
      </dsp:txBody>
      <dsp:txXfrm>
        <a:off x="27586" y="87281"/>
        <a:ext cx="10323268" cy="509938"/>
      </dsp:txXfrm>
    </dsp:sp>
    <dsp:sp modelId="{44C0761C-9C1A-49FD-A2FE-B73CE676079F}">
      <dsp:nvSpPr>
        <dsp:cNvPr id="0" name=""/>
        <dsp:cNvSpPr/>
      </dsp:nvSpPr>
      <dsp:spPr>
        <a:xfrm>
          <a:off x="0" y="691045"/>
          <a:ext cx="10378440" cy="565110"/>
        </a:xfrm>
        <a:prstGeom prst="roundRect">
          <a:avLst/>
        </a:prstGeom>
        <a:solidFill>
          <a:schemeClr val="accent5">
            <a:hueOff val="-3038037"/>
            <a:satOff val="-207"/>
            <a:lumOff val="4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i="0" kern="1200" baseline="0"/>
            <a:t>Meningkatkan kolaborasi antara pemasok dan pelanggan.</a:t>
          </a:r>
          <a:endParaRPr lang="en-US" sz="2300" kern="1200"/>
        </a:p>
      </dsp:txBody>
      <dsp:txXfrm>
        <a:off x="27586" y="718631"/>
        <a:ext cx="10323268" cy="509938"/>
      </dsp:txXfrm>
    </dsp:sp>
    <dsp:sp modelId="{4CFD26B9-16A8-4BF4-A63D-36842358D550}">
      <dsp:nvSpPr>
        <dsp:cNvPr id="0" name=""/>
        <dsp:cNvSpPr/>
      </dsp:nvSpPr>
      <dsp:spPr>
        <a:xfrm>
          <a:off x="0" y="1322395"/>
          <a:ext cx="10378440" cy="565110"/>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i="0" kern="1200" baseline="0"/>
            <a:t>Mengurangi biaya dan meningkatkan pelayanan.</a:t>
          </a:r>
          <a:endParaRPr lang="en-US" sz="2300" kern="1200"/>
        </a:p>
      </dsp:txBody>
      <dsp:txXfrm>
        <a:off x="27586" y="1349981"/>
        <a:ext cx="10323268" cy="509938"/>
      </dsp:txXfrm>
    </dsp:sp>
    <dsp:sp modelId="{ABEDF340-40BE-485D-A3BC-8953C0BB35D5}">
      <dsp:nvSpPr>
        <dsp:cNvPr id="0" name=""/>
        <dsp:cNvSpPr/>
      </dsp:nvSpPr>
      <dsp:spPr>
        <a:xfrm>
          <a:off x="0" y="1953746"/>
          <a:ext cx="10378440" cy="565110"/>
        </a:xfrm>
        <a:prstGeom prst="roundRect">
          <a:avLst/>
        </a:prstGeom>
        <a:solidFill>
          <a:schemeClr val="accent5">
            <a:hueOff val="-9114112"/>
            <a:satOff val="-620"/>
            <a:lumOff val="147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i="0" kern="1200" baseline="0"/>
            <a:t>Mengidentifikasi dan mengelola risiko dalam rantai pasok.</a:t>
          </a:r>
          <a:endParaRPr lang="en-US" sz="2300" kern="1200"/>
        </a:p>
      </dsp:txBody>
      <dsp:txXfrm>
        <a:off x="27586" y="1981332"/>
        <a:ext cx="10323268" cy="509938"/>
      </dsp:txXfrm>
    </dsp:sp>
    <dsp:sp modelId="{DE7DB3C5-5E0F-4CAB-8917-87F169A43551}">
      <dsp:nvSpPr>
        <dsp:cNvPr id="0" name=""/>
        <dsp:cNvSpPr/>
      </dsp:nvSpPr>
      <dsp:spPr>
        <a:xfrm>
          <a:off x="0" y="2585095"/>
          <a:ext cx="10378440" cy="56511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i="0" kern="1200" baseline="0"/>
            <a:t>Mendukung pengambilan keputusan yang berbasis data </a:t>
          </a:r>
          <a:endParaRPr lang="en-US" sz="2300" kern="1200"/>
        </a:p>
      </dsp:txBody>
      <dsp:txXfrm>
        <a:off x="27586" y="2612681"/>
        <a:ext cx="10323268" cy="5099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AC4B61-1403-467B-9806-0D234E0BDEAB}">
      <dsp:nvSpPr>
        <dsp:cNvPr id="0" name=""/>
        <dsp:cNvSpPr/>
      </dsp:nvSpPr>
      <dsp:spPr>
        <a:xfrm>
          <a:off x="3397" y="366506"/>
          <a:ext cx="1839726" cy="110383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D" sz="1700" kern="1200"/>
            <a:t>Efisiensi Biaya</a:t>
          </a:r>
          <a:endParaRPr lang="en-US" sz="1700" kern="1200"/>
        </a:p>
      </dsp:txBody>
      <dsp:txXfrm>
        <a:off x="3397" y="366506"/>
        <a:ext cx="1839726" cy="1103835"/>
      </dsp:txXfrm>
    </dsp:sp>
    <dsp:sp modelId="{EE773E25-AD8E-4175-BDCF-5E82EB1CA033}">
      <dsp:nvSpPr>
        <dsp:cNvPr id="0" name=""/>
        <dsp:cNvSpPr/>
      </dsp:nvSpPr>
      <dsp:spPr>
        <a:xfrm>
          <a:off x="2027097" y="366506"/>
          <a:ext cx="1839726" cy="110383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D" sz="1700" kern="1200"/>
            <a:t>Kepuasan Pelanggan</a:t>
          </a:r>
          <a:endParaRPr lang="en-US" sz="1700" kern="1200"/>
        </a:p>
      </dsp:txBody>
      <dsp:txXfrm>
        <a:off x="2027097" y="366506"/>
        <a:ext cx="1839726" cy="1103835"/>
      </dsp:txXfrm>
    </dsp:sp>
    <dsp:sp modelId="{7F656469-D8EE-4950-AAEE-BEA4ABE86D6D}">
      <dsp:nvSpPr>
        <dsp:cNvPr id="0" name=""/>
        <dsp:cNvSpPr/>
      </dsp:nvSpPr>
      <dsp:spPr>
        <a:xfrm>
          <a:off x="4050796" y="366506"/>
          <a:ext cx="1839726" cy="110383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D" sz="1700" kern="1200"/>
            <a:t>Ketepatan Waktu Pengiriman</a:t>
          </a:r>
          <a:endParaRPr lang="en-US" sz="1700" kern="1200"/>
        </a:p>
      </dsp:txBody>
      <dsp:txXfrm>
        <a:off x="4050796" y="366506"/>
        <a:ext cx="1839726" cy="1103835"/>
      </dsp:txXfrm>
    </dsp:sp>
    <dsp:sp modelId="{A7C8EA1C-00E3-40B8-AF64-B0D3A1FC31B2}">
      <dsp:nvSpPr>
        <dsp:cNvPr id="0" name=""/>
        <dsp:cNvSpPr/>
      </dsp:nvSpPr>
      <dsp:spPr>
        <a:xfrm>
          <a:off x="6074495" y="366506"/>
          <a:ext cx="1839726" cy="110383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D" sz="1700" kern="1200"/>
            <a:t>Kualitas Produk</a:t>
          </a:r>
          <a:endParaRPr lang="en-US" sz="1700" kern="1200"/>
        </a:p>
      </dsp:txBody>
      <dsp:txXfrm>
        <a:off x="6074495" y="366506"/>
        <a:ext cx="1839726" cy="1103835"/>
      </dsp:txXfrm>
    </dsp:sp>
    <dsp:sp modelId="{DB6A7213-EF9D-4DCD-ABEB-B83F49B68894}">
      <dsp:nvSpPr>
        <dsp:cNvPr id="0" name=""/>
        <dsp:cNvSpPr/>
      </dsp:nvSpPr>
      <dsp:spPr>
        <a:xfrm>
          <a:off x="8098194" y="366506"/>
          <a:ext cx="1839726" cy="110383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D" sz="1700" kern="1200"/>
            <a:t>Persediaan dan Ketersediaan Barang</a:t>
          </a:r>
          <a:endParaRPr lang="en-US" sz="1700" kern="1200"/>
        </a:p>
      </dsp:txBody>
      <dsp:txXfrm>
        <a:off x="8098194" y="366506"/>
        <a:ext cx="1839726" cy="1103835"/>
      </dsp:txXfrm>
    </dsp:sp>
    <dsp:sp modelId="{A80FFE9C-B6F9-4B6D-9BF6-7B4B3D1FF944}">
      <dsp:nvSpPr>
        <dsp:cNvPr id="0" name=""/>
        <dsp:cNvSpPr/>
      </dsp:nvSpPr>
      <dsp:spPr>
        <a:xfrm>
          <a:off x="3397" y="1654315"/>
          <a:ext cx="1839726" cy="110383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D" sz="1700" kern="1200"/>
            <a:t>Kecepatan Respons terhadap Perubahan Permintaan</a:t>
          </a:r>
          <a:endParaRPr lang="en-US" sz="1700" kern="1200"/>
        </a:p>
      </dsp:txBody>
      <dsp:txXfrm>
        <a:off x="3397" y="1654315"/>
        <a:ext cx="1839726" cy="1103835"/>
      </dsp:txXfrm>
    </dsp:sp>
    <dsp:sp modelId="{DB6E6FC9-967F-4CA7-8E29-F166A68F01D3}">
      <dsp:nvSpPr>
        <dsp:cNvPr id="0" name=""/>
        <dsp:cNvSpPr/>
      </dsp:nvSpPr>
      <dsp:spPr>
        <a:xfrm>
          <a:off x="2027097" y="1654315"/>
          <a:ext cx="1839726" cy="110383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D" sz="1700" kern="1200"/>
            <a:t>Utilisasi Kapasitas (Capacity Utilization)</a:t>
          </a:r>
          <a:endParaRPr lang="en-US" sz="1700" kern="1200"/>
        </a:p>
      </dsp:txBody>
      <dsp:txXfrm>
        <a:off x="2027097" y="1654315"/>
        <a:ext cx="1839726" cy="1103835"/>
      </dsp:txXfrm>
    </dsp:sp>
    <dsp:sp modelId="{0D7E3D32-7044-4074-B227-B32A45230632}">
      <dsp:nvSpPr>
        <dsp:cNvPr id="0" name=""/>
        <dsp:cNvSpPr/>
      </dsp:nvSpPr>
      <dsp:spPr>
        <a:xfrm>
          <a:off x="4050796" y="1654315"/>
          <a:ext cx="1839726" cy="110383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D" sz="1700" kern="1200"/>
            <a:t>Keandalan Pemasok (Supplier Reliability)</a:t>
          </a:r>
          <a:endParaRPr lang="en-US" sz="1700" kern="1200"/>
        </a:p>
      </dsp:txBody>
      <dsp:txXfrm>
        <a:off x="4050796" y="1654315"/>
        <a:ext cx="1839726" cy="1103835"/>
      </dsp:txXfrm>
    </dsp:sp>
    <dsp:sp modelId="{82CC4B0E-1F30-4A9C-BD48-419F2EC544B1}">
      <dsp:nvSpPr>
        <dsp:cNvPr id="0" name=""/>
        <dsp:cNvSpPr/>
      </dsp:nvSpPr>
      <dsp:spPr>
        <a:xfrm>
          <a:off x="6074495" y="1654315"/>
          <a:ext cx="1839726" cy="110383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D" sz="1700" kern="1200"/>
            <a:t>Kinerja Keuangan (Financial Performance)</a:t>
          </a:r>
          <a:endParaRPr lang="en-US" sz="1700" kern="1200"/>
        </a:p>
      </dsp:txBody>
      <dsp:txXfrm>
        <a:off x="6074495" y="1654315"/>
        <a:ext cx="1839726" cy="1103835"/>
      </dsp:txXfrm>
    </dsp:sp>
    <dsp:sp modelId="{F31BD365-81A9-4D5A-862A-4F49FF8DADBE}">
      <dsp:nvSpPr>
        <dsp:cNvPr id="0" name=""/>
        <dsp:cNvSpPr/>
      </dsp:nvSpPr>
      <dsp:spPr>
        <a:xfrm>
          <a:off x="8098194" y="1654315"/>
          <a:ext cx="1839726" cy="110383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D" sz="1700" kern="1200"/>
            <a:t>Rantai Pasok yang Berkelanjutan (Sustainability)</a:t>
          </a:r>
          <a:endParaRPr lang="en-US" sz="1700" kern="1200"/>
        </a:p>
      </dsp:txBody>
      <dsp:txXfrm>
        <a:off x="8098194" y="1654315"/>
        <a:ext cx="1839726" cy="110383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BBFB56-40D1-42FD-8010-F116AA717870}">
      <dsp:nvSpPr>
        <dsp:cNvPr id="0" name=""/>
        <dsp:cNvSpPr/>
      </dsp:nvSpPr>
      <dsp:spPr>
        <a:xfrm>
          <a:off x="0" y="2626263"/>
          <a:ext cx="10515600" cy="172311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ctr" defTabSz="1333500">
            <a:lnSpc>
              <a:spcPct val="90000"/>
            </a:lnSpc>
            <a:spcBef>
              <a:spcPct val="0"/>
            </a:spcBef>
            <a:spcAft>
              <a:spcPct val="35000"/>
            </a:spcAft>
            <a:buNone/>
          </a:pPr>
          <a:r>
            <a:rPr lang="en-ID" sz="3000" kern="1200"/>
            <a:t>Contoh KPI:</a:t>
          </a:r>
          <a:endParaRPr lang="en-US" sz="3000" kern="1200"/>
        </a:p>
      </dsp:txBody>
      <dsp:txXfrm>
        <a:off x="0" y="2626263"/>
        <a:ext cx="10515600" cy="930480"/>
      </dsp:txXfrm>
    </dsp:sp>
    <dsp:sp modelId="{F43350FB-93FB-4C8C-9D26-534C26138596}">
      <dsp:nvSpPr>
        <dsp:cNvPr id="0" name=""/>
        <dsp:cNvSpPr/>
      </dsp:nvSpPr>
      <dsp:spPr>
        <a:xfrm>
          <a:off x="5134" y="3522281"/>
          <a:ext cx="3501776" cy="792631"/>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ID" sz="1300" kern="1200"/>
            <a:t>Cost of Goods Sold (COGS): Mengukur biaya langsung untuk menghasilkan barang yang dijual.</a:t>
          </a:r>
          <a:endParaRPr lang="en-US" sz="1300" kern="1200"/>
        </a:p>
      </dsp:txBody>
      <dsp:txXfrm>
        <a:off x="5134" y="3522281"/>
        <a:ext cx="3501776" cy="792631"/>
      </dsp:txXfrm>
    </dsp:sp>
    <dsp:sp modelId="{6E907CC0-D1B7-4249-9BA4-FD916B68BA8B}">
      <dsp:nvSpPr>
        <dsp:cNvPr id="0" name=""/>
        <dsp:cNvSpPr/>
      </dsp:nvSpPr>
      <dsp:spPr>
        <a:xfrm>
          <a:off x="3506911" y="3522281"/>
          <a:ext cx="3501776" cy="792631"/>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ID" sz="1300" kern="1200"/>
            <a:t>Total Supply Chain Cost: Biaya keseluruhan untuk merancang, memproduksi, dan mengirimkan produk kepada pelanggan.</a:t>
          </a:r>
          <a:endParaRPr lang="en-US" sz="1300" kern="1200"/>
        </a:p>
      </dsp:txBody>
      <dsp:txXfrm>
        <a:off x="3506911" y="3522281"/>
        <a:ext cx="3501776" cy="792631"/>
      </dsp:txXfrm>
    </dsp:sp>
    <dsp:sp modelId="{DF93DE95-CBEF-49DD-BD34-81E5B184C589}">
      <dsp:nvSpPr>
        <dsp:cNvPr id="0" name=""/>
        <dsp:cNvSpPr/>
      </dsp:nvSpPr>
      <dsp:spPr>
        <a:xfrm>
          <a:off x="7008688" y="3522281"/>
          <a:ext cx="3501776" cy="792631"/>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ID" sz="1300" kern="1200"/>
            <a:t>Cost per Order: Biaya rata-rata yang dikeluarkan untuk memproses setiap pesanan.</a:t>
          </a:r>
          <a:endParaRPr lang="en-US" sz="1300" kern="1200"/>
        </a:p>
      </dsp:txBody>
      <dsp:txXfrm>
        <a:off x="7008688" y="3522281"/>
        <a:ext cx="3501776" cy="792631"/>
      </dsp:txXfrm>
    </dsp:sp>
    <dsp:sp modelId="{D7A06E51-D227-4770-9B10-7342EF66F486}">
      <dsp:nvSpPr>
        <dsp:cNvPr id="0" name=""/>
        <dsp:cNvSpPr/>
      </dsp:nvSpPr>
      <dsp:spPr>
        <a:xfrm rot="10800000">
          <a:off x="0" y="1962"/>
          <a:ext cx="10515600" cy="2650147"/>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ctr" defTabSz="1333500">
            <a:lnSpc>
              <a:spcPct val="90000"/>
            </a:lnSpc>
            <a:spcBef>
              <a:spcPct val="0"/>
            </a:spcBef>
            <a:spcAft>
              <a:spcPct val="35000"/>
            </a:spcAft>
            <a:buNone/>
          </a:pPr>
          <a:r>
            <a:rPr lang="en-ID" sz="3000" kern="1200"/>
            <a:t>Definisi: Mengukur biaya yang dikeluarkan dalam setiap tahap rantai pasok dan bagaimana biaya tersebut dikelola untuk mencapai hasil yang optimal.</a:t>
          </a:r>
          <a:endParaRPr lang="en-US" sz="3000" kern="1200"/>
        </a:p>
      </dsp:txBody>
      <dsp:txXfrm rot="10800000">
        <a:off x="0" y="1962"/>
        <a:ext cx="10515600" cy="172198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9494F2-5E5B-46DF-8F8D-0A3DBFF83251}">
      <dsp:nvSpPr>
        <dsp:cNvPr id="0" name=""/>
        <dsp:cNvSpPr/>
      </dsp:nvSpPr>
      <dsp:spPr>
        <a:xfrm>
          <a:off x="0" y="713389"/>
          <a:ext cx="6666833" cy="103428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ID" sz="2600" kern="1200"/>
            <a:t>Definisi: Mengukur seberapa baik produk atau layanan memenuhi harapan pelanggan.</a:t>
          </a:r>
          <a:endParaRPr lang="en-US" sz="2600" kern="1200"/>
        </a:p>
      </dsp:txBody>
      <dsp:txXfrm>
        <a:off x="50489" y="763878"/>
        <a:ext cx="6565855" cy="933302"/>
      </dsp:txXfrm>
    </dsp:sp>
    <dsp:sp modelId="{41D0FF7F-260D-41BE-8114-598FE183DF3C}">
      <dsp:nvSpPr>
        <dsp:cNvPr id="0" name=""/>
        <dsp:cNvSpPr/>
      </dsp:nvSpPr>
      <dsp:spPr>
        <a:xfrm>
          <a:off x="0" y="1822549"/>
          <a:ext cx="6666833" cy="103428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ID" sz="2600" kern="1200"/>
            <a:t>Contoh KPI:</a:t>
          </a:r>
          <a:endParaRPr lang="en-US" sz="2600" kern="1200"/>
        </a:p>
      </dsp:txBody>
      <dsp:txXfrm>
        <a:off x="50489" y="1873038"/>
        <a:ext cx="6565855" cy="933302"/>
      </dsp:txXfrm>
    </dsp:sp>
    <dsp:sp modelId="{56B58840-6C7D-4ABA-8A20-97B79D5924B9}">
      <dsp:nvSpPr>
        <dsp:cNvPr id="0" name=""/>
        <dsp:cNvSpPr/>
      </dsp:nvSpPr>
      <dsp:spPr>
        <a:xfrm>
          <a:off x="0" y="2856830"/>
          <a:ext cx="6666833" cy="1883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ID" sz="2000" kern="1200"/>
            <a:t>On-Time Delivery (OTD): Persentase pesanan yang dikirimkan tepat waktu sesuai dengan janji pengiriman.</a:t>
          </a:r>
          <a:endParaRPr lang="en-US" sz="2000" kern="1200"/>
        </a:p>
        <a:p>
          <a:pPr marL="228600" lvl="1" indent="-228600" algn="l" defTabSz="889000">
            <a:lnSpc>
              <a:spcPct val="90000"/>
            </a:lnSpc>
            <a:spcBef>
              <a:spcPct val="0"/>
            </a:spcBef>
            <a:spcAft>
              <a:spcPct val="20000"/>
            </a:spcAft>
            <a:buChar char="•"/>
          </a:pPr>
          <a:r>
            <a:rPr lang="en-ID" sz="2000" kern="1200"/>
            <a:t>Order Accuracy: Persentase pesanan yang dikirimkan dengan jumlah dan spesifikasi yang benar.</a:t>
          </a:r>
          <a:endParaRPr lang="en-US" sz="2000" kern="1200"/>
        </a:p>
        <a:p>
          <a:pPr marL="228600" lvl="1" indent="-228600" algn="l" defTabSz="889000">
            <a:lnSpc>
              <a:spcPct val="90000"/>
            </a:lnSpc>
            <a:spcBef>
              <a:spcPct val="0"/>
            </a:spcBef>
            <a:spcAft>
              <a:spcPct val="20000"/>
            </a:spcAft>
            <a:buChar char="•"/>
          </a:pPr>
          <a:r>
            <a:rPr lang="en-ID" sz="2000" kern="1200"/>
            <a:t>Customer Feedback and Complaints: Jumlah keluhan pelanggan atau skor umpan balik yang diperoleh</a:t>
          </a:r>
          <a:endParaRPr lang="en-US" sz="2000" kern="1200"/>
        </a:p>
      </dsp:txBody>
      <dsp:txXfrm>
        <a:off x="0" y="2856830"/>
        <a:ext cx="6666833" cy="18837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977C16-F03C-4450-A038-3C40BA5CD436}">
      <dsp:nvSpPr>
        <dsp:cNvPr id="0" name=""/>
        <dsp:cNvSpPr/>
      </dsp:nvSpPr>
      <dsp:spPr>
        <a:xfrm>
          <a:off x="7843" y="0"/>
          <a:ext cx="5568769" cy="3438144"/>
        </a:xfrm>
        <a:prstGeom prst="homePlate">
          <a:avLst>
            <a:gd name="adj" fmla="val 25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6454" tIns="60960" rIns="785815" bIns="60960" numCol="1" spcCol="1270" anchor="ctr" anchorCtr="0">
          <a:noAutofit/>
        </a:bodyPr>
        <a:lstStyle/>
        <a:p>
          <a:pPr marL="0" lvl="0" indent="0" algn="ctr" defTabSz="1066800">
            <a:lnSpc>
              <a:spcPct val="90000"/>
            </a:lnSpc>
            <a:spcBef>
              <a:spcPct val="0"/>
            </a:spcBef>
            <a:spcAft>
              <a:spcPct val="35000"/>
            </a:spcAft>
            <a:buNone/>
          </a:pPr>
          <a:r>
            <a:rPr lang="en-ID" sz="2400" kern="1200"/>
            <a:t>Definisi: Mengukur kemampuan rantai pasok untuk memenuhi janji pengiriman tepat waktu.</a:t>
          </a:r>
          <a:endParaRPr lang="en-US" sz="2400" kern="1200"/>
        </a:p>
      </dsp:txBody>
      <dsp:txXfrm>
        <a:off x="7843" y="0"/>
        <a:ext cx="5139001" cy="3438144"/>
      </dsp:txXfrm>
    </dsp:sp>
    <dsp:sp modelId="{55E248E9-1E47-4B26-9DE4-B42BBDA540C1}">
      <dsp:nvSpPr>
        <dsp:cNvPr id="0" name=""/>
        <dsp:cNvSpPr/>
      </dsp:nvSpPr>
      <dsp:spPr>
        <a:xfrm>
          <a:off x="4462859" y="0"/>
          <a:ext cx="5568769" cy="3438144"/>
        </a:xfrm>
        <a:prstGeom prst="chevron">
          <a:avLst>
            <a:gd name="adj" fmla="val 25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6454" tIns="60960" rIns="196454" bIns="60960" numCol="1" spcCol="1270" anchor="t" anchorCtr="0">
          <a:noAutofit/>
        </a:bodyPr>
        <a:lstStyle/>
        <a:p>
          <a:pPr marL="0" lvl="0" indent="0" algn="l" defTabSz="1066800">
            <a:lnSpc>
              <a:spcPct val="90000"/>
            </a:lnSpc>
            <a:spcBef>
              <a:spcPct val="0"/>
            </a:spcBef>
            <a:spcAft>
              <a:spcPct val="35000"/>
            </a:spcAft>
            <a:buNone/>
          </a:pPr>
          <a:r>
            <a:rPr lang="en-ID" sz="2400" kern="1200"/>
            <a:t>Contoh KPI:</a:t>
          </a:r>
          <a:endParaRPr lang="en-US" sz="2400" kern="1200"/>
        </a:p>
        <a:p>
          <a:pPr marL="171450" lvl="1" indent="-171450" algn="l" defTabSz="844550">
            <a:lnSpc>
              <a:spcPct val="90000"/>
            </a:lnSpc>
            <a:spcBef>
              <a:spcPct val="0"/>
            </a:spcBef>
            <a:spcAft>
              <a:spcPct val="15000"/>
            </a:spcAft>
            <a:buChar char="•"/>
          </a:pPr>
          <a:r>
            <a:rPr lang="en-ID" sz="1900" kern="1200"/>
            <a:t>On-Time Delivery Rate: Persentase pesanan yang dikirimkan sesuai dengan jadwal yang telah ditentukan.</a:t>
          </a:r>
          <a:endParaRPr lang="en-US" sz="1900" kern="1200"/>
        </a:p>
        <a:p>
          <a:pPr marL="171450" lvl="1" indent="-171450" algn="l" defTabSz="844550">
            <a:lnSpc>
              <a:spcPct val="90000"/>
            </a:lnSpc>
            <a:spcBef>
              <a:spcPct val="0"/>
            </a:spcBef>
            <a:spcAft>
              <a:spcPct val="15000"/>
            </a:spcAft>
            <a:buChar char="•"/>
          </a:pPr>
          <a:r>
            <a:rPr lang="en-ID" sz="1900" kern="1200"/>
            <a:t>Lead Time: Waktu yang dibutuhkan untuk memproduksi dan mengirimkan produk dari saat pemesanan hingga sampai ke pelanggan.</a:t>
          </a:r>
          <a:endParaRPr lang="en-US" sz="1900" kern="1200"/>
        </a:p>
      </dsp:txBody>
      <dsp:txXfrm>
        <a:off x="5322395" y="0"/>
        <a:ext cx="3849697" cy="343814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3F2040-9750-4613-B2F3-C38093EEAF16}">
      <dsp:nvSpPr>
        <dsp:cNvPr id="0" name=""/>
        <dsp:cNvSpPr/>
      </dsp:nvSpPr>
      <dsp:spPr>
        <a:xfrm>
          <a:off x="0" y="78308"/>
          <a:ext cx="10515600" cy="12729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ID" sz="3200" kern="1200"/>
            <a:t>Definisi: Mengukur seberapa ramah lingkungan dan berkelanjutan operasi dalam rantai pasok.</a:t>
          </a:r>
          <a:endParaRPr lang="en-US" sz="3200" kern="1200"/>
        </a:p>
      </dsp:txBody>
      <dsp:txXfrm>
        <a:off x="62141" y="140449"/>
        <a:ext cx="10391318" cy="1148678"/>
      </dsp:txXfrm>
    </dsp:sp>
    <dsp:sp modelId="{25DE42BD-300B-4D38-9F3C-E2182C7F17E3}">
      <dsp:nvSpPr>
        <dsp:cNvPr id="0" name=""/>
        <dsp:cNvSpPr/>
      </dsp:nvSpPr>
      <dsp:spPr>
        <a:xfrm>
          <a:off x="0" y="1443429"/>
          <a:ext cx="10515600" cy="12729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ID" sz="3200" kern="1200"/>
            <a:t>Contoh KPI:</a:t>
          </a:r>
          <a:endParaRPr lang="en-US" sz="3200" kern="1200"/>
        </a:p>
      </dsp:txBody>
      <dsp:txXfrm>
        <a:off x="62141" y="1505570"/>
        <a:ext cx="10391318" cy="1148678"/>
      </dsp:txXfrm>
    </dsp:sp>
    <dsp:sp modelId="{2A96A771-D9C1-4FE7-8AA4-97B16B89D84A}">
      <dsp:nvSpPr>
        <dsp:cNvPr id="0" name=""/>
        <dsp:cNvSpPr/>
      </dsp:nvSpPr>
      <dsp:spPr>
        <a:xfrm>
          <a:off x="0" y="2716389"/>
          <a:ext cx="10515600" cy="1556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40640" rIns="227584" bIns="40640" numCol="1" spcCol="1270" anchor="t" anchorCtr="0">
          <a:noAutofit/>
        </a:bodyPr>
        <a:lstStyle/>
        <a:p>
          <a:pPr marL="228600" lvl="1" indent="-228600" algn="l" defTabSz="1111250">
            <a:lnSpc>
              <a:spcPct val="90000"/>
            </a:lnSpc>
            <a:spcBef>
              <a:spcPct val="0"/>
            </a:spcBef>
            <a:spcAft>
              <a:spcPct val="20000"/>
            </a:spcAft>
            <a:buChar char="•"/>
          </a:pPr>
          <a:r>
            <a:rPr lang="en-ID" sz="2500" kern="1200"/>
            <a:t>Carbon Footprint: Jumlah emisi karbon yang dihasilkan oleh operasi rantai pasok.</a:t>
          </a:r>
          <a:endParaRPr lang="en-US" sz="2500" kern="1200"/>
        </a:p>
        <a:p>
          <a:pPr marL="228600" lvl="1" indent="-228600" algn="l" defTabSz="1111250">
            <a:lnSpc>
              <a:spcPct val="90000"/>
            </a:lnSpc>
            <a:spcBef>
              <a:spcPct val="0"/>
            </a:spcBef>
            <a:spcAft>
              <a:spcPct val="20000"/>
            </a:spcAft>
            <a:buChar char="•"/>
          </a:pPr>
          <a:r>
            <a:rPr lang="en-ID" sz="2500" kern="1200"/>
            <a:t>Sustainable Sourcing: Persentase bahan baku yang diperoleh dari sumber yang berkelanjutan atau ramah lingkungan.</a:t>
          </a:r>
          <a:endParaRPr lang="en-US" sz="2500" kern="1200"/>
        </a:p>
      </dsp:txBody>
      <dsp:txXfrm>
        <a:off x="0" y="2716389"/>
        <a:ext cx="10515600" cy="155664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657185-C4A1-49D3-BABC-161CC8FE06C1}">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92C955-8064-4D53-84D3-DFF8E392B887}">
      <dsp:nvSpPr>
        <dsp:cNvPr id="0" name=""/>
        <dsp:cNvSpPr/>
      </dsp:nvSpPr>
      <dsp:spPr>
        <a:xfrm>
          <a:off x="376522" y="280590"/>
          <a:ext cx="684586" cy="684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7060244-6D26-434E-9616-9F32B4C55C7A}">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ID" sz="2300" b="1" kern="1200"/>
            <a:t>SCOR Model (Supply Chain Operations Reference):</a:t>
          </a:r>
          <a:r>
            <a:rPr lang="en-ID" sz="2300" kern="1200"/>
            <a:t> Sebuah framework yang digunakan untuk menilai kinerja rantai pasok melalui lima elemen utama: Plan, Source, Make, Deliver, dan Return.</a:t>
          </a:r>
          <a:endParaRPr lang="en-US" sz="2300" kern="1200"/>
        </a:p>
      </dsp:txBody>
      <dsp:txXfrm>
        <a:off x="1437631" y="531"/>
        <a:ext cx="9077968" cy="1244702"/>
      </dsp:txXfrm>
    </dsp:sp>
    <dsp:sp modelId="{DCD49E38-F23A-4FBC-A21F-1866F2ECC79E}">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633638-DB16-40C3-AA7A-71E975816C11}">
      <dsp:nvSpPr>
        <dsp:cNvPr id="0" name=""/>
        <dsp:cNvSpPr/>
      </dsp:nvSpPr>
      <dsp:spPr>
        <a:xfrm>
          <a:off x="376522" y="1836468"/>
          <a:ext cx="684586" cy="684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7380200-6F98-4598-B24D-74EC8043A663}">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ID" sz="2300" b="1" kern="1200"/>
            <a:t>Balanced Scorecard:</a:t>
          </a:r>
          <a:r>
            <a:rPr lang="en-ID" sz="2300" kern="1200"/>
            <a:t> Alat manajemen yang digunakan untuk mengukur kinerja SCM dari berbagai perspektif: keuangan, pelanggan, proses internal, dan pembelajaran serta pertumbuhan.</a:t>
          </a:r>
          <a:endParaRPr lang="en-US" sz="2300" kern="1200"/>
        </a:p>
      </dsp:txBody>
      <dsp:txXfrm>
        <a:off x="1437631" y="1556410"/>
        <a:ext cx="9077968" cy="1244702"/>
      </dsp:txXfrm>
    </dsp:sp>
    <dsp:sp modelId="{30EAB0F7-7229-4E0B-8931-FD619B3D99A9}">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08ABEB-4720-4849-8855-1CBC18F7BCA5}">
      <dsp:nvSpPr>
        <dsp:cNvPr id="0" name=""/>
        <dsp:cNvSpPr/>
      </dsp:nvSpPr>
      <dsp:spPr>
        <a:xfrm>
          <a:off x="376522" y="3392347"/>
          <a:ext cx="684586" cy="6845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3D3E99A-0A29-4437-AD5E-12B23F2E9D7D}">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ID" sz="2300" b="1" kern="1200"/>
            <a:t>Kepuasan Pelanggan:</a:t>
          </a:r>
          <a:r>
            <a:rPr lang="en-ID" sz="2300" kern="1200"/>
            <a:t> Melihat dari sisi seberapa baik sistem SCM dapat memenuhi ekspektasi pelanggan.</a:t>
          </a:r>
          <a:endParaRPr lang="en-US" sz="2300" kern="1200"/>
        </a:p>
      </dsp:txBody>
      <dsp:txXfrm>
        <a:off x="1437631" y="3112289"/>
        <a:ext cx="9077968" cy="124470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B3E65A-CA52-4898-BB34-660AE9BFCBF1}">
      <dsp:nvSpPr>
        <dsp:cNvPr id="0" name=""/>
        <dsp:cNvSpPr/>
      </dsp:nvSpPr>
      <dsp:spPr>
        <a:xfrm>
          <a:off x="202" y="136361"/>
          <a:ext cx="2447649" cy="2937179"/>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773" tIns="0" rIns="241773" bIns="330200" numCol="1" spcCol="1270" anchor="t" anchorCtr="0">
          <a:noAutofit/>
        </a:bodyPr>
        <a:lstStyle/>
        <a:p>
          <a:pPr marL="0" lvl="0" indent="0" algn="l" defTabSz="577850">
            <a:lnSpc>
              <a:spcPct val="90000"/>
            </a:lnSpc>
            <a:spcBef>
              <a:spcPct val="0"/>
            </a:spcBef>
            <a:spcAft>
              <a:spcPct val="35000"/>
            </a:spcAft>
            <a:buNone/>
          </a:pPr>
          <a:r>
            <a:rPr lang="en-ID" sz="1300" kern="1200"/>
            <a:t>Software SCM: Sistem ERP dan SCM yang membantu dalam pengumpulan data secara real-time untuk memantau dan menganalisis kinerja rantai pasok.</a:t>
          </a:r>
          <a:endParaRPr lang="en-US" sz="1300" kern="1200"/>
        </a:p>
      </dsp:txBody>
      <dsp:txXfrm>
        <a:off x="202" y="1311233"/>
        <a:ext cx="2447649" cy="1762307"/>
      </dsp:txXfrm>
    </dsp:sp>
    <dsp:sp modelId="{A173EF17-891D-4E6F-9F70-EC3B6F64D3FF}">
      <dsp:nvSpPr>
        <dsp:cNvPr id="0" name=""/>
        <dsp:cNvSpPr/>
      </dsp:nvSpPr>
      <dsp:spPr>
        <a:xfrm>
          <a:off x="202" y="136361"/>
          <a:ext cx="2447649" cy="1174871"/>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41773" tIns="165100" rIns="241773" bIns="165100" numCol="1" spcCol="1270" anchor="ctr" anchorCtr="0">
          <a:noAutofit/>
        </a:bodyPr>
        <a:lstStyle/>
        <a:p>
          <a:pPr marL="0" lvl="0" indent="0" algn="l" defTabSz="2667000">
            <a:lnSpc>
              <a:spcPct val="90000"/>
            </a:lnSpc>
            <a:spcBef>
              <a:spcPct val="0"/>
            </a:spcBef>
            <a:spcAft>
              <a:spcPct val="35000"/>
            </a:spcAft>
            <a:buNone/>
          </a:pPr>
          <a:r>
            <a:rPr lang="en-US" sz="6000" kern="1200"/>
            <a:t>01</a:t>
          </a:r>
        </a:p>
      </dsp:txBody>
      <dsp:txXfrm>
        <a:off x="202" y="136361"/>
        <a:ext cx="2447649" cy="1174871"/>
      </dsp:txXfrm>
    </dsp:sp>
    <dsp:sp modelId="{633F9719-8FA4-42FD-A5DC-76DBA2A5BC81}">
      <dsp:nvSpPr>
        <dsp:cNvPr id="0" name=""/>
        <dsp:cNvSpPr/>
      </dsp:nvSpPr>
      <dsp:spPr>
        <a:xfrm>
          <a:off x="2643664" y="136361"/>
          <a:ext cx="2447649" cy="2937179"/>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773" tIns="0" rIns="241773" bIns="330200" numCol="1" spcCol="1270" anchor="t" anchorCtr="0">
          <a:noAutofit/>
        </a:bodyPr>
        <a:lstStyle/>
        <a:p>
          <a:pPr marL="0" lvl="0" indent="0" algn="l" defTabSz="577850">
            <a:lnSpc>
              <a:spcPct val="90000"/>
            </a:lnSpc>
            <a:spcBef>
              <a:spcPct val="0"/>
            </a:spcBef>
            <a:spcAft>
              <a:spcPct val="35000"/>
            </a:spcAft>
            <a:buNone/>
          </a:pPr>
          <a:r>
            <a:rPr lang="en-ID" sz="1300" kern="1200"/>
            <a:t>Audit Kinerja: Pemeriksaan berkala terhadap kinerja operasional, untuk memastikan kesesuaian dengan standar.</a:t>
          </a:r>
          <a:endParaRPr lang="en-US" sz="1300" kern="1200"/>
        </a:p>
      </dsp:txBody>
      <dsp:txXfrm>
        <a:off x="2643664" y="1311233"/>
        <a:ext cx="2447649" cy="1762307"/>
      </dsp:txXfrm>
    </dsp:sp>
    <dsp:sp modelId="{D06558CC-95B6-4AFC-AABB-A4F9AC4BAE80}">
      <dsp:nvSpPr>
        <dsp:cNvPr id="0" name=""/>
        <dsp:cNvSpPr/>
      </dsp:nvSpPr>
      <dsp:spPr>
        <a:xfrm>
          <a:off x="2643664" y="136361"/>
          <a:ext cx="2447649" cy="1174871"/>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41773" tIns="165100" rIns="241773" bIns="165100" numCol="1" spcCol="1270" anchor="ctr" anchorCtr="0">
          <a:noAutofit/>
        </a:bodyPr>
        <a:lstStyle/>
        <a:p>
          <a:pPr marL="0" lvl="0" indent="0" algn="l" defTabSz="2667000">
            <a:lnSpc>
              <a:spcPct val="90000"/>
            </a:lnSpc>
            <a:spcBef>
              <a:spcPct val="0"/>
            </a:spcBef>
            <a:spcAft>
              <a:spcPct val="35000"/>
            </a:spcAft>
            <a:buNone/>
          </a:pPr>
          <a:r>
            <a:rPr lang="en-US" sz="6000" kern="1200"/>
            <a:t>02</a:t>
          </a:r>
        </a:p>
      </dsp:txBody>
      <dsp:txXfrm>
        <a:off x="2643664" y="136361"/>
        <a:ext cx="2447649" cy="1174871"/>
      </dsp:txXfrm>
    </dsp:sp>
    <dsp:sp modelId="{10F38A12-197F-4C64-9F26-D2683950D7AE}">
      <dsp:nvSpPr>
        <dsp:cNvPr id="0" name=""/>
        <dsp:cNvSpPr/>
      </dsp:nvSpPr>
      <dsp:spPr>
        <a:xfrm>
          <a:off x="5287125" y="136361"/>
          <a:ext cx="2447649" cy="2937179"/>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773" tIns="0" rIns="241773" bIns="330200" numCol="1" spcCol="1270" anchor="t" anchorCtr="0">
          <a:noAutofit/>
        </a:bodyPr>
        <a:lstStyle/>
        <a:p>
          <a:pPr marL="0" lvl="0" indent="0" algn="l" defTabSz="577850">
            <a:lnSpc>
              <a:spcPct val="90000"/>
            </a:lnSpc>
            <a:spcBef>
              <a:spcPct val="0"/>
            </a:spcBef>
            <a:spcAft>
              <a:spcPct val="35000"/>
            </a:spcAft>
            <a:buNone/>
          </a:pPr>
          <a:r>
            <a:rPr lang="en-ID" sz="1300" kern="1200"/>
            <a:t>Benchmarking: Membandingkan kinerja dengan perusahaan lain atau standar industri untuk menentukan area yang perlu perbaikan.</a:t>
          </a:r>
          <a:endParaRPr lang="en-US" sz="1300" kern="1200"/>
        </a:p>
      </dsp:txBody>
      <dsp:txXfrm>
        <a:off x="5287125" y="1311233"/>
        <a:ext cx="2447649" cy="1762307"/>
      </dsp:txXfrm>
    </dsp:sp>
    <dsp:sp modelId="{3F0E0674-B747-4346-9657-7FA69EEF86D3}">
      <dsp:nvSpPr>
        <dsp:cNvPr id="0" name=""/>
        <dsp:cNvSpPr/>
      </dsp:nvSpPr>
      <dsp:spPr>
        <a:xfrm>
          <a:off x="5287125" y="136361"/>
          <a:ext cx="2447649" cy="1174871"/>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41773" tIns="165100" rIns="241773" bIns="165100" numCol="1" spcCol="1270" anchor="ctr" anchorCtr="0">
          <a:noAutofit/>
        </a:bodyPr>
        <a:lstStyle/>
        <a:p>
          <a:pPr marL="0" lvl="0" indent="0" algn="l" defTabSz="2667000">
            <a:lnSpc>
              <a:spcPct val="90000"/>
            </a:lnSpc>
            <a:spcBef>
              <a:spcPct val="0"/>
            </a:spcBef>
            <a:spcAft>
              <a:spcPct val="35000"/>
            </a:spcAft>
            <a:buNone/>
          </a:pPr>
          <a:r>
            <a:rPr lang="en-US" sz="6000" kern="1200"/>
            <a:t>03</a:t>
          </a:r>
        </a:p>
      </dsp:txBody>
      <dsp:txXfrm>
        <a:off x="5287125" y="136361"/>
        <a:ext cx="2447649" cy="1174871"/>
      </dsp:txXfrm>
    </dsp:sp>
    <dsp:sp modelId="{D4B47D40-7E44-409E-B6D9-8B3500CB9B45}">
      <dsp:nvSpPr>
        <dsp:cNvPr id="0" name=""/>
        <dsp:cNvSpPr/>
      </dsp:nvSpPr>
      <dsp:spPr>
        <a:xfrm>
          <a:off x="7930587" y="136361"/>
          <a:ext cx="2447649" cy="2937179"/>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773" tIns="0" rIns="241773" bIns="330200" numCol="1" spcCol="1270" anchor="t" anchorCtr="0">
          <a:noAutofit/>
        </a:bodyPr>
        <a:lstStyle/>
        <a:p>
          <a:pPr marL="0" lvl="0" indent="0" algn="l" defTabSz="577850">
            <a:lnSpc>
              <a:spcPct val="90000"/>
            </a:lnSpc>
            <a:spcBef>
              <a:spcPct val="0"/>
            </a:spcBef>
            <a:spcAft>
              <a:spcPct val="35000"/>
            </a:spcAft>
            <a:buNone/>
          </a:pPr>
          <a:r>
            <a:rPr lang="en-ID" sz="1300" kern="1200"/>
            <a:t>Analisis SWOT (Strengths, Weaknesses, Opportunities, Threats): Untuk menilai kinerja SCM dalam konteks internal dan eksternal.</a:t>
          </a:r>
          <a:endParaRPr lang="en-US" sz="1300" kern="1200"/>
        </a:p>
      </dsp:txBody>
      <dsp:txXfrm>
        <a:off x="7930587" y="1311233"/>
        <a:ext cx="2447649" cy="1762307"/>
      </dsp:txXfrm>
    </dsp:sp>
    <dsp:sp modelId="{6CA65682-DDB2-4539-86BE-A2D74E53A1D1}">
      <dsp:nvSpPr>
        <dsp:cNvPr id="0" name=""/>
        <dsp:cNvSpPr/>
      </dsp:nvSpPr>
      <dsp:spPr>
        <a:xfrm>
          <a:off x="7930587" y="136361"/>
          <a:ext cx="2447649" cy="1174871"/>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41773" tIns="165100" rIns="241773" bIns="165100" numCol="1" spcCol="1270" anchor="ctr" anchorCtr="0">
          <a:noAutofit/>
        </a:bodyPr>
        <a:lstStyle/>
        <a:p>
          <a:pPr marL="0" lvl="0" indent="0" algn="l" defTabSz="2667000">
            <a:lnSpc>
              <a:spcPct val="90000"/>
            </a:lnSpc>
            <a:spcBef>
              <a:spcPct val="0"/>
            </a:spcBef>
            <a:spcAft>
              <a:spcPct val="35000"/>
            </a:spcAft>
            <a:buNone/>
          </a:pPr>
          <a:r>
            <a:rPr lang="en-US" sz="6000" kern="1200"/>
            <a:t>04</a:t>
          </a:r>
        </a:p>
      </dsp:txBody>
      <dsp:txXfrm>
        <a:off x="7930587" y="136361"/>
        <a:ext cx="2447649" cy="117487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8893D9-1E58-4BA7-B818-CEC63649D674}">
      <dsp:nvSpPr>
        <dsp:cNvPr id="0" name=""/>
        <dsp:cNvSpPr/>
      </dsp:nvSpPr>
      <dsp:spPr>
        <a:xfrm>
          <a:off x="0" y="1805"/>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1BAF55-B4D0-4AD0-83BE-84B6CF729D3C}">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0D9E07-E3FC-4707-91EC-51B3BC1D998E}">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ID" sz="2200" kern="1200"/>
            <a:t>Keterbatasan Data: Kualitas dan akurasi data yang diperlukan untuk pengukuran kinerja bisa menjadi tantangan.</a:t>
          </a:r>
          <a:endParaRPr lang="en-US" sz="2200" kern="1200"/>
        </a:p>
      </dsp:txBody>
      <dsp:txXfrm>
        <a:off x="1057183" y="1805"/>
        <a:ext cx="9458416" cy="915310"/>
      </dsp:txXfrm>
    </dsp:sp>
    <dsp:sp modelId="{01C7D04E-0A96-42B4-89B7-332665FDD1C2}">
      <dsp:nvSpPr>
        <dsp:cNvPr id="0" name=""/>
        <dsp:cNvSpPr/>
      </dsp:nvSpPr>
      <dsp:spPr>
        <a:xfrm>
          <a:off x="0" y="1145944"/>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C38B95-A716-466F-B11B-4893A83D547B}">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0641CB-FD4E-4933-8191-58636DD15934}">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ID" sz="2200" kern="1200"/>
            <a:t>Kesulitan dalam Menentukan KPI yang Tepat: Memilih indikator yang relevan dengan tujuan bisnis dan rantai pasok.</a:t>
          </a:r>
          <a:endParaRPr lang="en-US" sz="2200" kern="1200"/>
        </a:p>
      </dsp:txBody>
      <dsp:txXfrm>
        <a:off x="1057183" y="1145944"/>
        <a:ext cx="9458416" cy="915310"/>
      </dsp:txXfrm>
    </dsp:sp>
    <dsp:sp modelId="{A10B6024-1FC4-4897-B984-C4F23F822C45}">
      <dsp:nvSpPr>
        <dsp:cNvPr id="0" name=""/>
        <dsp:cNvSpPr/>
      </dsp:nvSpPr>
      <dsp:spPr>
        <a:xfrm>
          <a:off x="0" y="2290082"/>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3525D9-C3E0-4447-9CCA-0BE1C29F1D13}">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A07696-A2E1-4BE8-A9CE-3095BE769A13}">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ID" sz="2200" kern="1200"/>
            <a:t>Pengaruh Faktor Eksternal: Perubahan pasar, cuaca, dan faktor lain yang memengaruhi kinerja.</a:t>
          </a:r>
          <a:endParaRPr lang="en-US" sz="2200" kern="1200"/>
        </a:p>
      </dsp:txBody>
      <dsp:txXfrm>
        <a:off x="1057183" y="2290082"/>
        <a:ext cx="9458416" cy="915310"/>
      </dsp:txXfrm>
    </dsp:sp>
    <dsp:sp modelId="{97FC244B-A988-42E8-8CB8-5BE48D41C3C9}">
      <dsp:nvSpPr>
        <dsp:cNvPr id="0" name=""/>
        <dsp:cNvSpPr/>
      </dsp:nvSpPr>
      <dsp:spPr>
        <a:xfrm>
          <a:off x="0" y="3434221"/>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830055-9AF5-4510-B434-CB11332CE5FC}">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6581A8-31C6-49D3-B5A4-E7A1B5AD4200}">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ID" sz="2200" kern="1200"/>
            <a:t>Integrasi Sistem: Menyatukan data dan informasi dari berbagai sistem yang berbeda dalam rantai pasok</a:t>
          </a:r>
          <a:endParaRPr lang="en-US" sz="2200" kern="1200"/>
        </a:p>
      </dsp:txBody>
      <dsp:txXfrm>
        <a:off x="1057183" y="3434221"/>
        <a:ext cx="9458416" cy="91531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9CFB56-16ED-4F86-85F3-3166B3CE0EDC}">
      <dsp:nvSpPr>
        <dsp:cNvPr id="0" name=""/>
        <dsp:cNvSpPr/>
      </dsp:nvSpPr>
      <dsp:spPr>
        <a:xfrm>
          <a:off x="134291" y="612"/>
          <a:ext cx="4332795" cy="27513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441F4D-0B83-4426-B110-7707F6D32C31}">
      <dsp:nvSpPr>
        <dsp:cNvPr id="0" name=""/>
        <dsp:cNvSpPr/>
      </dsp:nvSpPr>
      <dsp:spPr>
        <a:xfrm>
          <a:off x="615713"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D" sz="2400" kern="1200"/>
            <a:t>Contoh perusahaan (misalnya perusahaan manufaktur atau retail) yang mengimplementasikan framework atau KPI untuk mengukur kinerja rantai pasok.</a:t>
          </a:r>
          <a:endParaRPr lang="en-US" sz="2400" kern="1200"/>
        </a:p>
      </dsp:txBody>
      <dsp:txXfrm>
        <a:off x="696297" y="538547"/>
        <a:ext cx="4171627" cy="2590157"/>
      </dsp:txXfrm>
    </dsp:sp>
    <dsp:sp modelId="{201F1DF8-9CF7-463D-96D5-02562ED83A11}">
      <dsp:nvSpPr>
        <dsp:cNvPr id="0" name=""/>
        <dsp:cNvSpPr/>
      </dsp:nvSpPr>
      <dsp:spPr>
        <a:xfrm>
          <a:off x="5429930" y="612"/>
          <a:ext cx="4332795" cy="27513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0775217-770E-43AA-A3F4-1FACD10BD632}">
      <dsp:nvSpPr>
        <dsp:cNvPr id="0" name=""/>
        <dsp:cNvSpPr/>
      </dsp:nvSpPr>
      <dsp:spPr>
        <a:xfrm>
          <a:off x="5911352"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D" sz="2400" kern="1200"/>
            <a:t>Hasil yang dicapai: peningkatan efisiensi, pengurangan biaya, peningkatan kepuasan pelanggan, dan waktu pengiriman.</a:t>
          </a:r>
          <a:endParaRPr lang="en-US" sz="2400" kern="1200"/>
        </a:p>
      </dsp:txBody>
      <dsp:txXfrm>
        <a:off x="5991936" y="538547"/>
        <a:ext cx="4171627" cy="259015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D30F48-0B32-4CF1-85E9-F180677D0A4C}">
      <dsp:nvSpPr>
        <dsp:cNvPr id="0" name=""/>
        <dsp:cNvSpPr/>
      </dsp:nvSpPr>
      <dsp:spPr>
        <a:xfrm>
          <a:off x="0" y="41200"/>
          <a:ext cx="10378440" cy="99450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ID" sz="2500" kern="1200"/>
            <a:t>Pengukuran kinerja SCM penting untuk mengidentifikasi kekuatan dan kelemahan dalam rantai pasok.</a:t>
          </a:r>
          <a:endParaRPr lang="en-US" sz="2500" kern="1200"/>
        </a:p>
      </dsp:txBody>
      <dsp:txXfrm>
        <a:off x="48547" y="89747"/>
        <a:ext cx="10281346" cy="897406"/>
      </dsp:txXfrm>
    </dsp:sp>
    <dsp:sp modelId="{4F91AA7B-8A8E-4E5A-99DB-27A781097532}">
      <dsp:nvSpPr>
        <dsp:cNvPr id="0" name=""/>
        <dsp:cNvSpPr/>
      </dsp:nvSpPr>
      <dsp:spPr>
        <a:xfrm>
          <a:off x="0" y="1107701"/>
          <a:ext cx="10378440" cy="994500"/>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ID" sz="2500" kern="1200"/>
            <a:t>Penggunaan KPI yang tepat dan alat pengukuran dapat membantu mencapai tujuan efisiensi dan efektivitas.</a:t>
          </a:r>
          <a:endParaRPr lang="en-US" sz="2500" kern="1200"/>
        </a:p>
      </dsp:txBody>
      <dsp:txXfrm>
        <a:off x="48547" y="1156248"/>
        <a:ext cx="10281346" cy="897406"/>
      </dsp:txXfrm>
    </dsp:sp>
    <dsp:sp modelId="{20A7707A-1120-4B64-810F-04625A609C50}">
      <dsp:nvSpPr>
        <dsp:cNvPr id="0" name=""/>
        <dsp:cNvSpPr/>
      </dsp:nvSpPr>
      <dsp:spPr>
        <a:xfrm>
          <a:off x="0" y="2174201"/>
          <a:ext cx="10378440" cy="99450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ID" sz="2500" kern="1200"/>
            <a:t>Rekomendasi: Berinvestasi dalam teknologi dan pelatihan untuk meningkatkan kemampuan pengukuran kinerja di seluruh rantai pasok.</a:t>
          </a:r>
          <a:endParaRPr lang="en-US" sz="2500" kern="1200"/>
        </a:p>
      </dsp:txBody>
      <dsp:txXfrm>
        <a:off x="48547" y="2222748"/>
        <a:ext cx="10281346" cy="89740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02569-293A-4AAD-4E60-FEB214583A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EB28C161-C82D-2022-A547-CD1EE8C041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04E00E20-C10B-E5A5-9555-7297E3D7501D}"/>
              </a:ext>
            </a:extLst>
          </p:cNvPr>
          <p:cNvSpPr>
            <a:spLocks noGrp="1"/>
          </p:cNvSpPr>
          <p:nvPr>
            <p:ph type="dt" sz="half" idx="10"/>
          </p:nvPr>
        </p:nvSpPr>
        <p:spPr/>
        <p:txBody>
          <a:bodyPr/>
          <a:lstStyle/>
          <a:p>
            <a:fld id="{6E2E7E20-EBB5-49F0-AF83-E9272A3993BA}" type="datetimeFigureOut">
              <a:rPr lang="en-ID" smtClean="0"/>
              <a:t>22/11/2024</a:t>
            </a:fld>
            <a:endParaRPr lang="en-ID"/>
          </a:p>
        </p:txBody>
      </p:sp>
      <p:sp>
        <p:nvSpPr>
          <p:cNvPr id="5" name="Footer Placeholder 4">
            <a:extLst>
              <a:ext uri="{FF2B5EF4-FFF2-40B4-BE49-F238E27FC236}">
                <a16:creationId xmlns:a16="http://schemas.microsoft.com/office/drawing/2014/main" id="{F2EFACC8-995A-AE4E-947D-4921DBFE2AB2}"/>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C0AAAD6D-3A5A-8A71-1527-F78E6FEAEEAB}"/>
              </a:ext>
            </a:extLst>
          </p:cNvPr>
          <p:cNvSpPr>
            <a:spLocks noGrp="1"/>
          </p:cNvSpPr>
          <p:nvPr>
            <p:ph type="sldNum" sz="quarter" idx="12"/>
          </p:nvPr>
        </p:nvSpPr>
        <p:spPr/>
        <p:txBody>
          <a:bodyPr/>
          <a:lstStyle/>
          <a:p>
            <a:fld id="{31AE106B-8700-4840-9F33-13DCC9904BE4}" type="slidenum">
              <a:rPr lang="en-ID" smtClean="0"/>
              <a:t>‹#›</a:t>
            </a:fld>
            <a:endParaRPr lang="en-ID"/>
          </a:p>
        </p:txBody>
      </p:sp>
    </p:spTree>
    <p:extLst>
      <p:ext uri="{BB962C8B-B14F-4D97-AF65-F5344CB8AC3E}">
        <p14:creationId xmlns:p14="http://schemas.microsoft.com/office/powerpoint/2010/main" val="4220499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5D8EE-68AA-10FE-6B5B-E26B1CC1238B}"/>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26D96D3F-ACC6-1134-08AB-32EA07F205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C795106E-1958-43A5-2703-4EFDB4421575}"/>
              </a:ext>
            </a:extLst>
          </p:cNvPr>
          <p:cNvSpPr>
            <a:spLocks noGrp="1"/>
          </p:cNvSpPr>
          <p:nvPr>
            <p:ph type="dt" sz="half" idx="10"/>
          </p:nvPr>
        </p:nvSpPr>
        <p:spPr/>
        <p:txBody>
          <a:bodyPr/>
          <a:lstStyle/>
          <a:p>
            <a:fld id="{6E2E7E20-EBB5-49F0-AF83-E9272A3993BA}" type="datetimeFigureOut">
              <a:rPr lang="en-ID" smtClean="0"/>
              <a:t>22/11/2024</a:t>
            </a:fld>
            <a:endParaRPr lang="en-ID"/>
          </a:p>
        </p:txBody>
      </p:sp>
      <p:sp>
        <p:nvSpPr>
          <p:cNvPr id="5" name="Footer Placeholder 4">
            <a:extLst>
              <a:ext uri="{FF2B5EF4-FFF2-40B4-BE49-F238E27FC236}">
                <a16:creationId xmlns:a16="http://schemas.microsoft.com/office/drawing/2014/main" id="{81A33761-59EC-BE5A-280A-410C4EE0FCB7}"/>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C6128B75-142B-BD45-29BE-22A8E4767A2C}"/>
              </a:ext>
            </a:extLst>
          </p:cNvPr>
          <p:cNvSpPr>
            <a:spLocks noGrp="1"/>
          </p:cNvSpPr>
          <p:nvPr>
            <p:ph type="sldNum" sz="quarter" idx="12"/>
          </p:nvPr>
        </p:nvSpPr>
        <p:spPr/>
        <p:txBody>
          <a:bodyPr/>
          <a:lstStyle/>
          <a:p>
            <a:fld id="{31AE106B-8700-4840-9F33-13DCC9904BE4}" type="slidenum">
              <a:rPr lang="en-ID" smtClean="0"/>
              <a:t>‹#›</a:t>
            </a:fld>
            <a:endParaRPr lang="en-ID"/>
          </a:p>
        </p:txBody>
      </p:sp>
    </p:spTree>
    <p:extLst>
      <p:ext uri="{BB962C8B-B14F-4D97-AF65-F5344CB8AC3E}">
        <p14:creationId xmlns:p14="http://schemas.microsoft.com/office/powerpoint/2010/main" val="1987345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400CC-2888-0303-4238-A839ADE860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BFF8FF41-9575-8615-19E3-94BEDCCDCA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4717F8-740C-0C0A-AC4D-D3106DD7E053}"/>
              </a:ext>
            </a:extLst>
          </p:cNvPr>
          <p:cNvSpPr>
            <a:spLocks noGrp="1"/>
          </p:cNvSpPr>
          <p:nvPr>
            <p:ph type="dt" sz="half" idx="10"/>
          </p:nvPr>
        </p:nvSpPr>
        <p:spPr/>
        <p:txBody>
          <a:bodyPr/>
          <a:lstStyle/>
          <a:p>
            <a:fld id="{6E2E7E20-EBB5-49F0-AF83-E9272A3993BA}" type="datetimeFigureOut">
              <a:rPr lang="en-ID" smtClean="0"/>
              <a:t>22/11/2024</a:t>
            </a:fld>
            <a:endParaRPr lang="en-ID"/>
          </a:p>
        </p:txBody>
      </p:sp>
      <p:sp>
        <p:nvSpPr>
          <p:cNvPr id="5" name="Footer Placeholder 4">
            <a:extLst>
              <a:ext uri="{FF2B5EF4-FFF2-40B4-BE49-F238E27FC236}">
                <a16:creationId xmlns:a16="http://schemas.microsoft.com/office/drawing/2014/main" id="{DB378246-0FFB-9AB2-5972-3F5C1EDF428E}"/>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D5F19C2F-8C63-EB5B-816E-112D99EE28DD}"/>
              </a:ext>
            </a:extLst>
          </p:cNvPr>
          <p:cNvSpPr>
            <a:spLocks noGrp="1"/>
          </p:cNvSpPr>
          <p:nvPr>
            <p:ph type="sldNum" sz="quarter" idx="12"/>
          </p:nvPr>
        </p:nvSpPr>
        <p:spPr/>
        <p:txBody>
          <a:bodyPr/>
          <a:lstStyle/>
          <a:p>
            <a:fld id="{31AE106B-8700-4840-9F33-13DCC9904BE4}" type="slidenum">
              <a:rPr lang="en-ID" smtClean="0"/>
              <a:t>‹#›</a:t>
            </a:fld>
            <a:endParaRPr lang="en-ID"/>
          </a:p>
        </p:txBody>
      </p:sp>
    </p:spTree>
    <p:extLst>
      <p:ext uri="{BB962C8B-B14F-4D97-AF65-F5344CB8AC3E}">
        <p14:creationId xmlns:p14="http://schemas.microsoft.com/office/powerpoint/2010/main" val="3663193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3D6E8-FABF-BD8B-49E7-D9ACADE726B5}"/>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2AAF4484-F566-65BB-68EF-376B4CA968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2AEF75B6-4FCD-BE76-E57D-6AEF5B4258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2DBE5DE6-C792-F82A-7629-0CF6E4D74B66}"/>
              </a:ext>
            </a:extLst>
          </p:cNvPr>
          <p:cNvSpPr>
            <a:spLocks noGrp="1"/>
          </p:cNvSpPr>
          <p:nvPr>
            <p:ph type="dt" sz="half" idx="10"/>
          </p:nvPr>
        </p:nvSpPr>
        <p:spPr/>
        <p:txBody>
          <a:bodyPr/>
          <a:lstStyle/>
          <a:p>
            <a:fld id="{6E2E7E20-EBB5-49F0-AF83-E9272A3993BA}" type="datetimeFigureOut">
              <a:rPr lang="en-ID" smtClean="0"/>
              <a:t>22/11/2024</a:t>
            </a:fld>
            <a:endParaRPr lang="en-ID"/>
          </a:p>
        </p:txBody>
      </p:sp>
      <p:sp>
        <p:nvSpPr>
          <p:cNvPr id="6" name="Footer Placeholder 5">
            <a:extLst>
              <a:ext uri="{FF2B5EF4-FFF2-40B4-BE49-F238E27FC236}">
                <a16:creationId xmlns:a16="http://schemas.microsoft.com/office/drawing/2014/main" id="{2500E8D4-7AB1-E3E5-B765-5EBD8BF48CB6}"/>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4D3F1128-F978-B92E-9C05-298CCFC836F6}"/>
              </a:ext>
            </a:extLst>
          </p:cNvPr>
          <p:cNvSpPr>
            <a:spLocks noGrp="1"/>
          </p:cNvSpPr>
          <p:nvPr>
            <p:ph type="sldNum" sz="quarter" idx="12"/>
          </p:nvPr>
        </p:nvSpPr>
        <p:spPr/>
        <p:txBody>
          <a:bodyPr/>
          <a:lstStyle/>
          <a:p>
            <a:fld id="{31AE106B-8700-4840-9F33-13DCC9904BE4}" type="slidenum">
              <a:rPr lang="en-ID" smtClean="0"/>
              <a:t>‹#›</a:t>
            </a:fld>
            <a:endParaRPr lang="en-ID"/>
          </a:p>
        </p:txBody>
      </p:sp>
    </p:spTree>
    <p:extLst>
      <p:ext uri="{BB962C8B-B14F-4D97-AF65-F5344CB8AC3E}">
        <p14:creationId xmlns:p14="http://schemas.microsoft.com/office/powerpoint/2010/main" val="3340818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3D411-CBB9-4F1F-452B-2449DABEC059}"/>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7855F9A1-B1C9-1CC7-7766-FD2F49F216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5444D6-91E9-6678-BFE8-40D1B0E7EF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9F8B567A-4995-C7BB-30C9-66D030D301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F843AF-08C7-2600-14DD-93031A3E27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B7659DF2-175C-B074-0B97-4066BA0C4145}"/>
              </a:ext>
            </a:extLst>
          </p:cNvPr>
          <p:cNvSpPr>
            <a:spLocks noGrp="1"/>
          </p:cNvSpPr>
          <p:nvPr>
            <p:ph type="dt" sz="half" idx="10"/>
          </p:nvPr>
        </p:nvSpPr>
        <p:spPr/>
        <p:txBody>
          <a:bodyPr/>
          <a:lstStyle/>
          <a:p>
            <a:fld id="{6E2E7E20-EBB5-49F0-AF83-E9272A3993BA}" type="datetimeFigureOut">
              <a:rPr lang="en-ID" smtClean="0"/>
              <a:t>22/11/2024</a:t>
            </a:fld>
            <a:endParaRPr lang="en-ID"/>
          </a:p>
        </p:txBody>
      </p:sp>
      <p:sp>
        <p:nvSpPr>
          <p:cNvPr id="8" name="Footer Placeholder 7">
            <a:extLst>
              <a:ext uri="{FF2B5EF4-FFF2-40B4-BE49-F238E27FC236}">
                <a16:creationId xmlns:a16="http://schemas.microsoft.com/office/drawing/2014/main" id="{E61076CC-AD37-D395-04DE-E1A89D015BC1}"/>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4F3C4A13-EDB6-92FF-68BE-45557A9CA189}"/>
              </a:ext>
            </a:extLst>
          </p:cNvPr>
          <p:cNvSpPr>
            <a:spLocks noGrp="1"/>
          </p:cNvSpPr>
          <p:nvPr>
            <p:ph type="sldNum" sz="quarter" idx="12"/>
          </p:nvPr>
        </p:nvSpPr>
        <p:spPr/>
        <p:txBody>
          <a:bodyPr/>
          <a:lstStyle/>
          <a:p>
            <a:fld id="{31AE106B-8700-4840-9F33-13DCC9904BE4}" type="slidenum">
              <a:rPr lang="en-ID" smtClean="0"/>
              <a:t>‹#›</a:t>
            </a:fld>
            <a:endParaRPr lang="en-ID"/>
          </a:p>
        </p:txBody>
      </p:sp>
    </p:spTree>
    <p:extLst>
      <p:ext uri="{BB962C8B-B14F-4D97-AF65-F5344CB8AC3E}">
        <p14:creationId xmlns:p14="http://schemas.microsoft.com/office/powerpoint/2010/main" val="4078023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00963-DF8F-1E77-4A89-C5EBFC962B89}"/>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56E48FCC-2B47-6DF0-9410-43DCBD201786}"/>
              </a:ext>
            </a:extLst>
          </p:cNvPr>
          <p:cNvSpPr>
            <a:spLocks noGrp="1"/>
          </p:cNvSpPr>
          <p:nvPr>
            <p:ph type="dt" sz="half" idx="10"/>
          </p:nvPr>
        </p:nvSpPr>
        <p:spPr/>
        <p:txBody>
          <a:bodyPr/>
          <a:lstStyle/>
          <a:p>
            <a:fld id="{6E2E7E20-EBB5-49F0-AF83-E9272A3993BA}" type="datetimeFigureOut">
              <a:rPr lang="en-ID" smtClean="0"/>
              <a:t>22/11/2024</a:t>
            </a:fld>
            <a:endParaRPr lang="en-ID"/>
          </a:p>
        </p:txBody>
      </p:sp>
      <p:sp>
        <p:nvSpPr>
          <p:cNvPr id="4" name="Footer Placeholder 3">
            <a:extLst>
              <a:ext uri="{FF2B5EF4-FFF2-40B4-BE49-F238E27FC236}">
                <a16:creationId xmlns:a16="http://schemas.microsoft.com/office/drawing/2014/main" id="{A46F2162-7BC1-6675-65B7-53FA7B54D50D}"/>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AE97ADEB-3389-9B9C-B3C8-F20D894084FE}"/>
              </a:ext>
            </a:extLst>
          </p:cNvPr>
          <p:cNvSpPr>
            <a:spLocks noGrp="1"/>
          </p:cNvSpPr>
          <p:nvPr>
            <p:ph type="sldNum" sz="quarter" idx="12"/>
          </p:nvPr>
        </p:nvSpPr>
        <p:spPr/>
        <p:txBody>
          <a:bodyPr/>
          <a:lstStyle/>
          <a:p>
            <a:fld id="{31AE106B-8700-4840-9F33-13DCC9904BE4}" type="slidenum">
              <a:rPr lang="en-ID" smtClean="0"/>
              <a:t>‹#›</a:t>
            </a:fld>
            <a:endParaRPr lang="en-ID"/>
          </a:p>
        </p:txBody>
      </p:sp>
    </p:spTree>
    <p:extLst>
      <p:ext uri="{BB962C8B-B14F-4D97-AF65-F5344CB8AC3E}">
        <p14:creationId xmlns:p14="http://schemas.microsoft.com/office/powerpoint/2010/main" val="2784126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EF07F5-22F7-EEC9-15F4-928A46942B06}"/>
              </a:ext>
            </a:extLst>
          </p:cNvPr>
          <p:cNvSpPr>
            <a:spLocks noGrp="1"/>
          </p:cNvSpPr>
          <p:nvPr>
            <p:ph type="dt" sz="half" idx="10"/>
          </p:nvPr>
        </p:nvSpPr>
        <p:spPr/>
        <p:txBody>
          <a:bodyPr/>
          <a:lstStyle/>
          <a:p>
            <a:fld id="{6E2E7E20-EBB5-49F0-AF83-E9272A3993BA}" type="datetimeFigureOut">
              <a:rPr lang="en-ID" smtClean="0"/>
              <a:t>22/11/2024</a:t>
            </a:fld>
            <a:endParaRPr lang="en-ID"/>
          </a:p>
        </p:txBody>
      </p:sp>
      <p:sp>
        <p:nvSpPr>
          <p:cNvPr id="3" name="Footer Placeholder 2">
            <a:extLst>
              <a:ext uri="{FF2B5EF4-FFF2-40B4-BE49-F238E27FC236}">
                <a16:creationId xmlns:a16="http://schemas.microsoft.com/office/drawing/2014/main" id="{BF7D30F1-C4EB-0C1C-8BF2-A644F5FBAA39}"/>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3541A31B-BBF2-22B5-7875-2E4D926F3718}"/>
              </a:ext>
            </a:extLst>
          </p:cNvPr>
          <p:cNvSpPr>
            <a:spLocks noGrp="1"/>
          </p:cNvSpPr>
          <p:nvPr>
            <p:ph type="sldNum" sz="quarter" idx="12"/>
          </p:nvPr>
        </p:nvSpPr>
        <p:spPr/>
        <p:txBody>
          <a:bodyPr/>
          <a:lstStyle/>
          <a:p>
            <a:fld id="{31AE106B-8700-4840-9F33-13DCC9904BE4}" type="slidenum">
              <a:rPr lang="en-ID" smtClean="0"/>
              <a:t>‹#›</a:t>
            </a:fld>
            <a:endParaRPr lang="en-ID"/>
          </a:p>
        </p:txBody>
      </p:sp>
    </p:spTree>
    <p:extLst>
      <p:ext uri="{BB962C8B-B14F-4D97-AF65-F5344CB8AC3E}">
        <p14:creationId xmlns:p14="http://schemas.microsoft.com/office/powerpoint/2010/main" val="2492876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99AD7-498B-498A-9128-671B4E24E0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F6E64125-BF2C-6609-DA1A-B9B4F110A5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99CC0F33-BC3F-9747-6439-007AC2FFD9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F5A7FE-40F5-2DA3-F2A8-E85A80550EEC}"/>
              </a:ext>
            </a:extLst>
          </p:cNvPr>
          <p:cNvSpPr>
            <a:spLocks noGrp="1"/>
          </p:cNvSpPr>
          <p:nvPr>
            <p:ph type="dt" sz="half" idx="10"/>
          </p:nvPr>
        </p:nvSpPr>
        <p:spPr/>
        <p:txBody>
          <a:bodyPr/>
          <a:lstStyle/>
          <a:p>
            <a:fld id="{6E2E7E20-EBB5-49F0-AF83-E9272A3993BA}" type="datetimeFigureOut">
              <a:rPr lang="en-ID" smtClean="0"/>
              <a:t>22/11/2024</a:t>
            </a:fld>
            <a:endParaRPr lang="en-ID"/>
          </a:p>
        </p:txBody>
      </p:sp>
      <p:sp>
        <p:nvSpPr>
          <p:cNvPr id="6" name="Footer Placeholder 5">
            <a:extLst>
              <a:ext uri="{FF2B5EF4-FFF2-40B4-BE49-F238E27FC236}">
                <a16:creationId xmlns:a16="http://schemas.microsoft.com/office/drawing/2014/main" id="{0434DE82-B8FA-C0C5-2065-1446606FF757}"/>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48403E93-D649-9FF6-A5F2-1D8318E33594}"/>
              </a:ext>
            </a:extLst>
          </p:cNvPr>
          <p:cNvSpPr>
            <a:spLocks noGrp="1"/>
          </p:cNvSpPr>
          <p:nvPr>
            <p:ph type="sldNum" sz="quarter" idx="12"/>
          </p:nvPr>
        </p:nvSpPr>
        <p:spPr/>
        <p:txBody>
          <a:bodyPr/>
          <a:lstStyle/>
          <a:p>
            <a:fld id="{31AE106B-8700-4840-9F33-13DCC9904BE4}" type="slidenum">
              <a:rPr lang="en-ID" smtClean="0"/>
              <a:t>‹#›</a:t>
            </a:fld>
            <a:endParaRPr lang="en-ID"/>
          </a:p>
        </p:txBody>
      </p:sp>
    </p:spTree>
    <p:extLst>
      <p:ext uri="{BB962C8B-B14F-4D97-AF65-F5344CB8AC3E}">
        <p14:creationId xmlns:p14="http://schemas.microsoft.com/office/powerpoint/2010/main" val="3237714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43F70-D70C-109F-6EB7-52A8981C33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62749C2F-DFC9-F550-CFA4-01581F4D39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D3397B98-9923-5EB1-E6C2-EB4A725CCF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59CB02-A89F-2DD0-368D-46F058F49B40}"/>
              </a:ext>
            </a:extLst>
          </p:cNvPr>
          <p:cNvSpPr>
            <a:spLocks noGrp="1"/>
          </p:cNvSpPr>
          <p:nvPr>
            <p:ph type="dt" sz="half" idx="10"/>
          </p:nvPr>
        </p:nvSpPr>
        <p:spPr/>
        <p:txBody>
          <a:bodyPr/>
          <a:lstStyle/>
          <a:p>
            <a:fld id="{6E2E7E20-EBB5-49F0-AF83-E9272A3993BA}" type="datetimeFigureOut">
              <a:rPr lang="en-ID" smtClean="0"/>
              <a:t>22/11/2024</a:t>
            </a:fld>
            <a:endParaRPr lang="en-ID"/>
          </a:p>
        </p:txBody>
      </p:sp>
      <p:sp>
        <p:nvSpPr>
          <p:cNvPr id="6" name="Footer Placeholder 5">
            <a:extLst>
              <a:ext uri="{FF2B5EF4-FFF2-40B4-BE49-F238E27FC236}">
                <a16:creationId xmlns:a16="http://schemas.microsoft.com/office/drawing/2014/main" id="{E1163263-E8B4-FEA0-B65C-201BEB0972A2}"/>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132C1F93-6CAA-8820-1E26-D7607CF8A956}"/>
              </a:ext>
            </a:extLst>
          </p:cNvPr>
          <p:cNvSpPr>
            <a:spLocks noGrp="1"/>
          </p:cNvSpPr>
          <p:nvPr>
            <p:ph type="sldNum" sz="quarter" idx="12"/>
          </p:nvPr>
        </p:nvSpPr>
        <p:spPr/>
        <p:txBody>
          <a:bodyPr/>
          <a:lstStyle/>
          <a:p>
            <a:fld id="{31AE106B-8700-4840-9F33-13DCC9904BE4}" type="slidenum">
              <a:rPr lang="en-ID" smtClean="0"/>
              <a:t>‹#›</a:t>
            </a:fld>
            <a:endParaRPr lang="en-ID"/>
          </a:p>
        </p:txBody>
      </p:sp>
    </p:spTree>
    <p:extLst>
      <p:ext uri="{BB962C8B-B14F-4D97-AF65-F5344CB8AC3E}">
        <p14:creationId xmlns:p14="http://schemas.microsoft.com/office/powerpoint/2010/main" val="1895164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EEF43-9F09-73F8-122C-3F172137F116}"/>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7DF86363-288F-669F-41B9-3F82023DBF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7A0996CD-E9EC-2DA3-522D-485920A0E13B}"/>
              </a:ext>
            </a:extLst>
          </p:cNvPr>
          <p:cNvSpPr>
            <a:spLocks noGrp="1"/>
          </p:cNvSpPr>
          <p:nvPr>
            <p:ph type="dt" sz="half" idx="10"/>
          </p:nvPr>
        </p:nvSpPr>
        <p:spPr/>
        <p:txBody>
          <a:bodyPr/>
          <a:lstStyle/>
          <a:p>
            <a:fld id="{6E2E7E20-EBB5-49F0-AF83-E9272A3993BA}" type="datetimeFigureOut">
              <a:rPr lang="en-ID" smtClean="0"/>
              <a:t>22/11/2024</a:t>
            </a:fld>
            <a:endParaRPr lang="en-ID"/>
          </a:p>
        </p:txBody>
      </p:sp>
      <p:sp>
        <p:nvSpPr>
          <p:cNvPr id="5" name="Footer Placeholder 4">
            <a:extLst>
              <a:ext uri="{FF2B5EF4-FFF2-40B4-BE49-F238E27FC236}">
                <a16:creationId xmlns:a16="http://schemas.microsoft.com/office/drawing/2014/main" id="{BBA142BD-776F-02AE-EA41-485C5EEF7CA2}"/>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8AC6C1EB-2FE3-E905-F76A-806AAAD2DF2B}"/>
              </a:ext>
            </a:extLst>
          </p:cNvPr>
          <p:cNvSpPr>
            <a:spLocks noGrp="1"/>
          </p:cNvSpPr>
          <p:nvPr>
            <p:ph type="sldNum" sz="quarter" idx="12"/>
          </p:nvPr>
        </p:nvSpPr>
        <p:spPr/>
        <p:txBody>
          <a:bodyPr/>
          <a:lstStyle/>
          <a:p>
            <a:fld id="{31AE106B-8700-4840-9F33-13DCC9904BE4}" type="slidenum">
              <a:rPr lang="en-ID" smtClean="0"/>
              <a:t>‹#›</a:t>
            </a:fld>
            <a:endParaRPr lang="en-ID"/>
          </a:p>
        </p:txBody>
      </p:sp>
    </p:spTree>
    <p:extLst>
      <p:ext uri="{BB962C8B-B14F-4D97-AF65-F5344CB8AC3E}">
        <p14:creationId xmlns:p14="http://schemas.microsoft.com/office/powerpoint/2010/main" val="9328442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447C46-351F-D264-ACA9-52804143AD8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13A0CA6F-F3DB-F60C-E455-95CD5F03A9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31289E00-9AAB-9EBE-6F9C-B904334AE0B7}"/>
              </a:ext>
            </a:extLst>
          </p:cNvPr>
          <p:cNvSpPr>
            <a:spLocks noGrp="1"/>
          </p:cNvSpPr>
          <p:nvPr>
            <p:ph type="dt" sz="half" idx="10"/>
          </p:nvPr>
        </p:nvSpPr>
        <p:spPr/>
        <p:txBody>
          <a:bodyPr/>
          <a:lstStyle/>
          <a:p>
            <a:fld id="{6E2E7E20-EBB5-49F0-AF83-E9272A3993BA}" type="datetimeFigureOut">
              <a:rPr lang="en-ID" smtClean="0"/>
              <a:t>22/11/2024</a:t>
            </a:fld>
            <a:endParaRPr lang="en-ID"/>
          </a:p>
        </p:txBody>
      </p:sp>
      <p:sp>
        <p:nvSpPr>
          <p:cNvPr id="5" name="Footer Placeholder 4">
            <a:extLst>
              <a:ext uri="{FF2B5EF4-FFF2-40B4-BE49-F238E27FC236}">
                <a16:creationId xmlns:a16="http://schemas.microsoft.com/office/drawing/2014/main" id="{E19B5E5C-B522-21D9-9856-FCEB7B1BAE7F}"/>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75010D41-AFD4-1654-63A5-293F3EB3E580}"/>
              </a:ext>
            </a:extLst>
          </p:cNvPr>
          <p:cNvSpPr>
            <a:spLocks noGrp="1"/>
          </p:cNvSpPr>
          <p:nvPr>
            <p:ph type="sldNum" sz="quarter" idx="12"/>
          </p:nvPr>
        </p:nvSpPr>
        <p:spPr/>
        <p:txBody>
          <a:bodyPr/>
          <a:lstStyle/>
          <a:p>
            <a:fld id="{31AE106B-8700-4840-9F33-13DCC9904BE4}" type="slidenum">
              <a:rPr lang="en-ID" smtClean="0"/>
              <a:t>‹#›</a:t>
            </a:fld>
            <a:endParaRPr lang="en-ID"/>
          </a:p>
        </p:txBody>
      </p:sp>
    </p:spTree>
    <p:extLst>
      <p:ext uri="{BB962C8B-B14F-4D97-AF65-F5344CB8AC3E}">
        <p14:creationId xmlns:p14="http://schemas.microsoft.com/office/powerpoint/2010/main" val="365817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0B6F7A-2601-C4DF-46AE-A4C03219F1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292C4F23-6B5F-B76F-59F3-B87310C7C1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422B9929-F203-55A8-D7A7-77984D0883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E2E7E20-EBB5-49F0-AF83-E9272A3993BA}" type="datetimeFigureOut">
              <a:rPr lang="en-ID" smtClean="0"/>
              <a:t>22/11/2024</a:t>
            </a:fld>
            <a:endParaRPr lang="en-ID"/>
          </a:p>
        </p:txBody>
      </p:sp>
      <p:sp>
        <p:nvSpPr>
          <p:cNvPr id="5" name="Footer Placeholder 4">
            <a:extLst>
              <a:ext uri="{FF2B5EF4-FFF2-40B4-BE49-F238E27FC236}">
                <a16:creationId xmlns:a16="http://schemas.microsoft.com/office/drawing/2014/main" id="{BDCF0ADB-47B5-60A8-F177-FCA7266FFB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D"/>
          </a:p>
        </p:txBody>
      </p:sp>
      <p:sp>
        <p:nvSpPr>
          <p:cNvPr id="6" name="Slide Number Placeholder 5">
            <a:extLst>
              <a:ext uri="{FF2B5EF4-FFF2-40B4-BE49-F238E27FC236}">
                <a16:creationId xmlns:a16="http://schemas.microsoft.com/office/drawing/2014/main" id="{4A356556-F595-A89C-A852-9E4633BECC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1AE106B-8700-4840-9F33-13DCC9904BE4}" type="slidenum">
              <a:rPr lang="en-ID" smtClean="0"/>
              <a:t>‹#›</a:t>
            </a:fld>
            <a:endParaRPr lang="en-ID"/>
          </a:p>
        </p:txBody>
      </p:sp>
    </p:spTree>
    <p:extLst>
      <p:ext uri="{BB962C8B-B14F-4D97-AF65-F5344CB8AC3E}">
        <p14:creationId xmlns:p14="http://schemas.microsoft.com/office/powerpoint/2010/main" val="12201937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95C1F4-AE7F-44E4-8693-40D3D68311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734DDD3-F723-4DD3-8ABE-EC0B2AC87D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1" name="Straight Connector 10">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98035B-888A-237B-219A-0B4B6E3005F1}"/>
              </a:ext>
            </a:extLst>
          </p:cNvPr>
          <p:cNvSpPr>
            <a:spLocks noGrp="1"/>
          </p:cNvSpPr>
          <p:nvPr>
            <p:ph type="ctrTitle"/>
          </p:nvPr>
        </p:nvSpPr>
        <p:spPr>
          <a:xfrm>
            <a:off x="1524000" y="1584683"/>
            <a:ext cx="9144000" cy="2551829"/>
          </a:xfrm>
        </p:spPr>
        <p:txBody>
          <a:bodyPr anchor="ctr">
            <a:normAutofit/>
          </a:bodyPr>
          <a:lstStyle/>
          <a:p>
            <a:r>
              <a:rPr lang="en-ID" sz="6600" dirty="0" err="1"/>
              <a:t>Pengukuran</a:t>
            </a:r>
            <a:r>
              <a:rPr lang="en-ID" sz="6600" dirty="0"/>
              <a:t> Kinerja Supply Chain Management (</a:t>
            </a:r>
            <a:r>
              <a:rPr lang="en-ID" sz="6600" dirty="0" err="1"/>
              <a:t>SCM</a:t>
            </a:r>
            <a:r>
              <a:rPr lang="en-ID" sz="6600" dirty="0"/>
              <a:t>)</a:t>
            </a:r>
          </a:p>
        </p:txBody>
      </p:sp>
      <p:sp>
        <p:nvSpPr>
          <p:cNvPr id="3" name="Subtitle 2">
            <a:extLst>
              <a:ext uri="{FF2B5EF4-FFF2-40B4-BE49-F238E27FC236}">
                <a16:creationId xmlns:a16="http://schemas.microsoft.com/office/drawing/2014/main" id="{9D688A57-A603-94B0-8C1C-6105946DEB80}"/>
              </a:ext>
            </a:extLst>
          </p:cNvPr>
          <p:cNvSpPr>
            <a:spLocks noGrp="1"/>
          </p:cNvSpPr>
          <p:nvPr>
            <p:ph type="subTitle" idx="1"/>
          </p:nvPr>
        </p:nvSpPr>
        <p:spPr>
          <a:xfrm>
            <a:off x="1524000" y="5160469"/>
            <a:ext cx="9144000" cy="1182135"/>
          </a:xfrm>
        </p:spPr>
        <p:txBody>
          <a:bodyPr anchor="ctr">
            <a:normAutofit/>
          </a:bodyPr>
          <a:lstStyle/>
          <a:p>
            <a:r>
              <a:rPr lang="en-ID" sz="2800" dirty="0"/>
              <a:t>Tim </a:t>
            </a:r>
            <a:r>
              <a:rPr lang="en-ID" sz="2800" dirty="0" err="1"/>
              <a:t>DOSEN</a:t>
            </a:r>
            <a:endParaRPr lang="en-ID" sz="2800" dirty="0"/>
          </a:p>
        </p:txBody>
      </p:sp>
    </p:spTree>
    <p:extLst>
      <p:ext uri="{BB962C8B-B14F-4D97-AF65-F5344CB8AC3E}">
        <p14:creationId xmlns:p14="http://schemas.microsoft.com/office/powerpoint/2010/main" val="3053492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E90EE-968A-2FFD-CD6E-066D7D00EB24}"/>
              </a:ext>
            </a:extLst>
          </p:cNvPr>
          <p:cNvSpPr>
            <a:spLocks noGrp="1"/>
          </p:cNvSpPr>
          <p:nvPr>
            <p:ph type="title"/>
          </p:nvPr>
        </p:nvSpPr>
        <p:spPr/>
        <p:txBody>
          <a:bodyPr/>
          <a:lstStyle/>
          <a:p>
            <a:r>
              <a:rPr lang="en-ID" dirty="0"/>
              <a:t>Learning Objective</a:t>
            </a:r>
          </a:p>
        </p:txBody>
      </p:sp>
      <p:graphicFrame>
        <p:nvGraphicFramePr>
          <p:cNvPr id="6" name="Rectangle 1">
            <a:extLst>
              <a:ext uri="{FF2B5EF4-FFF2-40B4-BE49-F238E27FC236}">
                <a16:creationId xmlns:a16="http://schemas.microsoft.com/office/drawing/2014/main" id="{472D5CD7-97A6-B6F5-6852-366C1DAAEBE6}"/>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02356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31" name="Rectangle 3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16545C-D031-89DC-D8BC-0A82A86EF19A}"/>
              </a:ext>
            </a:extLst>
          </p:cNvPr>
          <p:cNvSpPr>
            <a:spLocks noGrp="1"/>
          </p:cNvSpPr>
          <p:nvPr>
            <p:ph type="title"/>
          </p:nvPr>
        </p:nvSpPr>
        <p:spPr>
          <a:xfrm>
            <a:off x="1043631" y="809898"/>
            <a:ext cx="10173010" cy="1554480"/>
          </a:xfrm>
        </p:spPr>
        <p:txBody>
          <a:bodyPr anchor="ctr">
            <a:normAutofit/>
          </a:bodyPr>
          <a:lstStyle/>
          <a:p>
            <a:r>
              <a:rPr lang="en-ID" sz="4800"/>
              <a:t>Pengertian Pengukuran Kinerja SCM</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19B27C9A-2544-12DF-53E4-C11718C1092A}"/>
              </a:ext>
            </a:extLst>
          </p:cNvPr>
          <p:cNvGraphicFramePr>
            <a:graphicFrameLocks noGrp="1"/>
          </p:cNvGraphicFramePr>
          <p:nvPr>
            <p:ph idx="1"/>
            <p:extLst>
              <p:ext uri="{D42A27DB-BD31-4B8C-83A1-F6EECF244321}">
                <p14:modId xmlns:p14="http://schemas.microsoft.com/office/powerpoint/2010/main" val="1826267647"/>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10039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339302-56D7-2D32-B9B0-30A3E8A1CAE0}"/>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5" name="Rectangle 14">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0FA052-12D6-11A9-8810-A156203D7248}"/>
              </a:ext>
            </a:extLst>
          </p:cNvPr>
          <p:cNvSpPr>
            <a:spLocks noGrp="1"/>
          </p:cNvSpPr>
          <p:nvPr>
            <p:ph type="title"/>
          </p:nvPr>
        </p:nvSpPr>
        <p:spPr>
          <a:xfrm>
            <a:off x="1043631" y="809898"/>
            <a:ext cx="10173010" cy="1554480"/>
          </a:xfrm>
        </p:spPr>
        <p:txBody>
          <a:bodyPr anchor="ctr">
            <a:normAutofit/>
          </a:bodyPr>
          <a:lstStyle/>
          <a:p>
            <a:r>
              <a:rPr lang="en-ID" sz="4800" dirty="0" err="1"/>
              <a:t>Tujuan</a:t>
            </a:r>
            <a:r>
              <a:rPr lang="en-ID" sz="4800" dirty="0"/>
              <a:t> </a:t>
            </a:r>
            <a:r>
              <a:rPr lang="en-ID" sz="4800" dirty="0" err="1"/>
              <a:t>Pengukuran</a:t>
            </a:r>
            <a:r>
              <a:rPr lang="en-ID" sz="4800" dirty="0"/>
              <a:t> Kinerja </a:t>
            </a:r>
            <a:r>
              <a:rPr lang="en-ID" sz="4800" dirty="0" err="1"/>
              <a:t>SCM</a:t>
            </a:r>
            <a:endParaRPr lang="en-ID" sz="4800" dirty="0"/>
          </a:p>
        </p:txBody>
      </p:sp>
      <p:cxnSp>
        <p:nvCxnSpPr>
          <p:cNvPr id="21" name="Straight Connector 2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8" name="Rectangle 1">
            <a:extLst>
              <a:ext uri="{FF2B5EF4-FFF2-40B4-BE49-F238E27FC236}">
                <a16:creationId xmlns:a16="http://schemas.microsoft.com/office/drawing/2014/main" id="{1DCC56FC-86CF-A23E-6C1B-B6F84BF75ED6}"/>
              </a:ext>
            </a:extLst>
          </p:cNvPr>
          <p:cNvGraphicFramePr>
            <a:graphicFrameLocks noGrp="1"/>
          </p:cNvGraphicFramePr>
          <p:nvPr>
            <p:ph idx="1"/>
            <p:extLst>
              <p:ext uri="{D42A27DB-BD31-4B8C-83A1-F6EECF244321}">
                <p14:modId xmlns:p14="http://schemas.microsoft.com/office/powerpoint/2010/main" val="572758393"/>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3007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6D861C-E8F7-5FB6-1001-90626D56E78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43" name="Rectangle 42">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1D07ED-050D-10FC-26DD-7D5F6378DF55}"/>
              </a:ext>
            </a:extLst>
          </p:cNvPr>
          <p:cNvSpPr>
            <a:spLocks noGrp="1"/>
          </p:cNvSpPr>
          <p:nvPr>
            <p:ph type="title"/>
          </p:nvPr>
        </p:nvSpPr>
        <p:spPr>
          <a:xfrm>
            <a:off x="1043631" y="809898"/>
            <a:ext cx="9942716" cy="1554480"/>
          </a:xfrm>
        </p:spPr>
        <p:txBody>
          <a:bodyPr anchor="ctr">
            <a:normAutofit/>
          </a:bodyPr>
          <a:lstStyle/>
          <a:p>
            <a:r>
              <a:rPr lang="sv-SE" sz="4800"/>
              <a:t>Indikator Kinerja Utama (KPIs) dalam SCM</a:t>
            </a:r>
            <a:endParaRPr lang="en-ID" sz="4800" dirty="0"/>
          </a:p>
        </p:txBody>
      </p:sp>
      <p:graphicFrame>
        <p:nvGraphicFramePr>
          <p:cNvPr id="22" name="Content Placeholder 2">
            <a:extLst>
              <a:ext uri="{FF2B5EF4-FFF2-40B4-BE49-F238E27FC236}">
                <a16:creationId xmlns:a16="http://schemas.microsoft.com/office/drawing/2014/main" id="{4072927C-2572-A658-9467-FC76046653AA}"/>
              </a:ext>
            </a:extLst>
          </p:cNvPr>
          <p:cNvGraphicFramePr>
            <a:graphicFrameLocks noGrp="1"/>
          </p:cNvGraphicFramePr>
          <p:nvPr>
            <p:ph idx="1"/>
          </p:nvPr>
        </p:nvGraphicFramePr>
        <p:xfrm>
          <a:off x="1045028" y="3017522"/>
          <a:ext cx="9941319" cy="31246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152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61B76-1924-381B-35E1-D0AF4B0B2AE5}"/>
              </a:ext>
            </a:extLst>
          </p:cNvPr>
          <p:cNvSpPr>
            <a:spLocks noGrp="1"/>
          </p:cNvSpPr>
          <p:nvPr>
            <p:ph type="title"/>
          </p:nvPr>
        </p:nvSpPr>
        <p:spPr/>
        <p:txBody>
          <a:bodyPr/>
          <a:lstStyle/>
          <a:p>
            <a:r>
              <a:rPr lang="en-ID" dirty="0" err="1"/>
              <a:t>Efisiensi</a:t>
            </a:r>
            <a:r>
              <a:rPr lang="en-ID" dirty="0"/>
              <a:t> </a:t>
            </a:r>
            <a:r>
              <a:rPr lang="en-ID" dirty="0" err="1"/>
              <a:t>Biaya</a:t>
            </a:r>
            <a:r>
              <a:rPr lang="en-ID" dirty="0"/>
              <a:t> (Cost Efficiency)</a:t>
            </a:r>
          </a:p>
        </p:txBody>
      </p:sp>
      <p:graphicFrame>
        <p:nvGraphicFramePr>
          <p:cNvPr id="5" name="Content Placeholder 2">
            <a:extLst>
              <a:ext uri="{FF2B5EF4-FFF2-40B4-BE49-F238E27FC236}">
                <a16:creationId xmlns:a16="http://schemas.microsoft.com/office/drawing/2014/main" id="{DD8FDCEA-EBE1-1F92-300E-7C8C5B115B14}"/>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29908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AECAC7-1637-C8E6-2138-E659F6D0641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54CED2-CCD1-2FEC-2C2F-E7F459F0FF00}"/>
              </a:ext>
            </a:extLst>
          </p:cNvPr>
          <p:cNvSpPr>
            <a:spLocks noGrp="1"/>
          </p:cNvSpPr>
          <p:nvPr>
            <p:ph type="title"/>
          </p:nvPr>
        </p:nvSpPr>
        <p:spPr>
          <a:xfrm>
            <a:off x="586478" y="1683756"/>
            <a:ext cx="3115265" cy="2396359"/>
          </a:xfrm>
        </p:spPr>
        <p:txBody>
          <a:bodyPr anchor="b">
            <a:normAutofit/>
          </a:bodyPr>
          <a:lstStyle/>
          <a:p>
            <a:pPr algn="r"/>
            <a:r>
              <a:rPr lang="en-ID" sz="4000" b="1">
                <a:solidFill>
                  <a:srgbClr val="FFFFFF"/>
                </a:solidFill>
              </a:rPr>
              <a:t>Kepuasan Pelanggan (Customer Satisfaction)</a:t>
            </a:r>
            <a:endParaRPr lang="en-ID" sz="4000">
              <a:solidFill>
                <a:srgbClr val="FFFFFF"/>
              </a:solidFill>
            </a:endParaRPr>
          </a:p>
        </p:txBody>
      </p:sp>
      <p:graphicFrame>
        <p:nvGraphicFramePr>
          <p:cNvPr id="5" name="Content Placeholder 2">
            <a:extLst>
              <a:ext uri="{FF2B5EF4-FFF2-40B4-BE49-F238E27FC236}">
                <a16:creationId xmlns:a16="http://schemas.microsoft.com/office/drawing/2014/main" id="{35D98281-9CDF-A860-B59A-A37839503ED2}"/>
              </a:ext>
            </a:extLst>
          </p:cNvPr>
          <p:cNvGraphicFramePr>
            <a:graphicFrameLocks noGrp="1"/>
          </p:cNvGraphicFramePr>
          <p:nvPr>
            <p:ph idx="1"/>
            <p:extLst>
              <p:ext uri="{D42A27DB-BD31-4B8C-83A1-F6EECF244321}">
                <p14:modId xmlns:p14="http://schemas.microsoft.com/office/powerpoint/2010/main" val="148827823"/>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64238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694D76-50FB-4CCE-A818-B49FAE46998C}"/>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D8233B0-41B5-4D9A-AEEC-13DB66A8C9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351029-93B4-B15C-6E36-0E4FBB371F00}"/>
              </a:ext>
            </a:extLst>
          </p:cNvPr>
          <p:cNvSpPr>
            <a:spLocks noGrp="1"/>
          </p:cNvSpPr>
          <p:nvPr>
            <p:ph type="title"/>
          </p:nvPr>
        </p:nvSpPr>
        <p:spPr>
          <a:xfrm>
            <a:off x="808638" y="386930"/>
            <a:ext cx="9236700" cy="1188950"/>
          </a:xfrm>
        </p:spPr>
        <p:txBody>
          <a:bodyPr anchor="b">
            <a:normAutofit/>
          </a:bodyPr>
          <a:lstStyle/>
          <a:p>
            <a:r>
              <a:rPr lang="en-US" sz="3800"/>
              <a:t>Ketepatan Waktu Pengiriman (On-Time Delivery)</a:t>
            </a:r>
            <a:endParaRPr lang="en-ID" sz="3800"/>
          </a:p>
        </p:txBody>
      </p:sp>
      <p:grpSp>
        <p:nvGrpSpPr>
          <p:cNvPr id="28" name="Group 27">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9" name="Rectangle 28">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1" name="Content Placeholder 2">
            <a:extLst>
              <a:ext uri="{FF2B5EF4-FFF2-40B4-BE49-F238E27FC236}">
                <a16:creationId xmlns:a16="http://schemas.microsoft.com/office/drawing/2014/main" id="{35097A92-90D3-C400-F1A1-8B4E6EE3AF5F}"/>
              </a:ext>
            </a:extLst>
          </p:cNvPr>
          <p:cNvGraphicFramePr>
            <a:graphicFrameLocks noGrp="1"/>
          </p:cNvGraphicFramePr>
          <p:nvPr>
            <p:ph idx="1"/>
            <p:extLst>
              <p:ext uri="{D42A27DB-BD31-4B8C-83A1-F6EECF244321}">
                <p14:modId xmlns:p14="http://schemas.microsoft.com/office/powerpoint/2010/main" val="863660884"/>
              </p:ext>
            </p:extLst>
          </p:nvPr>
        </p:nvGraphicFramePr>
        <p:xfrm>
          <a:off x="825264" y="2598710"/>
          <a:ext cx="10039472" cy="34381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01246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664989-6D27-0838-BBB7-43A7F19FFC73}"/>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09E322-8CF5-5FEF-1740-506914632EF3}"/>
              </a:ext>
            </a:extLst>
          </p:cNvPr>
          <p:cNvSpPr>
            <a:spLocks noGrp="1"/>
          </p:cNvSpPr>
          <p:nvPr>
            <p:ph type="title"/>
          </p:nvPr>
        </p:nvSpPr>
        <p:spPr>
          <a:xfrm>
            <a:off x="841248" y="426720"/>
            <a:ext cx="10506456" cy="1919141"/>
          </a:xfrm>
        </p:spPr>
        <p:txBody>
          <a:bodyPr anchor="b">
            <a:normAutofit/>
          </a:bodyPr>
          <a:lstStyle/>
          <a:p>
            <a:r>
              <a:rPr lang="en-ID" sz="5600"/>
              <a:t>Persediaan dan Ketersediaan Barang (Inventory and Availability)</a:t>
            </a:r>
          </a:p>
        </p:txBody>
      </p:sp>
      <p:sp>
        <p:nvSpPr>
          <p:cNvPr id="26" name="Rectangle 25">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45796945-1EE7-5F34-0C5C-41D2BE1CF60A}"/>
              </a:ext>
            </a:extLst>
          </p:cNvPr>
          <p:cNvSpPr>
            <a:spLocks noGrp="1"/>
          </p:cNvSpPr>
          <p:nvPr>
            <p:ph idx="1"/>
          </p:nvPr>
        </p:nvSpPr>
        <p:spPr>
          <a:xfrm>
            <a:off x="841248" y="3337269"/>
            <a:ext cx="10509504" cy="2905686"/>
          </a:xfrm>
        </p:spPr>
        <p:txBody>
          <a:bodyPr>
            <a:normAutofit/>
          </a:bodyPr>
          <a:lstStyle/>
          <a:p>
            <a:r>
              <a:rPr lang="en-ID" sz="2000"/>
              <a:t>Definisi: Mengukur efektivitas dalam mengelola persediaan untuk memastikan barang tersedia saat dibutuhkan, tanpa overstock atau stockout.</a:t>
            </a:r>
          </a:p>
          <a:p>
            <a:r>
              <a:rPr lang="en-ID" sz="2000"/>
              <a:t>Contoh KPI:</a:t>
            </a:r>
          </a:p>
          <a:p>
            <a:pPr lvl="1"/>
            <a:r>
              <a:rPr lang="en-ID" sz="2000"/>
              <a:t>Inventory Turnover: Rasio perputaran persediaan yang mengukur seberapa cepat barang bergerak melalui rantai pasok.</a:t>
            </a:r>
          </a:p>
          <a:p>
            <a:pPr lvl="1"/>
            <a:r>
              <a:rPr lang="en-ID" sz="2000"/>
              <a:t>Stockout Rate: Persentase waktu ketika barang tidak tersedia saat dibutuhkan oleh pelanggan.</a:t>
            </a:r>
          </a:p>
          <a:p>
            <a:pPr lvl="1"/>
            <a:r>
              <a:rPr lang="en-ID" sz="2000"/>
              <a:t>Days of Inventory on Hand: Rata-rata jumlah hari barang disimpan dalam persediaan sebelum diproses atau dijual.</a:t>
            </a:r>
          </a:p>
        </p:txBody>
      </p:sp>
    </p:spTree>
    <p:extLst>
      <p:ext uri="{BB962C8B-B14F-4D97-AF65-F5344CB8AC3E}">
        <p14:creationId xmlns:p14="http://schemas.microsoft.com/office/powerpoint/2010/main" val="6053126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863814-109D-7DE4-36E2-C8BFCEC9A8DB}"/>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2" name="Rectangle 2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5F2036-725A-CDA1-5605-95631C4BCF14}"/>
              </a:ext>
            </a:extLst>
          </p:cNvPr>
          <p:cNvSpPr>
            <a:spLocks noGrp="1"/>
          </p:cNvSpPr>
          <p:nvPr>
            <p:ph type="title"/>
          </p:nvPr>
        </p:nvSpPr>
        <p:spPr>
          <a:xfrm>
            <a:off x="1043631" y="809898"/>
            <a:ext cx="9942716" cy="1554480"/>
          </a:xfrm>
        </p:spPr>
        <p:txBody>
          <a:bodyPr anchor="ctr">
            <a:normAutofit/>
          </a:bodyPr>
          <a:lstStyle/>
          <a:p>
            <a:r>
              <a:rPr lang="en-ID" sz="4800"/>
              <a:t>Kualitas Produk (Product Quality)</a:t>
            </a:r>
          </a:p>
        </p:txBody>
      </p:sp>
      <p:sp>
        <p:nvSpPr>
          <p:cNvPr id="3" name="Content Placeholder 2">
            <a:extLst>
              <a:ext uri="{FF2B5EF4-FFF2-40B4-BE49-F238E27FC236}">
                <a16:creationId xmlns:a16="http://schemas.microsoft.com/office/drawing/2014/main" id="{9863FA23-7618-95C7-CF48-3103627A6E39}"/>
              </a:ext>
            </a:extLst>
          </p:cNvPr>
          <p:cNvSpPr>
            <a:spLocks noGrp="1"/>
          </p:cNvSpPr>
          <p:nvPr>
            <p:ph idx="1"/>
          </p:nvPr>
        </p:nvSpPr>
        <p:spPr>
          <a:xfrm>
            <a:off x="1045028" y="3017522"/>
            <a:ext cx="9941319" cy="3124658"/>
          </a:xfrm>
        </p:spPr>
        <p:txBody>
          <a:bodyPr anchor="ctr">
            <a:normAutofit/>
          </a:bodyPr>
          <a:lstStyle/>
          <a:p>
            <a:r>
              <a:rPr lang="en-ID" sz="2000"/>
              <a:t>Definisi: Mengukur seberapa baik produk yang diproduksi dan dikirimkan sesuai dengan standar kualitas yang diharapkan oleh pelanggan.</a:t>
            </a:r>
          </a:p>
          <a:p>
            <a:r>
              <a:rPr lang="en-ID" sz="2000"/>
              <a:t>Contoh KPI:</a:t>
            </a:r>
          </a:p>
          <a:p>
            <a:pPr lvl="1"/>
            <a:r>
              <a:rPr lang="en-ID" sz="2000"/>
              <a:t>Defect Rate: Persentase produk yang cacat atau tidak memenuhi standar kualitas.</a:t>
            </a:r>
          </a:p>
          <a:p>
            <a:pPr lvl="1"/>
            <a:r>
              <a:rPr lang="en-ID" sz="2000"/>
              <a:t>Return Rate: Persentase produk yang dikembalikan oleh pelanggan karena cacat atau ketidaksesuaian dengan pesanan.</a:t>
            </a:r>
          </a:p>
          <a:p>
            <a:pPr lvl="1"/>
            <a:r>
              <a:rPr lang="en-ID" sz="2000"/>
              <a:t>First Pass Yield (FPY): Persentase produk yang diproduksi dengan benar tanpa perlu perbaikan</a:t>
            </a:r>
          </a:p>
        </p:txBody>
      </p:sp>
      <p:cxnSp>
        <p:nvCxnSpPr>
          <p:cNvPr id="28" name="Straight Connector 2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0209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02533B-6694-02BC-3322-8A4D0C39A77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4" name="Rectangle 13">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B44C19-9B3B-4A9C-2676-FB55114EBE9E}"/>
              </a:ext>
            </a:extLst>
          </p:cNvPr>
          <p:cNvSpPr>
            <a:spLocks noGrp="1"/>
          </p:cNvSpPr>
          <p:nvPr>
            <p:ph type="title"/>
          </p:nvPr>
        </p:nvSpPr>
        <p:spPr>
          <a:xfrm>
            <a:off x="1043631" y="809898"/>
            <a:ext cx="9942716" cy="1554480"/>
          </a:xfrm>
        </p:spPr>
        <p:txBody>
          <a:bodyPr anchor="ctr">
            <a:normAutofit/>
          </a:bodyPr>
          <a:lstStyle/>
          <a:p>
            <a:r>
              <a:rPr lang="en-ID"/>
              <a:t>Kecepatan Respons terhadap Perubahan Permintaan (Demand Responsiveness)</a:t>
            </a:r>
            <a:endParaRPr lang="en-ID" dirty="0"/>
          </a:p>
        </p:txBody>
      </p:sp>
      <p:sp>
        <p:nvSpPr>
          <p:cNvPr id="3" name="Content Placeholder 2">
            <a:extLst>
              <a:ext uri="{FF2B5EF4-FFF2-40B4-BE49-F238E27FC236}">
                <a16:creationId xmlns:a16="http://schemas.microsoft.com/office/drawing/2014/main" id="{8838E12B-1AB9-CD60-98C6-4C739E8878CE}"/>
              </a:ext>
            </a:extLst>
          </p:cNvPr>
          <p:cNvSpPr>
            <a:spLocks noGrp="1"/>
          </p:cNvSpPr>
          <p:nvPr>
            <p:ph idx="1"/>
          </p:nvPr>
        </p:nvSpPr>
        <p:spPr>
          <a:xfrm>
            <a:off x="1045028" y="3017522"/>
            <a:ext cx="9941319" cy="3124658"/>
          </a:xfrm>
        </p:spPr>
        <p:txBody>
          <a:bodyPr anchor="ctr">
            <a:normAutofit/>
          </a:bodyPr>
          <a:lstStyle/>
          <a:p>
            <a:r>
              <a:rPr lang="en-ID" sz="2400"/>
              <a:t>Definisi: Kemampuan rantai pasok untuk merespons perubahan permintaan pasar dengan cepat dan efektif.</a:t>
            </a:r>
          </a:p>
          <a:p>
            <a:r>
              <a:rPr lang="en-ID" sz="2400"/>
              <a:t>Contoh KPI:</a:t>
            </a:r>
          </a:p>
          <a:p>
            <a:pPr lvl="1"/>
            <a:r>
              <a:rPr lang="en-ID" dirty="0"/>
              <a:t>Forecast Accuracy: </a:t>
            </a:r>
            <a:r>
              <a:rPr lang="en-ID"/>
              <a:t>Akurasi</a:t>
            </a:r>
            <a:r>
              <a:rPr lang="en-ID" dirty="0"/>
              <a:t> </a:t>
            </a:r>
            <a:r>
              <a:rPr lang="en-ID"/>
              <a:t>perkiraan</a:t>
            </a:r>
            <a:r>
              <a:rPr lang="en-ID" dirty="0"/>
              <a:t> </a:t>
            </a:r>
            <a:r>
              <a:rPr lang="en-ID"/>
              <a:t>permintaan</a:t>
            </a:r>
            <a:r>
              <a:rPr lang="en-ID" dirty="0"/>
              <a:t> </a:t>
            </a:r>
            <a:r>
              <a:rPr lang="en-ID"/>
              <a:t>dibandingkan</a:t>
            </a:r>
            <a:r>
              <a:rPr lang="en-ID" dirty="0"/>
              <a:t> </a:t>
            </a:r>
            <a:r>
              <a:rPr lang="en-ID"/>
              <a:t>dengan</a:t>
            </a:r>
            <a:r>
              <a:rPr lang="en-ID" dirty="0"/>
              <a:t> </a:t>
            </a:r>
            <a:r>
              <a:rPr lang="en-ID"/>
              <a:t>jumlah</a:t>
            </a:r>
            <a:r>
              <a:rPr lang="en-ID" dirty="0"/>
              <a:t> yang </a:t>
            </a:r>
            <a:r>
              <a:rPr lang="en-ID"/>
              <a:t>sebenarnya</a:t>
            </a:r>
            <a:r>
              <a:rPr lang="en-ID" dirty="0"/>
              <a:t> </a:t>
            </a:r>
            <a:r>
              <a:rPr lang="en-ID"/>
              <a:t>diperlukan</a:t>
            </a:r>
            <a:r>
              <a:rPr lang="en-ID" dirty="0"/>
              <a:t>.</a:t>
            </a:r>
          </a:p>
          <a:p>
            <a:pPr lvl="1"/>
            <a:r>
              <a:rPr lang="en-ID" dirty="0"/>
              <a:t>Order </a:t>
            </a:r>
            <a:r>
              <a:rPr lang="en-ID"/>
              <a:t>Fulfillment</a:t>
            </a:r>
            <a:r>
              <a:rPr lang="en-ID" dirty="0"/>
              <a:t> Lead Time: Waktu yang </a:t>
            </a:r>
            <a:r>
              <a:rPr lang="en-ID"/>
              <a:t>dibutuhkan</a:t>
            </a:r>
            <a:r>
              <a:rPr lang="en-ID" dirty="0"/>
              <a:t> </a:t>
            </a:r>
            <a:r>
              <a:rPr lang="en-ID"/>
              <a:t>untuk</a:t>
            </a:r>
            <a:r>
              <a:rPr lang="en-ID" dirty="0"/>
              <a:t> </a:t>
            </a:r>
            <a:r>
              <a:rPr lang="en-ID"/>
              <a:t>memproses</a:t>
            </a:r>
            <a:r>
              <a:rPr lang="en-ID" dirty="0"/>
              <a:t> dan </a:t>
            </a:r>
            <a:r>
              <a:rPr lang="en-ID"/>
              <a:t>mengirimkan</a:t>
            </a:r>
            <a:r>
              <a:rPr lang="en-ID" dirty="0"/>
              <a:t> </a:t>
            </a:r>
            <a:r>
              <a:rPr lang="en-ID"/>
              <a:t>pesanan</a:t>
            </a:r>
            <a:r>
              <a:rPr lang="en-ID" dirty="0"/>
              <a:t> </a:t>
            </a:r>
            <a:r>
              <a:rPr lang="en-ID"/>
              <a:t>setelah</a:t>
            </a:r>
            <a:r>
              <a:rPr lang="en-ID" dirty="0"/>
              <a:t> </a:t>
            </a:r>
            <a:r>
              <a:rPr lang="en-ID"/>
              <a:t>menerima</a:t>
            </a:r>
            <a:r>
              <a:rPr lang="en-ID" dirty="0"/>
              <a:t> </a:t>
            </a:r>
            <a:r>
              <a:rPr lang="en-ID"/>
              <a:t>permintaan</a:t>
            </a:r>
            <a:r>
              <a:rPr lang="en-ID" dirty="0"/>
              <a:t> dari </a:t>
            </a:r>
            <a:r>
              <a:rPr lang="en-ID"/>
              <a:t>pelanggan</a:t>
            </a:r>
            <a:r>
              <a:rPr lang="en-ID" dirty="0"/>
              <a:t>.</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0940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DF9BEA-2DE0-E0D1-DDCA-0662DC033989}"/>
              </a:ext>
            </a:extLst>
          </p:cNvPr>
          <p:cNvSpPr>
            <a:spLocks noGrp="1"/>
          </p:cNvSpPr>
          <p:nvPr>
            <p:ph type="title"/>
          </p:nvPr>
        </p:nvSpPr>
        <p:spPr>
          <a:xfrm>
            <a:off x="1043631" y="809898"/>
            <a:ext cx="9942716" cy="1554480"/>
          </a:xfrm>
        </p:spPr>
        <p:txBody>
          <a:bodyPr anchor="ctr">
            <a:normAutofit/>
          </a:bodyPr>
          <a:lstStyle/>
          <a:p>
            <a:r>
              <a:rPr lang="en-ID" sz="4800" dirty="0" err="1"/>
              <a:t>Utilisasi</a:t>
            </a:r>
            <a:r>
              <a:rPr lang="en-ID" sz="4800" dirty="0"/>
              <a:t> </a:t>
            </a:r>
            <a:r>
              <a:rPr lang="en-ID" sz="4800" dirty="0" err="1"/>
              <a:t>Kapasitas</a:t>
            </a:r>
            <a:r>
              <a:rPr lang="en-ID" sz="4800" dirty="0"/>
              <a:t> (Capacity Utilization)</a:t>
            </a:r>
          </a:p>
        </p:txBody>
      </p:sp>
      <p:sp>
        <p:nvSpPr>
          <p:cNvPr id="3" name="Content Placeholder 2">
            <a:extLst>
              <a:ext uri="{FF2B5EF4-FFF2-40B4-BE49-F238E27FC236}">
                <a16:creationId xmlns:a16="http://schemas.microsoft.com/office/drawing/2014/main" id="{90B0B67F-E5B7-D050-F831-930096A1C798}"/>
              </a:ext>
            </a:extLst>
          </p:cNvPr>
          <p:cNvSpPr>
            <a:spLocks noGrp="1"/>
          </p:cNvSpPr>
          <p:nvPr>
            <p:ph idx="1"/>
          </p:nvPr>
        </p:nvSpPr>
        <p:spPr>
          <a:xfrm>
            <a:off x="1045028" y="3017522"/>
            <a:ext cx="9941319" cy="3124658"/>
          </a:xfrm>
        </p:spPr>
        <p:txBody>
          <a:bodyPr anchor="ctr">
            <a:normAutofit/>
          </a:bodyPr>
          <a:lstStyle/>
          <a:p>
            <a:r>
              <a:rPr lang="en-ID" sz="2400"/>
              <a:t>Definisi: Mengukur sejauh mana kapasitas produksi dan sumber daya dalam rantai pasok dimanfaatkan secara maksimal.</a:t>
            </a:r>
          </a:p>
          <a:p>
            <a:r>
              <a:rPr lang="en-ID" sz="2400"/>
              <a:t>Contoh KPI:</a:t>
            </a:r>
          </a:p>
          <a:p>
            <a:pPr lvl="1"/>
            <a:r>
              <a:rPr lang="en-ID" dirty="0"/>
              <a:t>Production Capacity Utilization: </a:t>
            </a:r>
            <a:r>
              <a:rPr lang="en-ID"/>
              <a:t>Persentase</a:t>
            </a:r>
            <a:r>
              <a:rPr lang="en-ID" dirty="0"/>
              <a:t> </a:t>
            </a:r>
            <a:r>
              <a:rPr lang="en-ID"/>
              <a:t>kapasitas</a:t>
            </a:r>
            <a:r>
              <a:rPr lang="en-ID" dirty="0"/>
              <a:t> </a:t>
            </a:r>
            <a:r>
              <a:rPr lang="en-ID"/>
              <a:t>produksi</a:t>
            </a:r>
            <a:r>
              <a:rPr lang="en-ID" dirty="0"/>
              <a:t> yang </a:t>
            </a:r>
            <a:r>
              <a:rPr lang="en-ID"/>
              <a:t>digunakan</a:t>
            </a:r>
            <a:r>
              <a:rPr lang="en-ID" dirty="0"/>
              <a:t> </a:t>
            </a:r>
            <a:r>
              <a:rPr lang="en-ID"/>
              <a:t>dibandingkan</a:t>
            </a:r>
            <a:r>
              <a:rPr lang="en-ID" dirty="0"/>
              <a:t> </a:t>
            </a:r>
            <a:r>
              <a:rPr lang="en-ID"/>
              <a:t>dengan</a:t>
            </a:r>
            <a:r>
              <a:rPr lang="en-ID" dirty="0"/>
              <a:t> </a:t>
            </a:r>
            <a:r>
              <a:rPr lang="en-ID"/>
              <a:t>kapasitas</a:t>
            </a:r>
            <a:r>
              <a:rPr lang="en-ID" dirty="0"/>
              <a:t> total yang </a:t>
            </a:r>
            <a:r>
              <a:rPr lang="en-ID"/>
              <a:t>tersedia</a:t>
            </a:r>
            <a:r>
              <a:rPr lang="en-ID" dirty="0"/>
              <a:t>.</a:t>
            </a:r>
          </a:p>
          <a:p>
            <a:pPr lvl="1"/>
            <a:r>
              <a:rPr lang="en-ID" dirty="0"/>
              <a:t>Warehouse Capacity Utilization: </a:t>
            </a:r>
            <a:r>
              <a:rPr lang="en-ID"/>
              <a:t>Persentase</a:t>
            </a:r>
            <a:r>
              <a:rPr lang="en-ID" dirty="0"/>
              <a:t> </a:t>
            </a:r>
            <a:r>
              <a:rPr lang="en-ID"/>
              <a:t>ruang</a:t>
            </a:r>
            <a:r>
              <a:rPr lang="en-ID" dirty="0"/>
              <a:t> </a:t>
            </a:r>
            <a:r>
              <a:rPr lang="en-ID"/>
              <a:t>gudang</a:t>
            </a:r>
            <a:r>
              <a:rPr lang="en-ID" dirty="0"/>
              <a:t> yang </a:t>
            </a:r>
            <a:r>
              <a:rPr lang="en-ID"/>
              <a:t>digunakan</a:t>
            </a:r>
            <a:r>
              <a:rPr lang="en-ID" dirty="0"/>
              <a:t> </a:t>
            </a:r>
            <a:r>
              <a:rPr lang="en-ID"/>
              <a:t>secara</a:t>
            </a:r>
            <a:r>
              <a:rPr lang="en-ID" dirty="0"/>
              <a:t> </a:t>
            </a:r>
            <a:r>
              <a:rPr lang="en-ID"/>
              <a:t>efisien</a:t>
            </a:r>
            <a:r>
              <a:rPr lang="en-ID" dirty="0"/>
              <a:t>.</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19557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A4232A-63F0-3786-02C5-17BFEC81402A}"/>
              </a:ext>
            </a:extLst>
          </p:cNvPr>
          <p:cNvSpPr>
            <a:spLocks noGrp="1"/>
          </p:cNvSpPr>
          <p:nvPr>
            <p:ph type="title"/>
          </p:nvPr>
        </p:nvSpPr>
        <p:spPr>
          <a:xfrm>
            <a:off x="808638" y="386930"/>
            <a:ext cx="9236700" cy="1188950"/>
          </a:xfrm>
        </p:spPr>
        <p:txBody>
          <a:bodyPr anchor="b">
            <a:normAutofit/>
          </a:bodyPr>
          <a:lstStyle/>
          <a:p>
            <a:r>
              <a:rPr lang="en-ID" sz="4200" dirty="0" err="1"/>
              <a:t>Keandalan</a:t>
            </a:r>
            <a:r>
              <a:rPr lang="en-ID" sz="4200" dirty="0"/>
              <a:t> </a:t>
            </a:r>
            <a:r>
              <a:rPr lang="en-ID" sz="4200" dirty="0" err="1"/>
              <a:t>Pemasok</a:t>
            </a:r>
            <a:r>
              <a:rPr lang="en-ID" sz="4200" dirty="0"/>
              <a:t> (Supplier Reliability)</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D319B6B-32D4-A117-FCA4-D24BC3ECA049}"/>
              </a:ext>
            </a:extLst>
          </p:cNvPr>
          <p:cNvSpPr>
            <a:spLocks noGrp="1"/>
          </p:cNvSpPr>
          <p:nvPr>
            <p:ph idx="1"/>
          </p:nvPr>
        </p:nvSpPr>
        <p:spPr>
          <a:xfrm>
            <a:off x="793660" y="2599509"/>
            <a:ext cx="10143668" cy="3435531"/>
          </a:xfrm>
        </p:spPr>
        <p:txBody>
          <a:bodyPr anchor="ctr">
            <a:normAutofit/>
          </a:bodyPr>
          <a:lstStyle/>
          <a:p>
            <a:r>
              <a:rPr lang="en-ID" sz="2400"/>
              <a:t>Definisi: Mengukur sejauh mana pemasok dapat memenuhi komitmen pengiriman tepat waktu dan kualitas produk.</a:t>
            </a:r>
          </a:p>
          <a:p>
            <a:r>
              <a:rPr lang="en-ID" sz="2400"/>
              <a:t>Contoh KPI:</a:t>
            </a:r>
          </a:p>
          <a:p>
            <a:pPr lvl="1"/>
            <a:r>
              <a:rPr lang="en-ID"/>
              <a:t>Supplier On-Time Delivery Rate: Persentase pengiriman tepat waktu dari pemasok.</a:t>
            </a:r>
          </a:p>
          <a:p>
            <a:pPr lvl="1"/>
            <a:r>
              <a:rPr lang="en-ID"/>
              <a:t>Supplier Defect Rate: Persentase barang cacat yang diterima dari pemasok.</a:t>
            </a:r>
            <a:endParaRPr lang="en-ID" dirty="0"/>
          </a:p>
        </p:txBody>
      </p:sp>
    </p:spTree>
    <p:extLst>
      <p:ext uri="{BB962C8B-B14F-4D97-AF65-F5344CB8AC3E}">
        <p14:creationId xmlns:p14="http://schemas.microsoft.com/office/powerpoint/2010/main" val="4275817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E135C4-7C30-A7FA-75D6-B45CF347B4A3}"/>
              </a:ext>
            </a:extLst>
          </p:cNvPr>
          <p:cNvSpPr>
            <a:spLocks noGrp="1"/>
          </p:cNvSpPr>
          <p:nvPr>
            <p:ph type="title"/>
          </p:nvPr>
        </p:nvSpPr>
        <p:spPr>
          <a:xfrm>
            <a:off x="841248" y="426720"/>
            <a:ext cx="10506456" cy="1919141"/>
          </a:xfrm>
        </p:spPr>
        <p:txBody>
          <a:bodyPr anchor="b">
            <a:normAutofit/>
          </a:bodyPr>
          <a:lstStyle/>
          <a:p>
            <a:r>
              <a:rPr lang="en-ID" sz="6000" dirty="0"/>
              <a:t>Kinerja </a:t>
            </a:r>
            <a:r>
              <a:rPr lang="en-ID" sz="6000" dirty="0" err="1"/>
              <a:t>Keuangan</a:t>
            </a:r>
            <a:r>
              <a:rPr lang="en-ID" sz="6000" dirty="0"/>
              <a:t> (Financial Performance)</a:t>
            </a:r>
          </a:p>
        </p:txBody>
      </p:sp>
      <p:sp>
        <p:nvSpPr>
          <p:cNvPr id="10" name="Rectangle 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646EF47F-6496-BA0E-981F-64E7FB04719A}"/>
              </a:ext>
            </a:extLst>
          </p:cNvPr>
          <p:cNvSpPr>
            <a:spLocks noGrp="1"/>
          </p:cNvSpPr>
          <p:nvPr>
            <p:ph idx="1"/>
          </p:nvPr>
        </p:nvSpPr>
        <p:spPr>
          <a:xfrm>
            <a:off x="841248" y="3337269"/>
            <a:ext cx="10509504" cy="2905686"/>
          </a:xfrm>
        </p:spPr>
        <p:txBody>
          <a:bodyPr>
            <a:normAutofit/>
          </a:bodyPr>
          <a:lstStyle/>
          <a:p>
            <a:r>
              <a:rPr lang="en-ID" sz="2200"/>
              <a:t>Definisi: Mengukur kinerja finansial rantai pasok, yang berhubungan langsung dengan tujuan perusahaan untuk memaksimalkan keuntungan.</a:t>
            </a:r>
          </a:p>
          <a:p>
            <a:r>
              <a:rPr lang="en-ID" sz="2200"/>
              <a:t>Contoh KPI:</a:t>
            </a:r>
          </a:p>
          <a:p>
            <a:pPr lvl="1"/>
            <a:r>
              <a:rPr lang="en-ID" sz="2200"/>
              <a:t>Return on Supply Chain Assets (ROA): Mengukur keuntungan yang dihasilkan dari aset yang digunakan dalam rantai pasok.</a:t>
            </a:r>
          </a:p>
          <a:p>
            <a:pPr lvl="1"/>
            <a:r>
              <a:rPr lang="en-ID" sz="2200"/>
              <a:t>Return on Investment (ROI): Mengukur pengembalian investasi dalam proyek atau sistem yang diterapkan dalam rantai pasok</a:t>
            </a:r>
          </a:p>
        </p:txBody>
      </p:sp>
    </p:spTree>
    <p:extLst>
      <p:ext uri="{BB962C8B-B14F-4D97-AF65-F5344CB8AC3E}">
        <p14:creationId xmlns:p14="http://schemas.microsoft.com/office/powerpoint/2010/main" val="10496914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A0C866-D271-80D0-89DD-681A74935DD4}"/>
              </a:ext>
            </a:extLst>
          </p:cNvPr>
          <p:cNvSpPr>
            <a:spLocks noGrp="1"/>
          </p:cNvSpPr>
          <p:nvPr>
            <p:ph type="title"/>
          </p:nvPr>
        </p:nvSpPr>
        <p:spPr>
          <a:xfrm>
            <a:off x="1043631" y="809898"/>
            <a:ext cx="9942716" cy="1554480"/>
          </a:xfrm>
        </p:spPr>
        <p:txBody>
          <a:bodyPr anchor="ctr">
            <a:normAutofit/>
          </a:bodyPr>
          <a:lstStyle/>
          <a:p>
            <a:r>
              <a:rPr lang="en-ID" sz="4800" b="1"/>
              <a:t>Efisiensi Operasional (Operational Efficiency)</a:t>
            </a:r>
            <a:endParaRPr lang="en-ID" sz="4800"/>
          </a:p>
        </p:txBody>
      </p:sp>
      <p:sp>
        <p:nvSpPr>
          <p:cNvPr id="3" name="Content Placeholder 2">
            <a:extLst>
              <a:ext uri="{FF2B5EF4-FFF2-40B4-BE49-F238E27FC236}">
                <a16:creationId xmlns:a16="http://schemas.microsoft.com/office/drawing/2014/main" id="{91D457B5-B70F-9A6D-929A-654D145257E1}"/>
              </a:ext>
            </a:extLst>
          </p:cNvPr>
          <p:cNvSpPr>
            <a:spLocks noGrp="1"/>
          </p:cNvSpPr>
          <p:nvPr>
            <p:ph idx="1"/>
          </p:nvPr>
        </p:nvSpPr>
        <p:spPr>
          <a:xfrm>
            <a:off x="1045028" y="3017522"/>
            <a:ext cx="9941319" cy="3124658"/>
          </a:xfrm>
        </p:spPr>
        <p:txBody>
          <a:bodyPr anchor="ctr">
            <a:normAutofit/>
          </a:bodyPr>
          <a:lstStyle/>
          <a:p>
            <a:r>
              <a:rPr lang="en-ID" sz="2200"/>
              <a:t>Definisi: Mengukur seberapa efisien operasi dalam rantai pasok dalam menggunakan sumber daya untuk memproduksi dan mendistribusikan produk.</a:t>
            </a:r>
          </a:p>
          <a:p>
            <a:r>
              <a:rPr lang="en-ID" sz="2200"/>
              <a:t>Contoh KPI:</a:t>
            </a:r>
          </a:p>
          <a:p>
            <a:pPr lvl="1"/>
            <a:r>
              <a:rPr lang="en-ID" sz="2200"/>
              <a:t>Cycle Time: Waktu yang dibutuhkan untuk menyelesaikan satu siklus proses dalam rantai pasok, mulai dari bahan baku hingga produk sampai ke pelanggan.</a:t>
            </a:r>
          </a:p>
          <a:p>
            <a:pPr lvl="1"/>
            <a:r>
              <a:rPr lang="en-ID" sz="2200"/>
              <a:t>Order Processing Time: Waktu rata-rata yang dibutuhkan untuk memproses dan mengirimkan pesanan</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34986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083E6-78F9-35B6-DEC4-86E7A968CCFA}"/>
              </a:ext>
            </a:extLst>
          </p:cNvPr>
          <p:cNvSpPr>
            <a:spLocks noGrp="1"/>
          </p:cNvSpPr>
          <p:nvPr>
            <p:ph type="title"/>
          </p:nvPr>
        </p:nvSpPr>
        <p:spPr/>
        <p:txBody>
          <a:bodyPr/>
          <a:lstStyle/>
          <a:p>
            <a:r>
              <a:rPr lang="en-ID" dirty="0" err="1"/>
              <a:t>Rantai</a:t>
            </a:r>
            <a:r>
              <a:rPr lang="en-ID" dirty="0"/>
              <a:t> </a:t>
            </a:r>
            <a:r>
              <a:rPr lang="en-ID" dirty="0" err="1"/>
              <a:t>Pasok</a:t>
            </a:r>
            <a:r>
              <a:rPr lang="en-ID" dirty="0"/>
              <a:t> yang </a:t>
            </a:r>
            <a:r>
              <a:rPr lang="en-ID" dirty="0" err="1"/>
              <a:t>Berkelanjutan</a:t>
            </a:r>
            <a:r>
              <a:rPr lang="en-ID" dirty="0"/>
              <a:t> (Sustainability)</a:t>
            </a:r>
          </a:p>
        </p:txBody>
      </p:sp>
      <p:graphicFrame>
        <p:nvGraphicFramePr>
          <p:cNvPr id="5" name="Content Placeholder 2">
            <a:extLst>
              <a:ext uri="{FF2B5EF4-FFF2-40B4-BE49-F238E27FC236}">
                <a16:creationId xmlns:a16="http://schemas.microsoft.com/office/drawing/2014/main" id="{0BAC7F54-7275-0F51-5C05-15C25E440469}"/>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000086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18F394-E6F6-878E-740D-A059DE39012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BFAC51-BFE0-4889-04C5-E36E9E550FAC}"/>
              </a:ext>
            </a:extLst>
          </p:cNvPr>
          <p:cNvSpPr>
            <a:spLocks noGrp="1"/>
          </p:cNvSpPr>
          <p:nvPr>
            <p:ph type="title"/>
          </p:nvPr>
        </p:nvSpPr>
        <p:spPr>
          <a:xfrm>
            <a:off x="841248" y="256032"/>
            <a:ext cx="10506456" cy="1014984"/>
          </a:xfrm>
        </p:spPr>
        <p:txBody>
          <a:bodyPr anchor="b">
            <a:normAutofit/>
          </a:bodyPr>
          <a:lstStyle/>
          <a:p>
            <a:r>
              <a:rPr lang="en-ID" dirty="0"/>
              <a:t>Framework </a:t>
            </a:r>
            <a:r>
              <a:rPr lang="en-ID" dirty="0" err="1"/>
              <a:t>Pengukuran</a:t>
            </a:r>
            <a:r>
              <a:rPr lang="en-ID" dirty="0"/>
              <a:t> Kinerja </a:t>
            </a:r>
            <a:r>
              <a:rPr lang="en-ID" dirty="0" err="1"/>
              <a:t>SCM</a:t>
            </a:r>
            <a:endParaRPr lang="en-ID" dirty="0"/>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EF79E85D-B774-56E1-F9E0-F73789C7232F}"/>
              </a:ext>
            </a:extLst>
          </p:cNvPr>
          <p:cNvGraphicFramePr>
            <a:graphicFrameLocks noGrp="1"/>
          </p:cNvGraphicFramePr>
          <p:nvPr>
            <p:ph idx="1"/>
            <p:extLst>
              <p:ext uri="{D42A27DB-BD31-4B8C-83A1-F6EECF244321}">
                <p14:modId xmlns:p14="http://schemas.microsoft.com/office/powerpoint/2010/main" val="3014658749"/>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732752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DF3BA8-3E8B-A16E-3B77-81AFF8B3A66D}"/>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6" name="Rectangle 2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Rectangle 2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7F165A-3DE7-80D3-A284-CDC5270DA3CF}"/>
              </a:ext>
            </a:extLst>
          </p:cNvPr>
          <p:cNvSpPr>
            <a:spLocks noGrp="1"/>
          </p:cNvSpPr>
          <p:nvPr>
            <p:ph type="title"/>
          </p:nvPr>
        </p:nvSpPr>
        <p:spPr>
          <a:xfrm>
            <a:off x="1043631" y="809898"/>
            <a:ext cx="10173010" cy="1554480"/>
          </a:xfrm>
        </p:spPr>
        <p:txBody>
          <a:bodyPr anchor="ctr">
            <a:normAutofit/>
          </a:bodyPr>
          <a:lstStyle/>
          <a:p>
            <a:r>
              <a:rPr lang="en-ID" sz="4800"/>
              <a:t>Alat dan Metode Pengukuran Kinerja</a:t>
            </a:r>
          </a:p>
        </p:txBody>
      </p:sp>
      <p:cxnSp>
        <p:nvCxnSpPr>
          <p:cNvPr id="32" name="Straight Connector 3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19" name="Content Placeholder 2">
            <a:extLst>
              <a:ext uri="{FF2B5EF4-FFF2-40B4-BE49-F238E27FC236}">
                <a16:creationId xmlns:a16="http://schemas.microsoft.com/office/drawing/2014/main" id="{FAB74C39-B07C-B628-AFE8-D7F4A133F37E}"/>
              </a:ext>
            </a:extLst>
          </p:cNvPr>
          <p:cNvGraphicFramePr>
            <a:graphicFrameLocks noGrp="1"/>
          </p:cNvGraphicFramePr>
          <p:nvPr>
            <p:ph idx="1"/>
            <p:extLst>
              <p:ext uri="{D42A27DB-BD31-4B8C-83A1-F6EECF244321}">
                <p14:modId xmlns:p14="http://schemas.microsoft.com/office/powerpoint/2010/main" val="2155641197"/>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386976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519DB-3A96-A9A1-0E26-C4BFAFBB7D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8CB8CB-EDE5-AB5A-9D17-EF7EBBF8363E}"/>
              </a:ext>
            </a:extLst>
          </p:cNvPr>
          <p:cNvSpPr>
            <a:spLocks noGrp="1"/>
          </p:cNvSpPr>
          <p:nvPr>
            <p:ph type="title"/>
          </p:nvPr>
        </p:nvSpPr>
        <p:spPr/>
        <p:txBody>
          <a:bodyPr/>
          <a:lstStyle/>
          <a:p>
            <a:r>
              <a:rPr lang="sv-SE" dirty="0"/>
              <a:t>Tantangan dalam Pengukuran Kinerja SCM</a:t>
            </a:r>
            <a:endParaRPr lang="en-ID" dirty="0"/>
          </a:p>
        </p:txBody>
      </p:sp>
      <p:graphicFrame>
        <p:nvGraphicFramePr>
          <p:cNvPr id="5" name="Content Placeholder 2">
            <a:extLst>
              <a:ext uri="{FF2B5EF4-FFF2-40B4-BE49-F238E27FC236}">
                <a16:creationId xmlns:a16="http://schemas.microsoft.com/office/drawing/2014/main" id="{A30D1793-0A50-2EA8-8313-892CF5B07DCB}"/>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089602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875B5A-2C59-5E45-5256-F1675959E5D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1F78AA-E5CB-5F61-019D-A87993837845}"/>
              </a:ext>
            </a:extLst>
          </p:cNvPr>
          <p:cNvSpPr>
            <a:spLocks noGrp="1"/>
          </p:cNvSpPr>
          <p:nvPr>
            <p:ph type="title"/>
          </p:nvPr>
        </p:nvSpPr>
        <p:spPr>
          <a:xfrm>
            <a:off x="1043631" y="809898"/>
            <a:ext cx="10173010" cy="1554480"/>
          </a:xfrm>
        </p:spPr>
        <p:txBody>
          <a:bodyPr anchor="ctr">
            <a:normAutofit/>
          </a:bodyPr>
          <a:lstStyle/>
          <a:p>
            <a:r>
              <a:rPr lang="sv-SE" sz="4800"/>
              <a:t>Studi Kasus: Implementasi Pengukuran Kinerja dalam SCM</a:t>
            </a:r>
            <a:endParaRPr lang="en-ID" sz="4800"/>
          </a:p>
        </p:txBody>
      </p:sp>
      <p:cxnSp>
        <p:nvCxnSpPr>
          <p:cNvPr id="25" name="Straight Connector 24">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B6AD8CEF-42E0-B260-DB4D-A6CACCAB2E5F}"/>
              </a:ext>
            </a:extLst>
          </p:cNvPr>
          <p:cNvGraphicFramePr>
            <a:graphicFrameLocks noGrp="1"/>
          </p:cNvGraphicFramePr>
          <p:nvPr>
            <p:ph idx="1"/>
            <p:extLst>
              <p:ext uri="{D42A27DB-BD31-4B8C-83A1-F6EECF244321}">
                <p14:modId xmlns:p14="http://schemas.microsoft.com/office/powerpoint/2010/main" val="1027976046"/>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670113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78CC42-1F20-772A-C9DD-EDE6FCE95BB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0107D8-6F9B-66BC-38A2-A570B5668FD9}"/>
              </a:ext>
            </a:extLst>
          </p:cNvPr>
          <p:cNvSpPr>
            <a:spLocks noGrp="1"/>
          </p:cNvSpPr>
          <p:nvPr>
            <p:ph type="title"/>
          </p:nvPr>
        </p:nvSpPr>
        <p:spPr>
          <a:xfrm>
            <a:off x="1043631" y="809898"/>
            <a:ext cx="10173010" cy="1554480"/>
          </a:xfrm>
        </p:spPr>
        <p:txBody>
          <a:bodyPr anchor="ctr">
            <a:normAutofit/>
          </a:bodyPr>
          <a:lstStyle/>
          <a:p>
            <a:r>
              <a:rPr lang="en-ID" sz="4800"/>
              <a:t>Kesimpulan dan Rekomendasi</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63F8E3EF-ADB2-7A5E-C3D0-AB6684D95B32}"/>
              </a:ext>
            </a:extLst>
          </p:cNvPr>
          <p:cNvGraphicFramePr>
            <a:graphicFrameLocks noGrp="1"/>
          </p:cNvGraphicFramePr>
          <p:nvPr>
            <p:ph idx="1"/>
            <p:extLst>
              <p:ext uri="{D42A27DB-BD31-4B8C-83A1-F6EECF244321}">
                <p14:modId xmlns:p14="http://schemas.microsoft.com/office/powerpoint/2010/main" val="3068240198"/>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619407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26BE8-2F16-91C4-B23F-6C6AB8BDE9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18F3C2-F9C8-433D-19AD-2C1E15124DA2}"/>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03213333-AF73-5D44-50D2-F1465CE18463}"/>
              </a:ext>
            </a:extLst>
          </p:cNvPr>
          <p:cNvSpPr>
            <a:spLocks noGrp="1"/>
          </p:cNvSpPr>
          <p:nvPr>
            <p:ph idx="1"/>
          </p:nvPr>
        </p:nvSpPr>
        <p:spPr/>
        <p:txBody>
          <a:bodyPr/>
          <a:lstStyle/>
          <a:p>
            <a:endParaRPr lang="en-ID"/>
          </a:p>
        </p:txBody>
      </p:sp>
    </p:spTree>
    <p:extLst>
      <p:ext uri="{BB962C8B-B14F-4D97-AF65-F5344CB8AC3E}">
        <p14:creationId xmlns:p14="http://schemas.microsoft.com/office/powerpoint/2010/main" val="27521987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049CA-9A4A-F3F7-2ED4-3EFBF0553F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C69E52-E9D4-E6C0-230C-C9936AA23F88}"/>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995B5916-9087-3DE6-E923-065FAC078E71}"/>
              </a:ext>
            </a:extLst>
          </p:cNvPr>
          <p:cNvSpPr>
            <a:spLocks noGrp="1"/>
          </p:cNvSpPr>
          <p:nvPr>
            <p:ph idx="1"/>
          </p:nvPr>
        </p:nvSpPr>
        <p:spPr/>
        <p:txBody>
          <a:bodyPr/>
          <a:lstStyle/>
          <a:p>
            <a:endParaRPr lang="en-ID"/>
          </a:p>
        </p:txBody>
      </p:sp>
    </p:spTree>
    <p:extLst>
      <p:ext uri="{BB962C8B-B14F-4D97-AF65-F5344CB8AC3E}">
        <p14:creationId xmlns:p14="http://schemas.microsoft.com/office/powerpoint/2010/main" val="3523846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TotalTime>
  <Words>1307</Words>
  <Application>Microsoft Office PowerPoint</Application>
  <PresentationFormat>Widescreen</PresentationFormat>
  <Paragraphs>116</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Aptos Display</vt:lpstr>
      <vt:lpstr>Arial</vt:lpstr>
      <vt:lpstr>Calibri</vt:lpstr>
      <vt:lpstr>Office Theme</vt:lpstr>
      <vt:lpstr>Pengukuran Kinerja Supply Chain Management (SCM)</vt:lpstr>
      <vt:lpstr>Learning Objective</vt:lpstr>
      <vt:lpstr>Pengertian Pengukuran Kinerja SCM</vt:lpstr>
      <vt:lpstr>Tujuan Pengukuran Kinerja SCM</vt:lpstr>
      <vt:lpstr>Indikator Kinerja Utama (KPIs) dalam SCM</vt:lpstr>
      <vt:lpstr>Efisiensi Biaya (Cost Efficiency)</vt:lpstr>
      <vt:lpstr>Kepuasan Pelanggan (Customer Satisfaction)</vt:lpstr>
      <vt:lpstr>Ketepatan Waktu Pengiriman (On-Time Delivery)</vt:lpstr>
      <vt:lpstr>Persediaan dan Ketersediaan Barang (Inventory and Availability)</vt:lpstr>
      <vt:lpstr>Kualitas Produk (Product Quality)</vt:lpstr>
      <vt:lpstr>Kecepatan Respons terhadap Perubahan Permintaan (Demand Responsiveness)</vt:lpstr>
      <vt:lpstr>Utilisasi Kapasitas (Capacity Utilization)</vt:lpstr>
      <vt:lpstr>Keandalan Pemasok (Supplier Reliability)</vt:lpstr>
      <vt:lpstr>Kinerja Keuangan (Financial Performance)</vt:lpstr>
      <vt:lpstr>Efisiensi Operasional (Operational Efficiency)</vt:lpstr>
      <vt:lpstr>Rantai Pasok yang Berkelanjutan (Sustainability)</vt:lpstr>
      <vt:lpstr>Framework Pengukuran Kinerja SCM</vt:lpstr>
      <vt:lpstr>Alat dan Metode Pengukuran Kinerja</vt:lpstr>
      <vt:lpstr>Tantangan dalam Pengukuran Kinerja SCM</vt:lpstr>
      <vt:lpstr>Studi Kasus: Implementasi Pengukuran Kinerja dalam SCM</vt:lpstr>
      <vt:lpstr>Kesimpulan dan Rekomendasi</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Erly Krisnanik</dc:creator>
  <cp:lastModifiedBy>Erly Krisnanik</cp:lastModifiedBy>
  <cp:revision>3</cp:revision>
  <dcterms:created xsi:type="dcterms:W3CDTF">2024-11-22T02:39:20Z</dcterms:created>
  <dcterms:modified xsi:type="dcterms:W3CDTF">2024-11-22T03:26:26Z</dcterms:modified>
</cp:coreProperties>
</file>